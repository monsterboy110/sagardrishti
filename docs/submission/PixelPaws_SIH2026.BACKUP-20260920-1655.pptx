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Lst>
  <p:sldSz cy="5143500" cx="9144000"/>
  <p:notesSz cx="6858000" cy="9144000"/>
  <p:embeddedFontLst>
    <p:embeddedFont>
      <p:font typeface="Garamond"/>
      <p:regular r:id="rId15"/>
      <p:bold r:id="rId16"/>
      <p:italic r:id="rId17"/>
      <p:boldItalic r:id="rId18"/>
    </p:embeddedFont>
    <p:embeddedFont>
      <p:font typeface="Oswald"/>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5BD6F1-D5D9-4BC6-827C-F8875A3E09ED}">
  <a:tblStyle styleId="{BD5BD6F1-D5D9-4BC6-827C-F8875A3E09E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bold.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font" Target="fonts/Garamond-regular.fntdata"/><Relationship Id="rId14" Type="http://schemas.openxmlformats.org/officeDocument/2006/relationships/slide" Target="slides/slide6.xml"/><Relationship Id="rId17" Type="http://schemas.openxmlformats.org/officeDocument/2006/relationships/font" Target="fonts/Garamond-italic.fntdata"/><Relationship Id="rId16" Type="http://schemas.openxmlformats.org/officeDocument/2006/relationships/font" Target="fonts/Garamond-bold.fntdata"/><Relationship Id="rId5" Type="http://schemas.openxmlformats.org/officeDocument/2006/relationships/slideMaster" Target="slideMasters/slideMaster1.xml"/><Relationship Id="rId19" Type="http://schemas.openxmlformats.org/officeDocument/2006/relationships/font" Target="fonts/Oswald-regular.fntdata"/><Relationship Id="rId6" Type="http://schemas.openxmlformats.org/officeDocument/2006/relationships/slideMaster" Target="slideMasters/slideMaster2.xml"/><Relationship Id="rId18" Type="http://schemas.openxmlformats.org/officeDocument/2006/relationships/font" Target="fonts/Garamond-bold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409d75fe4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409d75fe4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bad91e7c8_2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217" name="Google Shape;217;g3fbad91e7c8_2_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18" name="Google Shape;218;g3fbad91e7c8_2_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bad91e7c8_2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252" name="Google Shape;252;g3fbad91e7c8_2_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53" name="Google Shape;253;g3fbad91e7c8_2_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bad91e7c8_2_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322" name="Google Shape;322;g3fbad91e7c8_2_1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23" name="Google Shape;323;g3fbad91e7c8_2_1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409d75fe4a1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89" name="Google Shape;389;g409d75fe4a1_0_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409d75fe4a1_0_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bad91e7c8_2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441" name="Google Shape;441;g3fbad91e7c8_2_3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42" name="Google Shape;442;g3fbad91e7c8_2_3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59" name="Google Shape;59;p1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64" name="Google Shape;64;p15"/>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5" name="Google Shape;65;p1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b="1" sz="3000" cap="none"/>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1" name="Google Shape;71;p1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6" name="Google Shape;76;p17"/>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7" name="Google Shape;77;p17"/>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8" name="Google Shape;78;p1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5" name="Google Shape;85;p18"/>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6" name="Google Shape;86;p18"/>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7" name="Google Shape;87;p1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92" name="Google Shape;92;p1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1" name="Google Shape;101;p21"/>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15" name="Google Shape;115;p23"/>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21" name="Google Shape;121;p24"/>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1" name="Shape 131"/>
        <p:cNvGrpSpPr/>
        <p:nvPr/>
      </p:nvGrpSpPr>
      <p:grpSpPr>
        <a:xfrm>
          <a:off x="0" y="0"/>
          <a:ext cx="0" cy="0"/>
          <a:chOff x="0" y="0"/>
          <a:chExt cx="0" cy="0"/>
        </a:xfrm>
      </p:grpSpPr>
      <p:sp>
        <p:nvSpPr>
          <p:cNvPr id="132" name="Google Shape;132;p26"/>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33" name="Google Shape;133;p26"/>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34" name="Google Shape;134;p2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2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2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7" name="Shape 137"/>
        <p:cNvGrpSpPr/>
        <p:nvPr/>
      </p:nvGrpSpPr>
      <p:grpSpPr>
        <a:xfrm>
          <a:off x="0" y="0"/>
          <a:ext cx="0" cy="0"/>
          <a:chOff x="0" y="0"/>
          <a:chExt cx="0" cy="0"/>
        </a:xfrm>
      </p:grpSpPr>
      <p:sp>
        <p:nvSpPr>
          <p:cNvPr id="138" name="Google Shape;138;p2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39" name="Google Shape;139;p27"/>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40" name="Google Shape;140;p2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2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3" name="Shape 143"/>
        <p:cNvGrpSpPr/>
        <p:nvPr/>
      </p:nvGrpSpPr>
      <p:grpSpPr>
        <a:xfrm>
          <a:off x="0" y="0"/>
          <a:ext cx="0" cy="0"/>
          <a:chOff x="0" y="0"/>
          <a:chExt cx="0" cy="0"/>
        </a:xfrm>
      </p:grpSpPr>
      <p:sp>
        <p:nvSpPr>
          <p:cNvPr id="144" name="Google Shape;144;p28"/>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b="1" sz="3000" cap="none"/>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45" name="Google Shape;145;p28"/>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146" name="Google Shape;146;p2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 name="Google Shape;147;p2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2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9" name="Shape 149"/>
        <p:cNvGrpSpPr/>
        <p:nvPr/>
      </p:nvGrpSpPr>
      <p:grpSpPr>
        <a:xfrm>
          <a:off x="0" y="0"/>
          <a:ext cx="0" cy="0"/>
          <a:chOff x="0" y="0"/>
          <a:chExt cx="0" cy="0"/>
        </a:xfrm>
      </p:grpSpPr>
      <p:sp>
        <p:nvSpPr>
          <p:cNvPr id="150" name="Google Shape;150;p2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51" name="Google Shape;151;p29"/>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52" name="Google Shape;152;p29"/>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53" name="Google Shape;153;p2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2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2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6" name="Shape 156"/>
        <p:cNvGrpSpPr/>
        <p:nvPr/>
      </p:nvGrpSpPr>
      <p:grpSpPr>
        <a:xfrm>
          <a:off x="0" y="0"/>
          <a:ext cx="0" cy="0"/>
          <a:chOff x="0" y="0"/>
          <a:chExt cx="0" cy="0"/>
        </a:xfrm>
      </p:grpSpPr>
      <p:sp>
        <p:nvSpPr>
          <p:cNvPr id="157" name="Google Shape;157;p30"/>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58" name="Google Shape;158;p30"/>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59" name="Google Shape;159;p30"/>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0" name="Google Shape;160;p30"/>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61" name="Google Shape;161;p30"/>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2" name="Google Shape;162;p3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 name="Google Shape;163;p3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4" name="Google Shape;164;p3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31"/>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67" name="Google Shape;167;p3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 name="Google Shape;168;p3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9" name="Google Shape;169;p3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0" name="Shape 170"/>
        <p:cNvGrpSpPr/>
        <p:nvPr/>
      </p:nvGrpSpPr>
      <p:grpSpPr>
        <a:xfrm>
          <a:off x="0" y="0"/>
          <a:ext cx="0" cy="0"/>
          <a:chOff x="0" y="0"/>
          <a:chExt cx="0" cy="0"/>
        </a:xfrm>
      </p:grpSpPr>
      <p:sp>
        <p:nvSpPr>
          <p:cNvPr id="171" name="Google Shape;171;p3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2" name="Google Shape;172;p3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 name="Google Shape;173;p3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4" name="Shape 174"/>
        <p:cNvGrpSpPr/>
        <p:nvPr/>
      </p:nvGrpSpPr>
      <p:grpSpPr>
        <a:xfrm>
          <a:off x="0" y="0"/>
          <a:ext cx="0" cy="0"/>
          <a:chOff x="0" y="0"/>
          <a:chExt cx="0" cy="0"/>
        </a:xfrm>
      </p:grpSpPr>
      <p:sp>
        <p:nvSpPr>
          <p:cNvPr id="175" name="Google Shape;175;p33"/>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76" name="Google Shape;176;p33"/>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77" name="Google Shape;177;p33"/>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78" name="Google Shape;178;p3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 name="Google Shape;179;p3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3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1" name="Shape 181"/>
        <p:cNvGrpSpPr/>
        <p:nvPr/>
      </p:nvGrpSpPr>
      <p:grpSpPr>
        <a:xfrm>
          <a:off x="0" y="0"/>
          <a:ext cx="0" cy="0"/>
          <a:chOff x="0" y="0"/>
          <a:chExt cx="0" cy="0"/>
        </a:xfrm>
      </p:grpSpPr>
      <p:sp>
        <p:nvSpPr>
          <p:cNvPr id="182" name="Google Shape;182;p34"/>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83" name="Google Shape;183;p34"/>
          <p:cNvSpPr/>
          <p:nvPr>
            <p:ph idx="2" type="pic"/>
          </p:nvPr>
        </p:nvSpPr>
        <p:spPr>
          <a:xfrm>
            <a:off x="1792288" y="459581"/>
            <a:ext cx="5486400" cy="3086100"/>
          </a:xfrm>
          <a:prstGeom prst="rect">
            <a:avLst/>
          </a:prstGeom>
          <a:noFill/>
          <a:ln>
            <a:noFill/>
          </a:ln>
        </p:spPr>
      </p:sp>
      <p:sp>
        <p:nvSpPr>
          <p:cNvPr id="184" name="Google Shape;184;p34"/>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85" name="Google Shape;185;p3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6" name="Google Shape;186;p3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7" name="Google Shape;187;p3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8" name="Shape 188"/>
        <p:cNvGrpSpPr/>
        <p:nvPr/>
      </p:nvGrpSpPr>
      <p:grpSpPr>
        <a:xfrm>
          <a:off x="0" y="0"/>
          <a:ext cx="0" cy="0"/>
          <a:chOff x="0" y="0"/>
          <a:chExt cx="0" cy="0"/>
        </a:xfrm>
      </p:grpSpPr>
      <p:sp>
        <p:nvSpPr>
          <p:cNvPr id="189" name="Google Shape;189;p3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90" name="Google Shape;190;p35"/>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1" name="Google Shape;191;p3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2" name="Google Shape;192;p3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3" name="Google Shape;193;p3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36"/>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96" name="Google Shape;196;p36"/>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7" name="Google Shape;197;p3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 name="Google Shape;198;p3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9" name="Google Shape;199;p3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1pPr>
            <a:lvl2pPr lvl="1"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2pPr>
            <a:lvl3pPr lvl="2"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3pPr>
            <a:lvl4pPr lvl="3"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4pPr>
            <a:lvl5pPr lvl="4"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5pPr>
            <a:lvl6pPr lvl="5"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6pPr>
            <a:lvl7pPr lvl="6"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7pPr>
            <a:lvl8pPr lvl="7"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8pPr>
            <a:lvl9pPr lvl="8"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9pPr>
          </a:lstStyle>
          <a:p/>
        </p:txBody>
      </p:sp>
      <p:sp>
        <p:nvSpPr>
          <p:cNvPr id="52" name="Google Shape;52;p13"/>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98989"/>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1pPr>
            <a:lvl2pPr lvl="1"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2pPr>
            <a:lvl3pPr lvl="2"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3pPr>
            <a:lvl4pPr lvl="3"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4pPr>
            <a:lvl5pPr lvl="4"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5pPr>
            <a:lvl6pPr lvl="5"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6pPr>
            <a:lvl7pPr lvl="6"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7pPr>
            <a:lvl8pPr lvl="7"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8pPr>
            <a:lvl9pPr lvl="8"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9pPr>
          </a:lstStyle>
          <a:p/>
        </p:txBody>
      </p:sp>
      <p:sp>
        <p:nvSpPr>
          <p:cNvPr id="127" name="Google Shape;127;p25"/>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8" name="Google Shape;128;p2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98989"/>
                </a:solidFill>
                <a:latin typeface="Oswald"/>
                <a:ea typeface="Oswald"/>
                <a:cs typeface="Oswald"/>
                <a:sym typeface="Oswa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29" name="Google Shape;129;p2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Oswald"/>
                <a:ea typeface="Oswald"/>
                <a:cs typeface="Oswald"/>
                <a:sym typeface="Oswa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0" name="Google Shape;130;p2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8.png"/><Relationship Id="rId13" Type="http://schemas.openxmlformats.org/officeDocument/2006/relationships/image" Target="../media/image9.png"/><Relationship Id="rId12" Type="http://schemas.openxmlformats.org/officeDocument/2006/relationships/image" Target="../media/image10.png"/><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17.png"/><Relationship Id="rId15" Type="http://schemas.openxmlformats.org/officeDocument/2006/relationships/image" Target="../media/image15.png"/><Relationship Id="rId1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0" Type="http://schemas.openxmlformats.org/officeDocument/2006/relationships/hyperlink" Target="https://cfconventions.org/" TargetMode="External"/><Relationship Id="rId11" Type="http://schemas.openxmlformats.org/officeDocument/2006/relationships/hyperlink" Target="https://www.sciencedirect.com/science/article/pii/S1364815213000947" TargetMode="External"/><Relationship Id="rId22" Type="http://schemas.openxmlformats.org/officeDocument/2006/relationships/hyperlink" Target="https://www.ogc.org/standards/wcs" TargetMode="External"/><Relationship Id="rId10" Type="http://schemas.openxmlformats.org/officeDocument/2006/relationships/hyperlink" Target="https://doi.org/10.1175/JTECH-D-19-0041.1" TargetMode="External"/><Relationship Id="rId21" Type="http://schemas.openxmlformats.org/officeDocument/2006/relationships/hyperlink" Target="https://www.ogc.org/standards/wms" TargetMode="External"/><Relationship Id="rId13" Type="http://schemas.openxmlformats.org/officeDocument/2006/relationships/hyperlink" Target="https://arxiv.org/abs/2309.14328" TargetMode="External"/><Relationship Id="rId12" Type="http://schemas.openxmlformats.org/officeDocument/2006/relationships/hyperlink" Target="https://www.mdpi.com/2077-1312/7/4/110" TargetMode="External"/><Relationship Id="rId23" Type="http://schemas.openxmlformats.org/officeDocument/2006/relationships/hyperlink" Target="http://docs.oasis-open.org/emergency/cap/v1.2/CAP-v1.2-os.html" TargetMode="External"/><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doi.org/10.1080/1755876X.2015.1022330" TargetMode="External"/><Relationship Id="rId9" Type="http://schemas.openxmlformats.org/officeDocument/2006/relationships/hyperlink" Target="https://www.mdpi.com/2076-3417/15/5/2782" TargetMode="External"/><Relationship Id="rId15" Type="http://schemas.openxmlformats.org/officeDocument/2006/relationships/hyperlink" Target="https://data-argo.ifremer.fr/" TargetMode="External"/><Relationship Id="rId14" Type="http://schemas.openxmlformats.org/officeDocument/2006/relationships/hyperlink" Target="https://erddap.incois.gov.in/erddap/index.html" TargetMode="External"/><Relationship Id="rId17" Type="http://schemas.openxmlformats.org/officeDocument/2006/relationships/hyperlink" Target="https://www.pmel.noaa.gov/gtmba/pmel-theme/indian-ocean-rama" TargetMode="External"/><Relationship Id="rId16" Type="http://schemas.openxmlformats.org/officeDocument/2006/relationships/hyperlink" Target="https://data.marine.copernicus.eu/product/GLOBAL_ANALYSISFORECAST_PHY_001_024/description" TargetMode="External"/><Relationship Id="rId5" Type="http://schemas.openxmlformats.org/officeDocument/2006/relationships/hyperlink" Target="https://doi.org/10.3389/fmars.2020.00700" TargetMode="External"/><Relationship Id="rId19" Type="http://schemas.openxmlformats.org/officeDocument/2006/relationships/hyperlink" Target="https://incois.gov.in/" TargetMode="External"/><Relationship Id="rId6" Type="http://schemas.openxmlformats.org/officeDocument/2006/relationships/hyperlink" Target="https://www.teos-10.org/" TargetMode="External"/><Relationship Id="rId18" Type="http://schemas.openxmlformats.org/officeDocument/2006/relationships/hyperlink" Target="https://sachet.ndma.gov.in/" TargetMode="External"/><Relationship Id="rId7" Type="http://schemas.openxmlformats.org/officeDocument/2006/relationships/hyperlink" Target="https://www.currentscience.ac.in/Volumes/105/02/0175.pdf" TargetMode="External"/><Relationship Id="rId8" Type="http://schemas.openxmlformats.org/officeDocument/2006/relationships/hyperlink" Target="https://www.sciencedirect.com/science/article/pii/S136481522030965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p37"/>
          <p:cNvSpPr/>
          <p:nvPr/>
        </p:nvSpPr>
        <p:spPr>
          <a:xfrm>
            <a:off x="4864113" y="228036"/>
            <a:ext cx="3478953" cy="3866225"/>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5" name="Google Shape;205;p37"/>
          <p:cNvSpPr txBox="1"/>
          <p:nvPr>
            <p:ph type="ctrTitle"/>
          </p:nvPr>
        </p:nvSpPr>
        <p:spPr>
          <a:xfrm>
            <a:off x="646675" y="106173"/>
            <a:ext cx="6908400" cy="4527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GB" sz="3000">
                <a:solidFill>
                  <a:schemeClr val="dk2"/>
                </a:solidFill>
                <a:latin typeface="Garamond"/>
                <a:ea typeface="Garamond"/>
                <a:cs typeface="Garamond"/>
                <a:sym typeface="Garamond"/>
              </a:rPr>
              <a:t>SMART INDIA HACKATHON 2026</a:t>
            </a:r>
            <a:endParaRPr b="1" sz="3000">
              <a:solidFill>
                <a:schemeClr val="dk2"/>
              </a:solidFill>
              <a:latin typeface="Garamond"/>
              <a:ea typeface="Garamond"/>
              <a:cs typeface="Garamond"/>
              <a:sym typeface="Garamond"/>
            </a:endParaRPr>
          </a:p>
        </p:txBody>
      </p:sp>
      <p:sp>
        <p:nvSpPr>
          <p:cNvPr id="206" name="Google Shape;206;p37"/>
          <p:cNvSpPr txBox="1"/>
          <p:nvPr/>
        </p:nvSpPr>
        <p:spPr>
          <a:xfrm>
            <a:off x="277794" y="809251"/>
            <a:ext cx="4149000" cy="83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3300" u="none" cap="none" strike="noStrike">
                <a:solidFill>
                  <a:srgbClr val="0B2E4F"/>
                </a:solidFill>
                <a:latin typeface="Calibri"/>
                <a:ea typeface="Calibri"/>
                <a:cs typeface="Calibri"/>
                <a:sym typeface="Calibri"/>
              </a:rPr>
              <a:t>SagarDrishti</a:t>
            </a:r>
            <a:endParaRPr b="1" sz="3300">
              <a:solidFill>
                <a:srgbClr val="0B2E4F"/>
              </a:solidFill>
              <a:latin typeface="Calibri"/>
              <a:ea typeface="Calibri"/>
              <a:cs typeface="Calibri"/>
              <a:sym typeface="Calibri"/>
            </a:endParaRPr>
          </a:p>
          <a:p>
            <a:pPr indent="0" lvl="0" marL="0" marR="0" rtl="0" algn="l">
              <a:spcBef>
                <a:spcPts val="100"/>
              </a:spcBef>
              <a:spcAft>
                <a:spcPts val="0"/>
              </a:spcAft>
              <a:buNone/>
            </a:pPr>
            <a:r>
              <a:rPr b="0" i="1" lang="en-GB" sz="1600" u="none" cap="none" strike="noStrike">
                <a:solidFill>
                  <a:srgbClr val="12688F"/>
                </a:solidFill>
                <a:latin typeface="Calibri"/>
                <a:ea typeface="Calibri"/>
                <a:cs typeface="Calibri"/>
                <a:sym typeface="Calibri"/>
              </a:rPr>
              <a:t>A browser-native 3D digital twin of India's ocean</a:t>
            </a:r>
            <a:endParaRPr sz="1700"/>
          </a:p>
        </p:txBody>
      </p:sp>
      <p:pic>
        <p:nvPicPr>
          <p:cNvPr id="207" name="Google Shape;207;p37"/>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08" name="Google Shape;208;p37"/>
          <p:cNvSpPr txBox="1"/>
          <p:nvPr/>
        </p:nvSpPr>
        <p:spPr>
          <a:xfrm>
            <a:off x="4571994" y="3694045"/>
            <a:ext cx="44505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1300" u="none" cap="none" strike="noStrike">
                <a:solidFill>
                  <a:srgbClr val="556471"/>
                </a:solidFill>
                <a:latin typeface="Calibri"/>
                <a:ea typeface="Calibri"/>
                <a:cs typeface="Calibri"/>
                <a:sym typeface="Calibri"/>
              </a:rPr>
              <a:t>Running today, offline: </a:t>
            </a:r>
            <a:r>
              <a:rPr b="1" i="0" lang="en-GB" sz="1300" u="none" cap="none" strike="noStrike">
                <a:solidFill>
                  <a:srgbClr val="556471"/>
                </a:solidFill>
                <a:latin typeface="Calibri"/>
                <a:ea typeface="Calibri"/>
                <a:cs typeface="Calibri"/>
                <a:sym typeface="Calibri"/>
              </a:rPr>
              <a:t>24 depth levels from 5 m to 2000 m, the </a:t>
            </a:r>
            <a:r>
              <a:rPr b="1" lang="en-GB" sz="1300">
                <a:solidFill>
                  <a:srgbClr val="556471"/>
                </a:solidFill>
                <a:latin typeface="Calibri"/>
                <a:ea typeface="Calibri"/>
                <a:cs typeface="Calibri"/>
                <a:sym typeface="Calibri"/>
              </a:rPr>
              <a:t>26°C </a:t>
            </a:r>
            <a:r>
              <a:rPr b="1" i="0" lang="en-GB" sz="1300" u="none" cap="none" strike="noStrike">
                <a:solidFill>
                  <a:srgbClr val="556471"/>
                </a:solidFill>
                <a:latin typeface="Calibri"/>
                <a:ea typeface="Calibri"/>
                <a:cs typeface="Calibri"/>
                <a:sym typeface="Calibri"/>
              </a:rPr>
              <a:t>isosurface, 337 current vectors and CAP warning areas.</a:t>
            </a:r>
            <a:endParaRPr b="1" sz="1800"/>
          </a:p>
        </p:txBody>
      </p:sp>
      <p:sp>
        <p:nvSpPr>
          <p:cNvPr id="209" name="Google Shape;209;p37"/>
          <p:cNvSpPr/>
          <p:nvPr/>
        </p:nvSpPr>
        <p:spPr>
          <a:xfrm>
            <a:off x="288036" y="1693518"/>
            <a:ext cx="1577400" cy="309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0" name="Google Shape;210;p37"/>
          <p:cNvSpPr txBox="1"/>
          <p:nvPr/>
        </p:nvSpPr>
        <p:spPr>
          <a:xfrm>
            <a:off x="277800" y="1896027"/>
            <a:ext cx="4149000" cy="19266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Problem Statement ID - </a:t>
            </a:r>
            <a:r>
              <a:rPr b="0" i="0" lang="en-GB" u="none" cap="none" strike="noStrike">
                <a:solidFill>
                  <a:srgbClr val="14202B"/>
                </a:solidFill>
                <a:latin typeface="Calibri"/>
                <a:ea typeface="Calibri"/>
                <a:cs typeface="Calibri"/>
                <a:sym typeface="Calibri"/>
              </a:rPr>
              <a:t>SIH26067</a:t>
            </a:r>
            <a:endParaRPr sz="1700">
              <a:latin typeface="Calibri"/>
              <a:ea typeface="Calibri"/>
              <a:cs typeface="Calibri"/>
              <a:sym typeface="Calibri"/>
            </a:endParaRPr>
          </a:p>
          <a:p>
            <a:pPr indent="0" lvl="0" marL="0" marR="0" rtl="0" algn="l">
              <a:lnSpc>
                <a:spcPct val="100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Problem Statement Title - </a:t>
            </a:r>
            <a:r>
              <a:rPr lang="en-GB">
                <a:solidFill>
                  <a:srgbClr val="212529"/>
                </a:solidFill>
                <a:highlight>
                  <a:srgbClr val="FFFFFF"/>
                </a:highlight>
                <a:latin typeface="Calibri"/>
                <a:ea typeface="Calibri"/>
                <a:cs typeface="Calibri"/>
                <a:sym typeface="Calibri"/>
              </a:rPr>
              <a:t>Develop </a:t>
            </a:r>
            <a:r>
              <a:rPr lang="en-GB">
                <a:solidFill>
                  <a:srgbClr val="212529"/>
                </a:solidFill>
                <a:highlight>
                  <a:srgbClr val="FFFFFF"/>
                </a:highlight>
                <a:latin typeface="Calibri"/>
                <a:ea typeface="Calibri"/>
                <a:cs typeface="Calibri"/>
                <a:sym typeface="Calibri"/>
              </a:rPr>
              <a:t>a web-based interactive 3D visualization platform that integrates numerical ocean model outputs and in-situ observations.</a:t>
            </a:r>
            <a:r>
              <a:rPr lang="en-GB" sz="1100">
                <a:solidFill>
                  <a:schemeClr val="dk1"/>
                </a:solidFill>
              </a:rPr>
              <a:t> </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Theme - </a:t>
            </a:r>
            <a:r>
              <a:rPr b="0" i="0" lang="en-GB" u="none" cap="none" strike="noStrike">
                <a:solidFill>
                  <a:srgbClr val="14202B"/>
                </a:solidFill>
                <a:latin typeface="Calibri"/>
                <a:ea typeface="Calibri"/>
                <a:cs typeface="Calibri"/>
                <a:sym typeface="Calibri"/>
              </a:rPr>
              <a:t>Disaster Management</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PS Category - </a:t>
            </a:r>
            <a:r>
              <a:rPr b="0" i="0" lang="en-GB" u="none" cap="none" strike="noStrike">
                <a:solidFill>
                  <a:srgbClr val="14202B"/>
                </a:solidFill>
                <a:latin typeface="Calibri"/>
                <a:ea typeface="Calibri"/>
                <a:cs typeface="Calibri"/>
                <a:sym typeface="Calibri"/>
              </a:rPr>
              <a:t>Software</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Team ID </a:t>
            </a:r>
            <a:r>
              <a:rPr b="1" i="0" lang="en-GB" u="none" cap="none" strike="noStrike">
                <a:solidFill>
                  <a:srgbClr val="0B2E4F"/>
                </a:solidFill>
                <a:latin typeface="Calibri"/>
                <a:ea typeface="Calibri"/>
                <a:cs typeface="Calibri"/>
                <a:sym typeface="Calibri"/>
              </a:rPr>
              <a:t>- </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Team Name (Registered on portal) - </a:t>
            </a:r>
            <a:r>
              <a:rPr lang="en-GB">
                <a:solidFill>
                  <a:srgbClr val="14202B"/>
                </a:solidFill>
                <a:latin typeface="Calibri"/>
                <a:ea typeface="Calibri"/>
                <a:cs typeface="Calibri"/>
                <a:sym typeface="Calibri"/>
              </a:rPr>
              <a:t>PixelPaws</a:t>
            </a:r>
            <a:endParaRPr sz="1700"/>
          </a:p>
        </p:txBody>
      </p:sp>
      <p:sp>
        <p:nvSpPr>
          <p:cNvPr id="211" name="Google Shape;211;p37"/>
          <p:cNvSpPr/>
          <p:nvPr/>
        </p:nvSpPr>
        <p:spPr>
          <a:xfrm>
            <a:off x="288025" y="4319825"/>
            <a:ext cx="8606100" cy="4878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2" name="Google Shape;212;p37"/>
          <p:cNvSpPr/>
          <p:nvPr/>
        </p:nvSpPr>
        <p:spPr>
          <a:xfrm>
            <a:off x="288024" y="4319750"/>
            <a:ext cx="67800" cy="4878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3" name="Google Shape;213;p37"/>
          <p:cNvSpPr txBox="1"/>
          <p:nvPr/>
        </p:nvSpPr>
        <p:spPr>
          <a:xfrm>
            <a:off x="452625" y="4350554"/>
            <a:ext cx="8441400" cy="394800"/>
          </a:xfrm>
          <a:prstGeom prst="rect">
            <a:avLst/>
          </a:prstGeom>
          <a:noFill/>
          <a:ln>
            <a:noFill/>
          </a:ln>
        </p:spPr>
        <p:txBody>
          <a:bodyPr anchorCtr="0" anchor="ctr" bIns="0" lIns="0" spcFirstLastPara="1" rIns="0" wrap="square" tIns="0">
            <a:spAutoFit/>
          </a:bodyPr>
          <a:lstStyle/>
          <a:p>
            <a:pPr indent="0" lvl="0" marL="0" marR="0" rtl="0" algn="l">
              <a:lnSpc>
                <a:spcPct val="95000"/>
              </a:lnSpc>
              <a:spcBef>
                <a:spcPts val="0"/>
              </a:spcBef>
              <a:spcAft>
                <a:spcPts val="0"/>
              </a:spcAft>
              <a:buNone/>
            </a:pPr>
            <a:r>
              <a:rPr b="1" i="0" lang="en-GB" u="none" cap="none" strike="noStrike">
                <a:solidFill>
                  <a:srgbClr val="6FD4D0"/>
                </a:solidFill>
                <a:latin typeface="Calibri"/>
                <a:ea typeface="Calibri"/>
                <a:cs typeface="Calibri"/>
                <a:sym typeface="Calibri"/>
              </a:rPr>
              <a:t>Not a proposal on paper.   </a:t>
            </a:r>
            <a:r>
              <a:rPr b="0" i="0" lang="en-GB" sz="1300" u="none" cap="none" strike="noStrike">
                <a:solidFill>
                  <a:srgbClr val="D3E3EC"/>
                </a:solidFill>
                <a:latin typeface="Calibri"/>
                <a:ea typeface="Calibri"/>
                <a:cs typeface="Calibri"/>
                <a:sym typeface="Calibri"/>
              </a:rPr>
              <a:t>5</a:t>
            </a:r>
            <a:r>
              <a:rPr lang="en-GB" sz="1300">
                <a:solidFill>
                  <a:srgbClr val="D3E3EC"/>
                </a:solidFill>
                <a:latin typeface="Calibri"/>
                <a:ea typeface="Calibri"/>
                <a:cs typeface="Calibri"/>
                <a:sym typeface="Calibri"/>
              </a:rPr>
              <a:t>67</a:t>
            </a:r>
            <a:r>
              <a:rPr b="0" i="0" lang="en-GB" sz="1300" u="none" cap="none" strike="noStrike">
                <a:solidFill>
                  <a:srgbClr val="D3E3EC"/>
                </a:solidFill>
                <a:latin typeface="Calibri"/>
                <a:ea typeface="Calibri"/>
                <a:cs typeface="Calibri"/>
                <a:sym typeface="Calibri"/>
              </a:rPr>
              <a:t> automated tests · 51 fps at 1080p on integrated graphics · 10.5 M gridded values · </a:t>
            </a:r>
            <a:r>
              <a:rPr lang="en-GB" sz="1300">
                <a:solidFill>
                  <a:srgbClr val="D3E3EC"/>
                </a:solidFill>
                <a:latin typeface="Calibri"/>
                <a:ea typeface="Calibri"/>
                <a:cs typeface="Calibri"/>
                <a:sym typeface="Calibri"/>
              </a:rPr>
              <a:t>30,012</a:t>
            </a:r>
            <a:r>
              <a:rPr b="0" i="0" lang="en-GB" sz="1300" u="none" cap="none" strike="noStrike">
                <a:solidFill>
                  <a:srgbClr val="D3E3EC"/>
                </a:solidFill>
                <a:latin typeface="Calibri"/>
                <a:ea typeface="Calibri"/>
                <a:cs typeface="Calibri"/>
                <a:sym typeface="Calibri"/>
              </a:rPr>
              <a:t> QC-passed instrument levels · zero requests that leave the machine. Every figure in this deck was measured, not estimate</a:t>
            </a:r>
            <a:endParaRPr sz="1700"/>
          </a:p>
        </p:txBody>
      </p:sp>
      <p:pic>
        <p:nvPicPr>
          <p:cNvPr id="214" name="Google Shape;214;p37"/>
          <p:cNvPicPr preferRelativeResize="0"/>
          <p:nvPr/>
        </p:nvPicPr>
        <p:blipFill rotWithShape="1">
          <a:blip r:embed="rId4">
            <a:alphaModFix/>
          </a:blip>
          <a:srcRect b="0" l="0" r="59917" t="0"/>
          <a:stretch/>
        </p:blipFill>
        <p:spPr>
          <a:xfrm>
            <a:off x="5725509" y="871516"/>
            <a:ext cx="2530002" cy="2705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volumetric rendering depth-slice navigation isosurface extraction time-step animation Argo profiling float glider CTD BGC biogeochemical moored buoy in-situ instrument profile depth-vs-variable chart geospatially accurate markers co-visualization single interactive environment</a:t>
            </a:r>
            <a:endParaRPr/>
          </a:p>
        </p:txBody>
      </p:sp>
      <p:sp>
        <p:nvSpPr>
          <p:cNvPr id="221" name="Google Shape;221;p38"/>
          <p:cNvSpPr/>
          <p:nvPr/>
        </p:nvSpPr>
        <p:spPr>
          <a:xfrm>
            <a:off x="0" y="4766072"/>
            <a:ext cx="9144000" cy="3774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53734"/>
              </a:solidFill>
              <a:latin typeface="Calibri"/>
              <a:ea typeface="Calibri"/>
              <a:cs typeface="Calibri"/>
              <a:sym typeface="Calibri"/>
            </a:endParaRPr>
          </a:p>
        </p:txBody>
      </p:sp>
      <p:sp>
        <p:nvSpPr>
          <p:cNvPr id="222" name="Google Shape;222;p38"/>
          <p:cNvSpPr txBox="1"/>
          <p:nvPr>
            <p:ph type="title"/>
          </p:nvPr>
        </p:nvSpPr>
        <p:spPr>
          <a:xfrm>
            <a:off x="2376325" y="149525"/>
            <a:ext cx="4374300" cy="605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GB" sz="2500">
                <a:solidFill>
                  <a:srgbClr val="0B2E4F"/>
                </a:solidFill>
                <a:latin typeface="Times New Roman"/>
                <a:ea typeface="Times New Roman"/>
                <a:cs typeface="Times New Roman"/>
                <a:sym typeface="Times New Roman"/>
              </a:rPr>
              <a:t>The Problem &amp; Our Solution</a:t>
            </a:r>
            <a:endParaRPr sz="2500"/>
          </a:p>
        </p:txBody>
      </p:sp>
      <p:sp>
        <p:nvSpPr>
          <p:cNvPr id="223" name="Google Shape;223;p38"/>
          <p:cNvSpPr txBox="1"/>
          <p:nvPr>
            <p:ph idx="12" type="sldNum"/>
          </p:nvPr>
        </p:nvSpPr>
        <p:spPr>
          <a:xfrm>
            <a:off x="6553200" y="4817396"/>
            <a:ext cx="21336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1100"/>
              <a:buNone/>
            </a:pPr>
            <a:fld id="{00000000-1234-1234-1234-123412341234}" type="slidenum">
              <a:rPr b="1" lang="en-GB" sz="1100">
                <a:solidFill>
                  <a:schemeClr val="lt1"/>
                </a:solidFill>
              </a:rPr>
              <a:t>‹#›</a:t>
            </a:fld>
            <a:endParaRPr b="1" sz="1100">
              <a:solidFill>
                <a:schemeClr val="lt1"/>
              </a:solidFill>
            </a:endParaRPr>
          </a:p>
        </p:txBody>
      </p:sp>
      <p:sp>
        <p:nvSpPr>
          <p:cNvPr id="224" name="Google Shape;224;p38"/>
          <p:cNvSpPr txBox="1"/>
          <p:nvPr>
            <p:ph idx="11" type="ftr"/>
          </p:nvPr>
        </p:nvSpPr>
        <p:spPr>
          <a:xfrm>
            <a:off x="3227220" y="4802772"/>
            <a:ext cx="29835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i="0" lang="en-GB" sz="700">
                <a:solidFill>
                  <a:srgbClr val="FFFFFF"/>
                </a:solidFill>
                <a:latin typeface="Calibri"/>
                <a:ea typeface="Calibri"/>
                <a:cs typeface="Calibri"/>
                <a:sym typeface="Calibri"/>
              </a:rPr>
              <a:t>SagarDrishti  ·  PS SIH26067  ·  @SIH Idea Submission</a:t>
            </a:r>
            <a:endParaRPr sz="1300">
              <a:solidFill>
                <a:schemeClr val="lt1"/>
              </a:solidFill>
            </a:endParaRPr>
          </a:p>
        </p:txBody>
      </p:sp>
      <p:sp>
        <p:nvSpPr>
          <p:cNvPr descr="Your startup LOGO" id="225" name="Google Shape;225;p38"/>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chemeClr val="dk1"/>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pic>
        <p:nvPicPr>
          <p:cNvPr id="226" name="Google Shape;226;p38"/>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27" name="Google Shape;227;p38"/>
          <p:cNvSpPr/>
          <p:nvPr/>
        </p:nvSpPr>
        <p:spPr>
          <a:xfrm>
            <a:off x="178308" y="850392"/>
            <a:ext cx="8785200" cy="3567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8" name="Google Shape;228;p38"/>
          <p:cNvSpPr txBox="1"/>
          <p:nvPr/>
        </p:nvSpPr>
        <p:spPr>
          <a:xfrm>
            <a:off x="266879" y="906344"/>
            <a:ext cx="85932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GB" sz="1300" u="none" cap="none" strike="noStrike">
                <a:solidFill>
                  <a:srgbClr val="FFFFFF"/>
                </a:solidFill>
                <a:latin typeface="Calibri"/>
                <a:ea typeface="Calibri"/>
                <a:cs typeface="Calibri"/>
                <a:sym typeface="Calibri"/>
              </a:rPr>
              <a:t>Bay of Bengal: model fields and the instruments in the water, on one screen, with a number for the gap between them.</a:t>
            </a:r>
            <a:endParaRPr b="1" i="0" sz="1200" u="none" cap="none" strike="noStrike">
              <a:solidFill>
                <a:srgbClr val="000000"/>
              </a:solidFill>
              <a:latin typeface="Arial"/>
              <a:ea typeface="Arial"/>
              <a:cs typeface="Arial"/>
              <a:sym typeface="Arial"/>
            </a:endParaRPr>
          </a:p>
        </p:txBody>
      </p:sp>
      <p:sp>
        <p:nvSpPr>
          <p:cNvPr id="229" name="Google Shape;229;p38"/>
          <p:cNvSpPr/>
          <p:nvPr/>
        </p:nvSpPr>
        <p:spPr>
          <a:xfrm>
            <a:off x="178308" y="1250584"/>
            <a:ext cx="2229000" cy="1920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THE PROBLEM  ·  INCOIS'S OWN WORDS</a:t>
            </a:r>
            <a:endParaRPr b="0" i="0" sz="1100" u="none" cap="none" strike="noStrike">
              <a:solidFill>
                <a:srgbClr val="000000"/>
              </a:solidFill>
              <a:latin typeface="Arial"/>
              <a:ea typeface="Arial"/>
              <a:cs typeface="Arial"/>
              <a:sym typeface="Arial"/>
            </a:endParaRPr>
          </a:p>
        </p:txBody>
      </p:sp>
      <p:sp>
        <p:nvSpPr>
          <p:cNvPr id="230" name="Google Shape;230;p38"/>
          <p:cNvSpPr/>
          <p:nvPr/>
        </p:nvSpPr>
        <p:spPr>
          <a:xfrm>
            <a:off x="178300" y="1495050"/>
            <a:ext cx="4725900" cy="566928"/>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1" name="Google Shape;231;p38"/>
          <p:cNvSpPr txBox="1"/>
          <p:nvPr/>
        </p:nvSpPr>
        <p:spPr>
          <a:xfrm>
            <a:off x="288600" y="1553375"/>
            <a:ext cx="4643700" cy="406500"/>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Clr>
                <a:srgbClr val="000000"/>
              </a:buClr>
              <a:buSzPts val="900"/>
              <a:buFont typeface="Arial"/>
              <a:buNone/>
            </a:pPr>
            <a:r>
              <a:rPr b="1" i="0" lang="en-GB" sz="1000" u="none" cap="none" strike="noStrike">
                <a:solidFill>
                  <a:srgbClr val="12688F"/>
                </a:solidFill>
                <a:latin typeface="Calibri"/>
                <a:ea typeface="Calibri"/>
                <a:cs typeface="Calibri"/>
                <a:sym typeface="Calibri"/>
              </a:rPr>
              <a:t>▪  </a:t>
            </a:r>
            <a:r>
              <a:rPr b="1" i="0" lang="en-GB" sz="1000" u="none" cap="none" strike="noStrike">
                <a:solidFill>
                  <a:srgbClr val="C44528"/>
                </a:solidFill>
                <a:latin typeface="Calibri"/>
                <a:ea typeface="Calibri"/>
                <a:cs typeface="Calibri"/>
                <a:sym typeface="Calibri"/>
              </a:rPr>
              <a:t>“No integrated, web-based 3D visualization platform currently exists”</a:t>
            </a:r>
            <a:r>
              <a:rPr b="0" i="0" lang="en-GB" sz="1000" u="none" cap="none" strike="noStrike">
                <a:solidFill>
                  <a:srgbClr val="14202B"/>
                </a:solidFill>
                <a:latin typeface="Calibri"/>
                <a:ea typeface="Calibri"/>
                <a:cs typeface="Calibri"/>
                <a:sym typeface="Calibri"/>
              </a:rPr>
              <a:t> so forecasters toggle between disparate software packages, which impedes hazard assessment, search and rescue, fishery advisories and climate monitoring.</a:t>
            </a:r>
            <a:endParaRPr b="0" i="0" sz="1100" u="none" cap="none" strike="noStrike">
              <a:solidFill>
                <a:srgbClr val="000000"/>
              </a:solidFill>
              <a:latin typeface="Arial"/>
              <a:ea typeface="Arial"/>
              <a:cs typeface="Arial"/>
              <a:sym typeface="Arial"/>
            </a:endParaRPr>
          </a:p>
        </p:txBody>
      </p:sp>
      <p:sp>
        <p:nvSpPr>
          <p:cNvPr id="232" name="Google Shape;232;p38"/>
          <p:cNvSpPr/>
          <p:nvPr/>
        </p:nvSpPr>
        <p:spPr>
          <a:xfrm>
            <a:off x="178308" y="2139696"/>
            <a:ext cx="3326100" cy="1920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PROPOSED SOLUTION  ·  HOW IT ADDRESSES THE PROBLEM</a:t>
            </a:r>
            <a:endParaRPr b="0" i="0" sz="1100" u="none" cap="none" strike="noStrike">
              <a:solidFill>
                <a:srgbClr val="000000"/>
              </a:solidFill>
              <a:latin typeface="Arial"/>
              <a:ea typeface="Arial"/>
              <a:cs typeface="Arial"/>
              <a:sym typeface="Arial"/>
            </a:endParaRPr>
          </a:p>
        </p:txBody>
      </p:sp>
      <p:sp>
        <p:nvSpPr>
          <p:cNvPr id="233" name="Google Shape;233;p38"/>
          <p:cNvSpPr/>
          <p:nvPr/>
        </p:nvSpPr>
        <p:spPr>
          <a:xfrm>
            <a:off x="178300" y="2377440"/>
            <a:ext cx="4725900" cy="1024128"/>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4" name="Google Shape;234;p38"/>
          <p:cNvSpPr txBox="1"/>
          <p:nvPr/>
        </p:nvSpPr>
        <p:spPr>
          <a:xfrm>
            <a:off x="288600" y="2432300"/>
            <a:ext cx="4602600" cy="795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Volumetric column in a browser.</a:t>
            </a:r>
            <a:r>
              <a:rPr b="0" i="0" lang="en-GB" sz="1000" u="none" cap="none" strike="noStrike">
                <a:solidFill>
                  <a:srgbClr val="14202B"/>
                </a:solidFill>
                <a:latin typeface="Calibri"/>
                <a:ea typeface="Calibri"/>
                <a:cs typeface="Calibri"/>
                <a:sym typeface="Calibri"/>
              </a:rPr>
              <a:t>  24 levels, 5 m to 2000 m.</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All four instrument classes.</a:t>
            </a:r>
            <a:r>
              <a:rPr b="0" i="0" lang="en-GB" sz="1000" u="none" cap="none" strike="noStrike">
                <a:solidFill>
                  <a:srgbClr val="14202B"/>
                </a:solidFill>
                <a:latin typeface="Calibri"/>
                <a:ea typeface="Calibri"/>
                <a:cs typeface="Calibri"/>
                <a:sym typeface="Calibri"/>
              </a:rPr>
              <a:t>  149 casts: temperature, salinity, oxygen, chlorophyll.</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12688F"/>
                </a:solidFill>
                <a:latin typeface="Calibri"/>
                <a:ea typeface="Calibri"/>
                <a:cs typeface="Calibri"/>
                <a:sym typeface="Calibri"/>
              </a:rPr>
              <a:t>A skill number beside the field.</a:t>
            </a:r>
            <a:r>
              <a:rPr b="0" i="0" lang="en-GB" sz="1000" u="none" cap="none" strike="noStrike">
                <a:solidFill>
                  <a:srgbClr val="14202B"/>
                </a:solidFill>
                <a:latin typeface="Calibri"/>
                <a:ea typeface="Calibri"/>
                <a:cs typeface="Calibri"/>
                <a:sym typeface="Calibri"/>
              </a:rPr>
              <a:t>  Bias and RMSE per depth band.</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Hazards drawn over the water.</a:t>
            </a:r>
            <a:r>
              <a:rPr b="0" i="0" lang="en-GB" sz="1000" u="none" cap="none" strike="noStrike">
                <a:solidFill>
                  <a:srgbClr val="14202B"/>
                </a:solidFill>
                <a:latin typeface="Calibri"/>
                <a:ea typeface="Calibri"/>
                <a:cs typeface="Calibri"/>
                <a:sym typeface="Calibri"/>
              </a:rPr>
              <a:t>  Live CAP v1.2 from NDMA SACHET.</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A new source is config, not code.</a:t>
            </a:r>
            <a:r>
              <a:rPr b="0" i="0" lang="en-GB" sz="1000" u="none" cap="none" strike="noStrike">
                <a:solidFill>
                  <a:srgbClr val="14202B"/>
                </a:solidFill>
                <a:latin typeface="Calibri"/>
                <a:ea typeface="Calibri"/>
                <a:cs typeface="Calibri"/>
                <a:sym typeface="Calibri"/>
              </a:rPr>
              <a:t>  YAML plus a plugin. OGC WMS/WCS served.</a:t>
            </a:r>
            <a:endParaRPr b="0" i="0" sz="1300" u="none" cap="none" strike="noStrike">
              <a:solidFill>
                <a:srgbClr val="000000"/>
              </a:solidFill>
              <a:latin typeface="Arial"/>
              <a:ea typeface="Arial"/>
              <a:cs typeface="Arial"/>
              <a:sym typeface="Arial"/>
            </a:endParaRPr>
          </a:p>
        </p:txBody>
      </p:sp>
      <p:pic>
        <p:nvPicPr>
          <p:cNvPr descr="hero-tours.png" id="235" name="Google Shape;235;p38"/>
          <p:cNvPicPr preferRelativeResize="0"/>
          <p:nvPr/>
        </p:nvPicPr>
        <p:blipFill rotWithShape="1">
          <a:blip r:embed="rId4">
            <a:alphaModFix/>
          </a:blip>
          <a:srcRect b="0" l="0" r="0" t="0"/>
          <a:stretch/>
        </p:blipFill>
        <p:spPr>
          <a:xfrm>
            <a:off x="5027167" y="1272200"/>
            <a:ext cx="3931920" cy="2569464"/>
          </a:xfrm>
          <a:prstGeom prst="rect">
            <a:avLst/>
          </a:prstGeom>
          <a:noFill/>
          <a:ln>
            <a:noFill/>
          </a:ln>
        </p:spPr>
      </p:pic>
      <p:pic>
        <p:nvPicPr>
          <p:cNvPr descr="panel-verdict.png" id="236" name="Google Shape;236;p38"/>
          <p:cNvPicPr preferRelativeResize="0"/>
          <p:nvPr/>
        </p:nvPicPr>
        <p:blipFill rotWithShape="1">
          <a:blip r:embed="rId5">
            <a:alphaModFix/>
          </a:blip>
          <a:srcRect b="0" l="0" r="0" t="0"/>
          <a:stretch/>
        </p:blipFill>
        <p:spPr>
          <a:xfrm>
            <a:off x="5027175" y="3950200"/>
            <a:ext cx="2307900" cy="713575"/>
          </a:xfrm>
          <a:prstGeom prst="rect">
            <a:avLst/>
          </a:prstGeom>
          <a:noFill/>
          <a:ln>
            <a:noFill/>
          </a:ln>
        </p:spPr>
      </p:pic>
      <p:sp>
        <p:nvSpPr>
          <p:cNvPr id="237" name="Google Shape;237;p38"/>
          <p:cNvSpPr txBox="1"/>
          <p:nvPr/>
        </p:nvSpPr>
        <p:spPr>
          <a:xfrm>
            <a:off x="1216152" y="3749039"/>
            <a:ext cx="1517904" cy="219456"/>
          </a:xfrm>
          <a:prstGeom prst="rect">
            <a:avLst/>
          </a:prstGeom>
          <a:noFill/>
          <a:ln>
            <a:noFill/>
          </a:ln>
        </p:spPr>
        <p:txBody>
          <a:bodyPr anchorCtr="0" anchor="t" bIns="18275" lIns="27425" spcFirstLastPara="1" rIns="27425" wrap="square" tIns="18275">
            <a:spAutoFit/>
          </a:bodyPr>
          <a:lstStyle/>
          <a:p>
            <a:pPr indent="0" lvl="0" marL="0" marR="0" rtl="0" algn="ctr">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DESKTOP</a:t>
            </a:r>
            <a:endParaRPr/>
          </a:p>
        </p:txBody>
      </p:sp>
      <p:sp>
        <p:nvSpPr>
          <p:cNvPr id="238" name="Google Shape;238;p38"/>
          <p:cNvSpPr txBox="1"/>
          <p:nvPr/>
        </p:nvSpPr>
        <p:spPr>
          <a:xfrm>
            <a:off x="2770632" y="3749039"/>
            <a:ext cx="1517904" cy="219456"/>
          </a:xfrm>
          <a:prstGeom prst="rect">
            <a:avLst/>
          </a:prstGeom>
          <a:noFill/>
          <a:ln>
            <a:noFill/>
          </a:ln>
        </p:spPr>
        <p:txBody>
          <a:bodyPr anchorCtr="0" anchor="t" bIns="18275" lIns="27425" spcFirstLastPara="1" rIns="27425" wrap="square" tIns="18275">
            <a:spAutoFit/>
          </a:bodyPr>
          <a:lstStyle/>
          <a:p>
            <a:pPr indent="0" lvl="0" marL="0" marR="0" rtl="0" algn="ctr">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IN A BROWSER</a:t>
            </a:r>
            <a:endParaRPr/>
          </a:p>
        </p:txBody>
      </p:sp>
      <p:sp>
        <p:nvSpPr>
          <p:cNvPr id="239" name="Google Shape;239;p38"/>
          <p:cNvSpPr txBox="1"/>
          <p:nvPr/>
        </p:nvSpPr>
        <p:spPr>
          <a:xfrm>
            <a:off x="173736" y="4069080"/>
            <a:ext cx="1005840" cy="219456"/>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VOLUMETRIC</a:t>
            </a:r>
            <a:endParaRPr/>
          </a:p>
        </p:txBody>
      </p:sp>
      <p:sp>
        <p:nvSpPr>
          <p:cNvPr id="240" name="Google Shape;240;p38"/>
          <p:cNvSpPr txBox="1"/>
          <p:nvPr/>
        </p:nvSpPr>
        <p:spPr>
          <a:xfrm>
            <a:off x="173736" y="4453128"/>
            <a:ext cx="1005840" cy="219456"/>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2D ONLY</a:t>
            </a:r>
            <a:endParaRPr/>
          </a:p>
        </p:txBody>
      </p:sp>
      <p:sp>
        <p:nvSpPr>
          <p:cNvPr id="241" name="Google Shape;241;p38"/>
          <p:cNvSpPr/>
          <p:nvPr/>
        </p:nvSpPr>
        <p:spPr>
          <a:xfrm>
            <a:off x="1216152" y="3950208"/>
            <a:ext cx="1517904" cy="365760"/>
          </a:xfrm>
          <a:prstGeom prst="roundRect">
            <a:avLst>
              <a:gd fmla="val 8000" name="adj"/>
            </a:avLst>
          </a:prstGeom>
          <a:solidFill>
            <a:srgbClr val="ECF1F5"/>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0" i="0" lang="en-GB" sz="900" u="none" cap="none" strike="noStrike">
                <a:solidFill>
                  <a:srgbClr val="5A6B78"/>
                </a:solidFill>
                <a:latin typeface="Arial"/>
                <a:ea typeface="Arial"/>
                <a:cs typeface="Arial"/>
                <a:sym typeface="Arial"/>
              </a:rPr>
              <a:t>pyParaOcean  ·  IDV</a:t>
            </a:r>
            <a:endParaRPr/>
          </a:p>
        </p:txBody>
      </p:sp>
      <p:sp>
        <p:nvSpPr>
          <p:cNvPr id="242" name="Google Shape;242;p38"/>
          <p:cNvSpPr/>
          <p:nvPr/>
        </p:nvSpPr>
        <p:spPr>
          <a:xfrm>
            <a:off x="2770632" y="3950208"/>
            <a:ext cx="1517904" cy="365760"/>
          </a:xfrm>
          <a:prstGeom prst="roundRect">
            <a:avLst>
              <a:gd fmla="val 8000" name="adj"/>
            </a:avLst>
          </a:prstGeom>
          <a:solidFill>
            <a:srgbClr val="C03A2B"/>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1" i="0" lang="en-GB" sz="900" u="none" cap="none" strike="noStrike">
                <a:solidFill>
                  <a:srgbClr val="FFFFFF"/>
                </a:solidFill>
                <a:latin typeface="Arial"/>
                <a:ea typeface="Arial"/>
                <a:cs typeface="Arial"/>
                <a:sym typeface="Arial"/>
              </a:rPr>
              <a:t>SagarDrishti</a:t>
            </a:r>
            <a:endParaRPr/>
          </a:p>
        </p:txBody>
      </p:sp>
      <p:sp>
        <p:nvSpPr>
          <p:cNvPr id="243" name="Google Shape;243;p38"/>
          <p:cNvSpPr/>
          <p:nvPr/>
        </p:nvSpPr>
        <p:spPr>
          <a:xfrm>
            <a:off x="1216152" y="4334256"/>
            <a:ext cx="1517904" cy="365760"/>
          </a:xfrm>
          <a:prstGeom prst="roundRect">
            <a:avLst>
              <a:gd fmla="val 8000" name="adj"/>
            </a:avLst>
          </a:prstGeom>
          <a:solidFill>
            <a:srgbClr val="ECF1F5"/>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0" i="0" lang="en-GB" sz="900" u="none" cap="none" strike="noStrike">
                <a:solidFill>
                  <a:srgbClr val="5A6B78"/>
                </a:solidFill>
                <a:latin typeface="Arial"/>
                <a:ea typeface="Arial"/>
                <a:cs typeface="Arial"/>
                <a:sym typeface="Arial"/>
              </a:rPr>
              <a:t>ODV  ·  Ferret / LAS</a:t>
            </a:r>
            <a:endParaRPr/>
          </a:p>
        </p:txBody>
      </p:sp>
      <p:sp>
        <p:nvSpPr>
          <p:cNvPr id="244" name="Google Shape;244;p38"/>
          <p:cNvSpPr/>
          <p:nvPr/>
        </p:nvSpPr>
        <p:spPr>
          <a:xfrm>
            <a:off x="2770632" y="4334256"/>
            <a:ext cx="1517904" cy="365760"/>
          </a:xfrm>
          <a:prstGeom prst="roundRect">
            <a:avLst>
              <a:gd fmla="val 8000" name="adj"/>
            </a:avLst>
          </a:prstGeom>
          <a:solidFill>
            <a:srgbClr val="ECF1F5"/>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0" i="0" lang="en-GB" sz="900" u="none" cap="none" strike="noStrike">
                <a:solidFill>
                  <a:srgbClr val="5A6B78"/>
                </a:solidFill>
                <a:latin typeface="Arial"/>
                <a:ea typeface="Arial"/>
                <a:cs typeface="Arial"/>
                <a:sym typeface="Arial"/>
              </a:rPr>
              <a:t>MyOcean  ·  Argovis</a:t>
            </a:r>
            <a:endParaRPr/>
          </a:p>
        </p:txBody>
      </p:sp>
      <p:sp>
        <p:nvSpPr>
          <p:cNvPr id="245" name="Google Shape;245;p38"/>
          <p:cNvSpPr txBox="1"/>
          <p:nvPr/>
        </p:nvSpPr>
        <p:spPr>
          <a:xfrm>
            <a:off x="6856066" y="3906775"/>
            <a:ext cx="2103000" cy="199800"/>
          </a:xfrm>
          <a:prstGeom prst="rect">
            <a:avLst/>
          </a:prstGeom>
          <a:noFill/>
          <a:ln>
            <a:noFill/>
          </a:ln>
        </p:spPr>
        <p:txBody>
          <a:bodyPr anchorCtr="0" anchor="t" bIns="18275" lIns="27425" spcFirstLastPara="1" rIns="27425" wrap="square" tIns="18275">
            <a:spAutoFit/>
          </a:bodyPr>
          <a:lstStyle/>
          <a:p>
            <a:pPr indent="0" lvl="0" marL="0" marR="0" rtl="0" algn="r">
              <a:lnSpc>
                <a:spcPct val="92000"/>
              </a:lnSpc>
              <a:spcBef>
                <a:spcPts val="0"/>
              </a:spcBef>
              <a:spcAft>
                <a:spcPts val="0"/>
              </a:spcAft>
              <a:buNone/>
            </a:pPr>
            <a:r>
              <a:rPr b="1" i="0" lang="en-GB" sz="1150" u="none" cap="none" strike="noStrike">
                <a:solidFill>
                  <a:srgbClr val="C03A2B"/>
                </a:solidFill>
                <a:latin typeface="Arial"/>
                <a:ea typeface="Arial"/>
                <a:cs typeface="Arial"/>
                <a:sym typeface="Arial"/>
              </a:rPr>
              <a:t>11,718  </a:t>
            </a:r>
            <a:r>
              <a:rPr b="0" i="0" lang="en-GB" sz="1000" u="none" cap="none" strike="noStrike">
                <a:solidFill>
                  <a:srgbClr val="5A6B78"/>
                </a:solidFill>
                <a:latin typeface="Arial"/>
                <a:ea typeface="Arial"/>
                <a:cs typeface="Arial"/>
                <a:sym typeface="Arial"/>
              </a:rPr>
              <a:t>matched pairs</a:t>
            </a:r>
            <a:endParaRPr sz="1500"/>
          </a:p>
        </p:txBody>
      </p:sp>
      <p:sp>
        <p:nvSpPr>
          <p:cNvPr id="246" name="Google Shape;246;p38"/>
          <p:cNvSpPr txBox="1"/>
          <p:nvPr/>
        </p:nvSpPr>
        <p:spPr>
          <a:xfrm>
            <a:off x="6890691" y="4162820"/>
            <a:ext cx="2103000" cy="199800"/>
          </a:xfrm>
          <a:prstGeom prst="rect">
            <a:avLst/>
          </a:prstGeom>
          <a:noFill/>
          <a:ln>
            <a:noFill/>
          </a:ln>
        </p:spPr>
        <p:txBody>
          <a:bodyPr anchorCtr="0" anchor="t" bIns="18275" lIns="27425" spcFirstLastPara="1" rIns="27425" wrap="square" tIns="18275">
            <a:spAutoFit/>
          </a:bodyPr>
          <a:lstStyle/>
          <a:p>
            <a:pPr indent="0" lvl="0" marL="0" marR="0" rtl="0" algn="r">
              <a:lnSpc>
                <a:spcPct val="92000"/>
              </a:lnSpc>
              <a:spcBef>
                <a:spcPts val="0"/>
              </a:spcBef>
              <a:spcAft>
                <a:spcPts val="0"/>
              </a:spcAft>
              <a:buNone/>
            </a:pPr>
            <a:r>
              <a:rPr b="1" i="0" lang="en-GB" sz="1150" u="none" cap="none" strike="noStrike">
                <a:solidFill>
                  <a:srgbClr val="C03A2B"/>
                </a:solidFill>
                <a:latin typeface="Arial"/>
                <a:ea typeface="Arial"/>
                <a:cs typeface="Arial"/>
                <a:sym typeface="Arial"/>
              </a:rPr>
              <a:t>13,622  </a:t>
            </a:r>
            <a:r>
              <a:rPr b="0" i="0" lang="en-GB" sz="1000" u="none" cap="none" strike="noStrike">
                <a:solidFill>
                  <a:srgbClr val="5A6B78"/>
                </a:solidFill>
                <a:latin typeface="Arial"/>
                <a:ea typeface="Arial"/>
                <a:cs typeface="Arial"/>
                <a:sym typeface="Arial"/>
              </a:rPr>
              <a:t>levels refused</a:t>
            </a:r>
            <a:endParaRPr sz="1500"/>
          </a:p>
        </p:txBody>
      </p:sp>
      <p:sp>
        <p:nvSpPr>
          <p:cNvPr id="247" name="Google Shape;247;p38"/>
          <p:cNvSpPr txBox="1"/>
          <p:nvPr/>
        </p:nvSpPr>
        <p:spPr>
          <a:xfrm>
            <a:off x="6856066" y="4418839"/>
            <a:ext cx="2103000" cy="199800"/>
          </a:xfrm>
          <a:prstGeom prst="rect">
            <a:avLst/>
          </a:prstGeom>
          <a:noFill/>
          <a:ln>
            <a:noFill/>
          </a:ln>
        </p:spPr>
        <p:txBody>
          <a:bodyPr anchorCtr="0" anchor="t" bIns="18275" lIns="27425" spcFirstLastPara="1" rIns="27425" wrap="square" tIns="18275">
            <a:spAutoFit/>
          </a:bodyPr>
          <a:lstStyle/>
          <a:p>
            <a:pPr indent="0" lvl="0" marL="0" marR="0" rtl="0" algn="r">
              <a:lnSpc>
                <a:spcPct val="92000"/>
              </a:lnSpc>
              <a:spcBef>
                <a:spcPts val="0"/>
              </a:spcBef>
              <a:spcAft>
                <a:spcPts val="0"/>
              </a:spcAft>
              <a:buNone/>
            </a:pPr>
            <a:r>
              <a:rPr b="1" i="0" lang="en-GB" sz="1150" u="none" cap="none" strike="noStrike">
                <a:solidFill>
                  <a:srgbClr val="C03A2B"/>
                </a:solidFill>
                <a:latin typeface="Arial"/>
                <a:ea typeface="Arial"/>
                <a:cs typeface="Arial"/>
                <a:sym typeface="Arial"/>
              </a:rPr>
              <a:t>0.602  </a:t>
            </a:r>
            <a:r>
              <a:rPr b="0" i="0" lang="en-GB" sz="1000" u="none" cap="none" strike="noStrike">
                <a:solidFill>
                  <a:srgbClr val="5A6B78"/>
                </a:solidFill>
                <a:latin typeface="Arial"/>
                <a:ea typeface="Arial"/>
                <a:cs typeface="Arial"/>
                <a:sym typeface="Arial"/>
              </a:rPr>
              <a:t>degC RMSE</a:t>
            </a:r>
            <a:endParaRPr sz="1500"/>
          </a:p>
        </p:txBody>
      </p:sp>
      <p:sp>
        <p:nvSpPr>
          <p:cNvPr id="248" name="Google Shape;248;p38"/>
          <p:cNvSpPr/>
          <p:nvPr/>
        </p:nvSpPr>
        <p:spPr>
          <a:xfrm>
            <a:off x="173736" y="3493008"/>
            <a:ext cx="1298448" cy="201168"/>
          </a:xfrm>
          <a:prstGeom prst="roundRect">
            <a:avLst>
              <a:gd fmla="val 25000" name="adj"/>
            </a:avLst>
          </a:prstGeom>
          <a:solidFill>
            <a:srgbClr val="C03A2B"/>
          </a:solidFill>
          <a:ln>
            <a:noFill/>
          </a:ln>
        </p:spPr>
        <p:txBody>
          <a:bodyPr anchorCtr="0" anchor="ctr" bIns="9125" lIns="36575" spcFirstLastPara="1" rIns="36575" wrap="square" tIns="9125">
            <a:noAutofit/>
          </a:bodyPr>
          <a:lstStyle/>
          <a:p>
            <a:pPr indent="0" lvl="0" marL="0" marR="0" rtl="0" algn="l">
              <a:lnSpc>
                <a:spcPct val="92000"/>
              </a:lnSpc>
              <a:spcBef>
                <a:spcPts val="0"/>
              </a:spcBef>
              <a:spcAft>
                <a:spcPts val="0"/>
              </a:spcAft>
              <a:buNone/>
            </a:pPr>
            <a:r>
              <a:rPr b="1" i="0" lang="en-GB" sz="750" u="none" cap="none" strike="noStrike">
                <a:solidFill>
                  <a:srgbClr val="FFFFFF"/>
                </a:solidFill>
                <a:latin typeface="Arial"/>
                <a:ea typeface="Arial"/>
                <a:cs typeface="Arial"/>
                <a:sym typeface="Arial"/>
              </a:rPr>
              <a:t>WHERE THIS SITS</a:t>
            </a:r>
            <a:endParaRPr/>
          </a:p>
        </p:txBody>
      </p:sp>
      <p:sp>
        <p:nvSpPr>
          <p:cNvPr id="249" name="Google Shape;249;p38"/>
          <p:cNvSpPr txBox="1"/>
          <p:nvPr/>
        </p:nvSpPr>
        <p:spPr>
          <a:xfrm>
            <a:off x="1554480" y="3502152"/>
            <a:ext cx="2926200" cy="1743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1" lang="en-GB" sz="950" u="none" cap="none" strike="noStrike">
                <a:solidFill>
                  <a:srgbClr val="5A6B78"/>
                </a:solidFill>
                <a:latin typeface="Arial"/>
                <a:ea typeface="Arial"/>
                <a:cs typeface="Arial"/>
                <a:sym typeface="Arial"/>
              </a:rPr>
              <a:t>Nobody occupies the full cell.</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NetCDF ASCII delimited text xarray Zarr chunked store CF Conventions FastAPI REST API OGC WMS 1.3.0 WCS 1.0.0 CesiumJS WebGL2 Next.js TypeScript Python 3.11 Docker plugin architecture modular extensible source registry HF-radar ADCP additional sensors minimal code change</a:t>
            </a:r>
            <a:endParaRPr/>
          </a:p>
        </p:txBody>
      </p:sp>
      <p:sp>
        <p:nvSpPr>
          <p:cNvPr id="256" name="Google Shape;256;p39"/>
          <p:cNvSpPr/>
          <p:nvPr/>
        </p:nvSpPr>
        <p:spPr>
          <a:xfrm>
            <a:off x="0" y="4869574"/>
            <a:ext cx="9144000" cy="2739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53734"/>
              </a:solidFill>
              <a:latin typeface="Calibri"/>
              <a:ea typeface="Calibri"/>
              <a:cs typeface="Calibri"/>
              <a:sym typeface="Calibri"/>
            </a:endParaRPr>
          </a:p>
        </p:txBody>
      </p:sp>
      <p:sp>
        <p:nvSpPr>
          <p:cNvPr id="257" name="Google Shape;257;p39"/>
          <p:cNvSpPr txBox="1"/>
          <p:nvPr>
            <p:ph type="title"/>
          </p:nvPr>
        </p:nvSpPr>
        <p:spPr>
          <a:xfrm>
            <a:off x="1423860" y="52248"/>
            <a:ext cx="7338000" cy="630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TECHNICAL APPROACH</a:t>
            </a:r>
            <a:endParaRPr sz="1100"/>
          </a:p>
        </p:txBody>
      </p:sp>
      <p:sp>
        <p:nvSpPr>
          <p:cNvPr id="258" name="Google Shape;258;p39"/>
          <p:cNvSpPr txBox="1"/>
          <p:nvPr>
            <p:ph idx="12" type="sldNum"/>
          </p:nvPr>
        </p:nvSpPr>
        <p:spPr>
          <a:xfrm>
            <a:off x="6553200" y="4867528"/>
            <a:ext cx="21336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1100"/>
              <a:buNone/>
            </a:pPr>
            <a:fld id="{00000000-1234-1234-1234-123412341234}" type="slidenum">
              <a:rPr b="1" lang="en-GB" sz="1100">
                <a:solidFill>
                  <a:schemeClr val="lt1"/>
                </a:solidFill>
              </a:rPr>
              <a:t>‹#›</a:t>
            </a:fld>
            <a:endParaRPr b="1" sz="1100">
              <a:solidFill>
                <a:schemeClr val="lt1"/>
              </a:solidFill>
            </a:endParaRPr>
          </a:p>
        </p:txBody>
      </p:sp>
      <p:sp>
        <p:nvSpPr>
          <p:cNvPr id="259" name="Google Shape;259;p39"/>
          <p:cNvSpPr txBox="1"/>
          <p:nvPr>
            <p:ph idx="11" type="ftr"/>
          </p:nvPr>
        </p:nvSpPr>
        <p:spPr>
          <a:xfrm>
            <a:off x="3481450" y="4862912"/>
            <a:ext cx="24030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i="0" lang="en-GB" sz="700">
                <a:solidFill>
                  <a:srgbClr val="FFFFFF"/>
                </a:solidFill>
                <a:latin typeface="Calibri"/>
                <a:ea typeface="Calibri"/>
                <a:cs typeface="Calibri"/>
                <a:sym typeface="Calibri"/>
              </a:rPr>
              <a:t>SagarDrishti  ·  PS SIH26067  ·  @SIH Idea Submission</a:t>
            </a:r>
            <a:endParaRPr sz="1100">
              <a:solidFill>
                <a:schemeClr val="lt1"/>
              </a:solidFill>
            </a:endParaRPr>
          </a:p>
        </p:txBody>
      </p:sp>
      <p:pic>
        <p:nvPicPr>
          <p:cNvPr id="260" name="Google Shape;260;p39"/>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61" name="Google Shape;261;p39"/>
          <p:cNvSpPr/>
          <p:nvPr/>
        </p:nvSpPr>
        <p:spPr>
          <a:xfrm>
            <a:off x="178308" y="850392"/>
            <a:ext cx="8785200" cy="233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2" name="Google Shape;262;p39"/>
          <p:cNvSpPr txBox="1"/>
          <p:nvPr/>
        </p:nvSpPr>
        <p:spPr>
          <a:xfrm>
            <a:off x="163985" y="893362"/>
            <a:ext cx="8785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NetCDF · ASCII · CAP XML</a:t>
            </a:r>
            <a:r>
              <a:rPr b="1" i="0" lang="en-GB" sz="900" u="none" cap="none" strike="noStrike">
                <a:solidFill>
                  <a:srgbClr val="7FB2CC"/>
                </a:solidFill>
                <a:latin typeface="Calibri"/>
                <a:ea typeface="Calibri"/>
                <a:cs typeface="Calibri"/>
                <a:sym typeface="Calibri"/>
              </a:rPr>
              <a:t>   →   </a:t>
            </a:r>
            <a:r>
              <a:rPr b="1" i="0" lang="en-GB" sz="900" u="none" cap="none" strike="noStrike">
                <a:solidFill>
                  <a:srgbClr val="FFFFFF"/>
                </a:solidFill>
                <a:latin typeface="Calibri"/>
                <a:ea typeface="Calibri"/>
                <a:cs typeface="Calibri"/>
                <a:sym typeface="Calibri"/>
              </a:rPr>
              <a:t>source registry (YAML)</a:t>
            </a:r>
            <a:r>
              <a:rPr b="1" i="0" lang="en-GB" sz="900" u="none" cap="none" strike="noStrike">
                <a:solidFill>
                  <a:srgbClr val="7FB2CC"/>
                </a:solidFill>
                <a:latin typeface="Calibri"/>
                <a:ea typeface="Calibri"/>
                <a:cs typeface="Calibri"/>
                <a:sym typeface="Calibri"/>
              </a:rPr>
              <a:t>   →   </a:t>
            </a:r>
            <a:r>
              <a:rPr b="1" i="0" lang="en-GB" sz="900" u="none" cap="none" strike="noStrike">
                <a:solidFill>
                  <a:srgbClr val="FFFFFF"/>
                </a:solidFill>
                <a:latin typeface="Calibri"/>
                <a:ea typeface="Calibri"/>
                <a:cs typeface="Calibri"/>
                <a:sym typeface="Calibri"/>
              </a:rPr>
              <a:t>chunked Zarr cube</a:t>
            </a:r>
            <a:r>
              <a:rPr b="1" i="0" lang="en-GB" sz="900" u="none" cap="none" strike="noStrike">
                <a:solidFill>
                  <a:srgbClr val="7FB2CC"/>
                </a:solidFill>
                <a:latin typeface="Calibri"/>
                <a:ea typeface="Calibri"/>
                <a:cs typeface="Calibri"/>
                <a:sym typeface="Calibri"/>
              </a:rPr>
              <a:t>   →   </a:t>
            </a:r>
            <a:r>
              <a:rPr b="1" i="0" lang="en-GB" sz="900" u="none" cap="none" strike="noStrike">
                <a:solidFill>
                  <a:srgbClr val="FFFFFF"/>
                </a:solidFill>
                <a:latin typeface="Calibri"/>
                <a:ea typeface="Calibri"/>
                <a:cs typeface="Calibri"/>
                <a:sym typeface="Calibri"/>
              </a:rPr>
              <a:t>FastAPI + OGC WMS / WCS</a:t>
            </a:r>
            <a:r>
              <a:rPr b="1" i="0" lang="en-GB" sz="900" u="none" cap="none" strike="noStrike">
                <a:solidFill>
                  <a:srgbClr val="7FB2CC"/>
                </a:solidFill>
                <a:latin typeface="Calibri"/>
                <a:ea typeface="Calibri"/>
                <a:cs typeface="Calibri"/>
                <a:sym typeface="Calibri"/>
              </a:rPr>
              <a:t>   →   </a:t>
            </a:r>
            <a:r>
              <a:rPr b="1" i="0" lang="en-GB" sz="900" u="none" cap="none" strike="noStrike">
                <a:solidFill>
                  <a:srgbClr val="FFFFFF"/>
                </a:solidFill>
                <a:latin typeface="Calibri"/>
                <a:ea typeface="Calibri"/>
                <a:cs typeface="Calibri"/>
                <a:sym typeface="Calibri"/>
              </a:rPr>
              <a:t>WebGL 3D scene in the browser</a:t>
            </a:r>
            <a:endParaRPr b="0" i="0" sz="1200" u="none" cap="none" strike="noStrike">
              <a:solidFill>
                <a:srgbClr val="000000"/>
              </a:solidFill>
              <a:latin typeface="Arial"/>
              <a:ea typeface="Arial"/>
              <a:cs typeface="Arial"/>
              <a:sym typeface="Arial"/>
            </a:endParaRPr>
          </a:p>
        </p:txBody>
      </p:sp>
      <p:sp>
        <p:nvSpPr>
          <p:cNvPr id="263" name="Google Shape;263;p39"/>
          <p:cNvSpPr/>
          <p:nvPr/>
        </p:nvSpPr>
        <p:spPr>
          <a:xfrm>
            <a:off x="173736" y="3154675"/>
            <a:ext cx="4297680" cy="685800"/>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4" name="Google Shape;264;p39"/>
          <p:cNvSpPr/>
          <p:nvPr/>
        </p:nvSpPr>
        <p:spPr>
          <a:xfrm>
            <a:off x="182880" y="3154680"/>
            <a:ext cx="36576" cy="6858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5" name="Google Shape;265;p39"/>
          <p:cNvSpPr/>
          <p:nvPr/>
        </p:nvSpPr>
        <p:spPr>
          <a:xfrm>
            <a:off x="292608" y="3228423"/>
            <a:ext cx="150900" cy="150900"/>
          </a:xfrm>
          <a:prstGeom prst="ellipse">
            <a:avLst/>
          </a:prstGeom>
          <a:solidFill>
            <a:srgbClr val="0E8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5</a:t>
            </a:r>
            <a:endParaRPr b="0" i="0" sz="1100" u="none" cap="none" strike="noStrike">
              <a:solidFill>
                <a:srgbClr val="000000"/>
              </a:solidFill>
              <a:latin typeface="Arial"/>
              <a:ea typeface="Arial"/>
              <a:cs typeface="Arial"/>
              <a:sym typeface="Arial"/>
            </a:endParaRPr>
          </a:p>
        </p:txBody>
      </p:sp>
      <p:sp>
        <p:nvSpPr>
          <p:cNvPr id="266" name="Google Shape;266;p39"/>
          <p:cNvSpPr txBox="1"/>
          <p:nvPr/>
        </p:nvSpPr>
        <p:spPr>
          <a:xfrm>
            <a:off x="475488" y="3250024"/>
            <a:ext cx="3749039"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E8C9A"/>
                </a:solidFill>
                <a:latin typeface="Calibri"/>
                <a:ea typeface="Calibri"/>
                <a:cs typeface="Calibri"/>
                <a:sym typeface="Calibri"/>
              </a:rPr>
              <a:t>VERIFICATION  ·  Class-4 method</a:t>
            </a:r>
            <a:endParaRPr b="0" i="0" sz="1300" u="none" cap="none" strike="noStrike">
              <a:solidFill>
                <a:srgbClr val="000000"/>
              </a:solidFill>
              <a:latin typeface="Arial"/>
              <a:ea typeface="Arial"/>
              <a:cs typeface="Arial"/>
              <a:sym typeface="Arial"/>
            </a:endParaRPr>
          </a:p>
        </p:txBody>
      </p:sp>
      <p:sp>
        <p:nvSpPr>
          <p:cNvPr id="267" name="Google Shape;267;p39"/>
          <p:cNvSpPr txBox="1"/>
          <p:nvPr/>
        </p:nvSpPr>
        <p:spPr>
          <a:xfrm>
            <a:off x="310896" y="3417848"/>
            <a:ext cx="3931920" cy="387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Interpolated to each cast's own position and depth. A level is refused, never filled.</a:t>
            </a:r>
            <a:endParaRPr b="0" i="0" sz="1300" u="none" cap="none" strike="noStrike">
              <a:solidFill>
                <a:srgbClr val="000000"/>
              </a:solidFill>
              <a:latin typeface="Arial"/>
              <a:ea typeface="Arial"/>
              <a:cs typeface="Arial"/>
              <a:sym typeface="Arial"/>
            </a:endParaRPr>
          </a:p>
        </p:txBody>
      </p:sp>
      <p:sp>
        <p:nvSpPr>
          <p:cNvPr id="268" name="Google Shape;268;p39"/>
          <p:cNvSpPr/>
          <p:nvPr/>
        </p:nvSpPr>
        <p:spPr>
          <a:xfrm>
            <a:off x="4617720" y="3155518"/>
            <a:ext cx="4352544" cy="685800"/>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9" name="Google Shape;269;p39"/>
          <p:cNvSpPr/>
          <p:nvPr/>
        </p:nvSpPr>
        <p:spPr>
          <a:xfrm>
            <a:off x="4626864" y="3155518"/>
            <a:ext cx="36576" cy="6858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0" name="Google Shape;270;p39"/>
          <p:cNvSpPr/>
          <p:nvPr/>
        </p:nvSpPr>
        <p:spPr>
          <a:xfrm>
            <a:off x="4736592" y="3212615"/>
            <a:ext cx="150900" cy="150900"/>
          </a:xfrm>
          <a:prstGeom prst="ellipse">
            <a:avLst/>
          </a:prstGeom>
          <a:solidFill>
            <a:srgbClr val="B87A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7</a:t>
            </a:r>
            <a:endParaRPr b="0" i="0" sz="1100" u="none" cap="none" strike="noStrike">
              <a:solidFill>
                <a:srgbClr val="000000"/>
              </a:solidFill>
              <a:latin typeface="Arial"/>
              <a:ea typeface="Arial"/>
              <a:cs typeface="Arial"/>
              <a:sym typeface="Arial"/>
            </a:endParaRPr>
          </a:p>
        </p:txBody>
      </p:sp>
      <p:sp>
        <p:nvSpPr>
          <p:cNvPr id="271" name="Google Shape;271;p39"/>
          <p:cNvSpPr txBox="1"/>
          <p:nvPr/>
        </p:nvSpPr>
        <p:spPr>
          <a:xfrm>
            <a:off x="4937760" y="3212606"/>
            <a:ext cx="384048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B87A1F"/>
                </a:solidFill>
                <a:latin typeface="Calibri"/>
                <a:ea typeface="Calibri"/>
                <a:cs typeface="Calibri"/>
                <a:sym typeface="Calibri"/>
              </a:rPr>
              <a:t>ANY OGC CLIENT</a:t>
            </a:r>
            <a:endParaRPr b="1" i="0" sz="1400" u="none" cap="none" strike="noStrike">
              <a:solidFill>
                <a:srgbClr val="000000"/>
              </a:solidFill>
              <a:latin typeface="Arial"/>
              <a:ea typeface="Arial"/>
              <a:cs typeface="Arial"/>
              <a:sym typeface="Arial"/>
            </a:endParaRPr>
          </a:p>
        </p:txBody>
      </p:sp>
      <p:sp>
        <p:nvSpPr>
          <p:cNvPr id="272" name="Google Shape;272;p39"/>
          <p:cNvSpPr txBox="1"/>
          <p:nvPr/>
        </p:nvSpPr>
        <p:spPr>
          <a:xfrm>
            <a:off x="4754880" y="3429122"/>
            <a:ext cx="4023360" cy="291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Published as WMS 1.3.0 and WCS 1.0.0: a scalable, interoperable path into the tools INCOIS already runs.</a:t>
            </a:r>
            <a:endParaRPr b="0" i="0" sz="1300" u="none" cap="none" strike="noStrike">
              <a:solidFill>
                <a:srgbClr val="000000"/>
              </a:solidFill>
              <a:latin typeface="Arial"/>
              <a:ea typeface="Arial"/>
              <a:cs typeface="Arial"/>
              <a:sym typeface="Arial"/>
            </a:endParaRPr>
          </a:p>
        </p:txBody>
      </p:sp>
      <p:sp>
        <p:nvSpPr>
          <p:cNvPr id="273" name="Google Shape;273;p39"/>
          <p:cNvSpPr txBox="1"/>
          <p:nvPr/>
        </p:nvSpPr>
        <p:spPr>
          <a:xfrm>
            <a:off x="155820" y="3880886"/>
            <a:ext cx="20574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50"/>
              <a:buFont typeface="Arial"/>
              <a:buNone/>
            </a:pPr>
            <a:r>
              <a:rPr b="1" i="0" lang="en-GB" sz="650" u="none" cap="none" strike="noStrike">
                <a:solidFill>
                  <a:schemeClr val="dk1"/>
                </a:solidFill>
                <a:latin typeface="Calibri"/>
                <a:ea typeface="Calibri"/>
                <a:cs typeface="Calibri"/>
                <a:sym typeface="Calibri"/>
              </a:rPr>
              <a:t>TECHNOLOGIES USED</a:t>
            </a:r>
            <a:endParaRPr b="1" i="0" sz="1200" u="none" cap="none" strike="noStrike">
              <a:solidFill>
                <a:schemeClr val="dk1"/>
              </a:solidFill>
              <a:latin typeface="Arial"/>
              <a:ea typeface="Arial"/>
              <a:cs typeface="Arial"/>
              <a:sym typeface="Arial"/>
            </a:endParaRPr>
          </a:p>
        </p:txBody>
      </p:sp>
      <p:sp>
        <p:nvSpPr>
          <p:cNvPr id="274" name="Google Shape;274;p39"/>
          <p:cNvSpPr/>
          <p:nvPr/>
        </p:nvSpPr>
        <p:spPr>
          <a:xfrm>
            <a:off x="1664631" y="4430931"/>
            <a:ext cx="513900" cy="1662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CesiumJS</a:t>
            </a:r>
            <a:endParaRPr b="0" i="0" sz="1100" u="none" cap="none" strike="noStrike">
              <a:solidFill>
                <a:srgbClr val="000000"/>
              </a:solidFill>
              <a:latin typeface="Arial"/>
              <a:ea typeface="Arial"/>
              <a:cs typeface="Arial"/>
              <a:sym typeface="Arial"/>
            </a:endParaRPr>
          </a:p>
        </p:txBody>
      </p:sp>
      <p:sp>
        <p:nvSpPr>
          <p:cNvPr id="275" name="Google Shape;275;p39"/>
          <p:cNvSpPr/>
          <p:nvPr/>
        </p:nvSpPr>
        <p:spPr>
          <a:xfrm>
            <a:off x="2255378" y="4436967"/>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ECharts</a:t>
            </a:r>
            <a:endParaRPr b="0" i="0" sz="1100" u="none" cap="none" strike="noStrike">
              <a:solidFill>
                <a:srgbClr val="000000"/>
              </a:solidFill>
              <a:latin typeface="Arial"/>
              <a:ea typeface="Arial"/>
              <a:cs typeface="Arial"/>
              <a:sym typeface="Arial"/>
            </a:endParaRPr>
          </a:p>
        </p:txBody>
      </p:sp>
      <p:sp>
        <p:nvSpPr>
          <p:cNvPr id="276" name="Google Shape;276;p39"/>
          <p:cNvSpPr/>
          <p:nvPr/>
        </p:nvSpPr>
        <p:spPr>
          <a:xfrm>
            <a:off x="2907915" y="4438664"/>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Python 3.11</a:t>
            </a:r>
            <a:endParaRPr b="0" i="0" sz="1100" u="none" cap="none" strike="noStrike">
              <a:solidFill>
                <a:srgbClr val="000000"/>
              </a:solidFill>
              <a:latin typeface="Arial"/>
              <a:ea typeface="Arial"/>
              <a:cs typeface="Arial"/>
              <a:sym typeface="Arial"/>
            </a:endParaRPr>
          </a:p>
        </p:txBody>
      </p:sp>
      <p:sp>
        <p:nvSpPr>
          <p:cNvPr id="277" name="Google Shape;277;p39"/>
          <p:cNvSpPr/>
          <p:nvPr/>
        </p:nvSpPr>
        <p:spPr>
          <a:xfrm>
            <a:off x="3623021" y="443868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FastAPI</a:t>
            </a:r>
            <a:endParaRPr b="0" i="0" sz="1100" u="none" cap="none" strike="noStrike">
              <a:solidFill>
                <a:srgbClr val="000000"/>
              </a:solidFill>
              <a:latin typeface="Arial"/>
              <a:ea typeface="Arial"/>
              <a:cs typeface="Arial"/>
              <a:sym typeface="Arial"/>
            </a:endParaRPr>
          </a:p>
        </p:txBody>
      </p:sp>
      <p:sp>
        <p:nvSpPr>
          <p:cNvPr id="278" name="Google Shape;278;p39"/>
          <p:cNvSpPr/>
          <p:nvPr/>
        </p:nvSpPr>
        <p:spPr>
          <a:xfrm>
            <a:off x="4410263" y="443868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xarray · Zarr</a:t>
            </a:r>
            <a:endParaRPr b="0" i="0" sz="1100" u="none" cap="none" strike="noStrike">
              <a:solidFill>
                <a:srgbClr val="000000"/>
              </a:solidFill>
              <a:latin typeface="Arial"/>
              <a:ea typeface="Arial"/>
              <a:cs typeface="Arial"/>
              <a:sym typeface="Arial"/>
            </a:endParaRPr>
          </a:p>
        </p:txBody>
      </p:sp>
      <p:sp>
        <p:nvSpPr>
          <p:cNvPr id="279" name="Google Shape;279;p39"/>
          <p:cNvSpPr/>
          <p:nvPr/>
        </p:nvSpPr>
        <p:spPr>
          <a:xfrm>
            <a:off x="5136085" y="4439060"/>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NumPy · SciPy</a:t>
            </a:r>
            <a:endParaRPr b="0" i="0" sz="1100" u="none" cap="none" strike="noStrike">
              <a:solidFill>
                <a:srgbClr val="000000"/>
              </a:solidFill>
              <a:latin typeface="Arial"/>
              <a:ea typeface="Arial"/>
              <a:cs typeface="Arial"/>
              <a:sym typeface="Arial"/>
            </a:endParaRPr>
          </a:p>
        </p:txBody>
      </p:sp>
      <p:sp>
        <p:nvSpPr>
          <p:cNvPr id="280" name="Google Shape;280;p39"/>
          <p:cNvSpPr/>
          <p:nvPr/>
        </p:nvSpPr>
        <p:spPr>
          <a:xfrm>
            <a:off x="8063261" y="3973774"/>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gsw (TEOS-10)</a:t>
            </a:r>
            <a:endParaRPr b="0" i="0" sz="1100" u="none" cap="none" strike="noStrike">
              <a:solidFill>
                <a:srgbClr val="000000"/>
              </a:solidFill>
              <a:latin typeface="Arial"/>
              <a:ea typeface="Arial"/>
              <a:cs typeface="Arial"/>
              <a:sym typeface="Arial"/>
            </a:endParaRPr>
          </a:p>
        </p:txBody>
      </p:sp>
      <p:sp>
        <p:nvSpPr>
          <p:cNvPr id="281" name="Google Shape;281;p39"/>
          <p:cNvSpPr/>
          <p:nvPr/>
        </p:nvSpPr>
        <p:spPr>
          <a:xfrm>
            <a:off x="7218741" y="4416406"/>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scikit-image</a:t>
            </a:r>
            <a:endParaRPr b="0" i="0" sz="1100" u="none" cap="none" strike="noStrike">
              <a:solidFill>
                <a:srgbClr val="000000"/>
              </a:solidFill>
              <a:latin typeface="Arial"/>
              <a:ea typeface="Arial"/>
              <a:cs typeface="Arial"/>
              <a:sym typeface="Arial"/>
            </a:endParaRPr>
          </a:p>
        </p:txBody>
      </p:sp>
      <p:sp>
        <p:nvSpPr>
          <p:cNvPr id="282" name="Google Shape;282;p39"/>
          <p:cNvSpPr/>
          <p:nvPr/>
        </p:nvSpPr>
        <p:spPr>
          <a:xfrm>
            <a:off x="8063246" y="447104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Parquet</a:t>
            </a:r>
            <a:endParaRPr b="0" i="0" sz="1100" u="none" cap="none" strike="noStrike">
              <a:solidFill>
                <a:srgbClr val="000000"/>
              </a:solidFill>
              <a:latin typeface="Arial"/>
              <a:ea typeface="Arial"/>
              <a:cs typeface="Arial"/>
              <a:sym typeface="Arial"/>
            </a:endParaRPr>
          </a:p>
        </p:txBody>
      </p:sp>
      <p:sp>
        <p:nvSpPr>
          <p:cNvPr id="283" name="Google Shape;283;p39"/>
          <p:cNvSpPr/>
          <p:nvPr/>
        </p:nvSpPr>
        <p:spPr>
          <a:xfrm>
            <a:off x="5788543" y="4434468"/>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Docker</a:t>
            </a:r>
            <a:endParaRPr b="0" i="0" sz="1100" u="none" cap="none" strike="noStrike">
              <a:solidFill>
                <a:srgbClr val="000000"/>
              </a:solidFill>
              <a:latin typeface="Arial"/>
              <a:ea typeface="Arial"/>
              <a:cs typeface="Arial"/>
              <a:sym typeface="Arial"/>
            </a:endParaRPr>
          </a:p>
        </p:txBody>
      </p:sp>
      <p:sp>
        <p:nvSpPr>
          <p:cNvPr id="284" name="Google Shape;284;p39"/>
          <p:cNvSpPr/>
          <p:nvPr/>
        </p:nvSpPr>
        <p:spPr>
          <a:xfrm>
            <a:off x="8063244" y="421889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Playwright</a:t>
            </a:r>
            <a:endParaRPr b="0" i="0" sz="1100" u="none" cap="none" strike="noStrike">
              <a:solidFill>
                <a:srgbClr val="000000"/>
              </a:solidFill>
              <a:latin typeface="Arial"/>
              <a:ea typeface="Arial"/>
              <a:cs typeface="Arial"/>
              <a:sym typeface="Arial"/>
            </a:endParaRPr>
          </a:p>
        </p:txBody>
      </p:sp>
      <p:sp>
        <p:nvSpPr>
          <p:cNvPr id="285" name="Google Shape;285;p39"/>
          <p:cNvSpPr/>
          <p:nvPr/>
        </p:nvSpPr>
        <p:spPr>
          <a:xfrm>
            <a:off x="6503649" y="441724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pytest</a:t>
            </a:r>
            <a:endParaRPr b="0" i="0" sz="1100" u="none" cap="none" strike="noStrike">
              <a:solidFill>
                <a:srgbClr val="000000"/>
              </a:solidFill>
              <a:latin typeface="Arial"/>
              <a:ea typeface="Arial"/>
              <a:cs typeface="Arial"/>
              <a:sym typeface="Arial"/>
            </a:endParaRPr>
          </a:p>
        </p:txBody>
      </p:sp>
      <p:sp>
        <p:nvSpPr>
          <p:cNvPr id="286" name="Google Shape;286;p39"/>
          <p:cNvSpPr txBox="1"/>
          <p:nvPr/>
        </p:nvSpPr>
        <p:spPr>
          <a:xfrm>
            <a:off x="219450" y="4685997"/>
            <a:ext cx="8593200" cy="1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50"/>
              <a:buFont typeface="Arial"/>
              <a:buNone/>
            </a:pPr>
            <a:r>
              <a:rPr b="1" i="0" lang="en-GB" sz="650" u="none" cap="none" strike="noStrike">
                <a:solidFill>
                  <a:schemeClr val="dk1"/>
                </a:solidFill>
                <a:latin typeface="Calibri"/>
                <a:ea typeface="Calibri"/>
                <a:cs typeface="Calibri"/>
                <a:sym typeface="Calibri"/>
              </a:rPr>
              <a:t>Standards:   CF Conventions   ·   OGC WMS 1.3.0   ·   OGC WCS 1.0.0   ·   OASIS CAP v1.2   ·   TEOS-10   ·   Argo QC (Wong 2020)   ·   Class 4 (Ryan 2015)</a:t>
            </a:r>
            <a:endParaRPr b="1" i="0" sz="1100" u="none" cap="none" strike="noStrike">
              <a:solidFill>
                <a:schemeClr val="dk1"/>
              </a:solidFill>
              <a:latin typeface="Arial"/>
              <a:ea typeface="Arial"/>
              <a:cs typeface="Arial"/>
              <a:sym typeface="Arial"/>
            </a:endParaRPr>
          </a:p>
        </p:txBody>
      </p:sp>
      <p:sp>
        <p:nvSpPr>
          <p:cNvPr descr="Your startup LOGO" id="287" name="Google Shape;287;p39"/>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rgbClr val="000000"/>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pic>
        <p:nvPicPr>
          <p:cNvPr id="288" name="Google Shape;288;p39"/>
          <p:cNvPicPr preferRelativeResize="0"/>
          <p:nvPr/>
        </p:nvPicPr>
        <p:blipFill rotWithShape="1">
          <a:blip r:embed="rId4">
            <a:alphaModFix/>
          </a:blip>
          <a:srcRect b="0" l="0" r="0" t="0"/>
          <a:stretch/>
        </p:blipFill>
        <p:spPr>
          <a:xfrm>
            <a:off x="345992" y="4013667"/>
            <a:ext cx="386700" cy="386700"/>
          </a:xfrm>
          <a:prstGeom prst="rect">
            <a:avLst/>
          </a:prstGeom>
          <a:noFill/>
          <a:ln>
            <a:noFill/>
          </a:ln>
        </p:spPr>
      </p:pic>
      <p:pic>
        <p:nvPicPr>
          <p:cNvPr id="289" name="Google Shape;289;p39"/>
          <p:cNvPicPr preferRelativeResize="0"/>
          <p:nvPr/>
        </p:nvPicPr>
        <p:blipFill rotWithShape="1">
          <a:blip r:embed="rId5">
            <a:alphaModFix/>
          </a:blip>
          <a:srcRect b="0" l="0" r="0" t="0"/>
          <a:stretch/>
        </p:blipFill>
        <p:spPr>
          <a:xfrm>
            <a:off x="1058328" y="4052640"/>
            <a:ext cx="332401" cy="332401"/>
          </a:xfrm>
          <a:prstGeom prst="rect">
            <a:avLst/>
          </a:prstGeom>
          <a:noFill/>
          <a:ln>
            <a:noFill/>
          </a:ln>
        </p:spPr>
      </p:pic>
      <p:pic>
        <p:nvPicPr>
          <p:cNvPr id="290" name="Google Shape;290;p39"/>
          <p:cNvPicPr preferRelativeResize="0"/>
          <p:nvPr/>
        </p:nvPicPr>
        <p:blipFill rotWithShape="1">
          <a:blip r:embed="rId6">
            <a:alphaModFix/>
          </a:blip>
          <a:srcRect b="0" l="0" r="0" t="0"/>
          <a:stretch/>
        </p:blipFill>
        <p:spPr>
          <a:xfrm>
            <a:off x="1722354" y="4037457"/>
            <a:ext cx="431950" cy="362793"/>
          </a:xfrm>
          <a:prstGeom prst="rect">
            <a:avLst/>
          </a:prstGeom>
          <a:noFill/>
          <a:ln>
            <a:noFill/>
          </a:ln>
        </p:spPr>
      </p:pic>
      <p:pic>
        <p:nvPicPr>
          <p:cNvPr id="291" name="Google Shape;291;p39"/>
          <p:cNvPicPr preferRelativeResize="0"/>
          <p:nvPr/>
        </p:nvPicPr>
        <p:blipFill rotWithShape="1">
          <a:blip r:embed="rId7">
            <a:alphaModFix/>
          </a:blip>
          <a:srcRect b="0" l="0" r="0" t="0"/>
          <a:stretch/>
        </p:blipFill>
        <p:spPr>
          <a:xfrm>
            <a:off x="2389722" y="4085043"/>
            <a:ext cx="307011" cy="267600"/>
          </a:xfrm>
          <a:prstGeom prst="rect">
            <a:avLst/>
          </a:prstGeom>
          <a:noFill/>
          <a:ln>
            <a:noFill/>
          </a:ln>
        </p:spPr>
      </p:pic>
      <p:pic>
        <p:nvPicPr>
          <p:cNvPr id="292" name="Google Shape;292;p39"/>
          <p:cNvPicPr preferRelativeResize="0"/>
          <p:nvPr/>
        </p:nvPicPr>
        <p:blipFill rotWithShape="1">
          <a:blip r:embed="rId8">
            <a:alphaModFix/>
          </a:blip>
          <a:srcRect b="0" l="0" r="0" t="0"/>
          <a:stretch/>
        </p:blipFill>
        <p:spPr>
          <a:xfrm>
            <a:off x="2560870" y="3532309"/>
            <a:ext cx="1294638" cy="1294638"/>
          </a:xfrm>
          <a:prstGeom prst="rect">
            <a:avLst/>
          </a:prstGeom>
          <a:noFill/>
          <a:ln>
            <a:noFill/>
          </a:ln>
        </p:spPr>
      </p:pic>
      <p:pic>
        <p:nvPicPr>
          <p:cNvPr id="293" name="Google Shape;293;p39"/>
          <p:cNvPicPr preferRelativeResize="0"/>
          <p:nvPr/>
        </p:nvPicPr>
        <p:blipFill rotWithShape="1">
          <a:blip r:embed="rId9">
            <a:alphaModFix/>
          </a:blip>
          <a:srcRect b="0" l="0" r="0" t="0"/>
          <a:stretch/>
        </p:blipFill>
        <p:spPr>
          <a:xfrm>
            <a:off x="3717514" y="3990937"/>
            <a:ext cx="386705" cy="383999"/>
          </a:xfrm>
          <a:prstGeom prst="rect">
            <a:avLst/>
          </a:prstGeom>
          <a:noFill/>
          <a:ln>
            <a:noFill/>
          </a:ln>
        </p:spPr>
      </p:pic>
      <p:pic>
        <p:nvPicPr>
          <p:cNvPr id="294" name="Google Shape;294;p39"/>
          <p:cNvPicPr preferRelativeResize="0"/>
          <p:nvPr/>
        </p:nvPicPr>
        <p:blipFill rotWithShape="1">
          <a:blip r:embed="rId10">
            <a:alphaModFix/>
          </a:blip>
          <a:srcRect b="17601" l="0" r="0" t="0"/>
          <a:stretch/>
        </p:blipFill>
        <p:spPr>
          <a:xfrm>
            <a:off x="4353762" y="4119700"/>
            <a:ext cx="691812" cy="219600"/>
          </a:xfrm>
          <a:prstGeom prst="rect">
            <a:avLst/>
          </a:prstGeom>
          <a:noFill/>
          <a:ln>
            <a:noFill/>
          </a:ln>
        </p:spPr>
      </p:pic>
      <p:pic>
        <p:nvPicPr>
          <p:cNvPr id="295" name="Google Shape;295;p39"/>
          <p:cNvPicPr preferRelativeResize="0"/>
          <p:nvPr/>
        </p:nvPicPr>
        <p:blipFill rotWithShape="1">
          <a:blip r:embed="rId11">
            <a:alphaModFix/>
          </a:blip>
          <a:srcRect b="0" l="0" r="0" t="0"/>
          <a:stretch/>
        </p:blipFill>
        <p:spPr>
          <a:xfrm>
            <a:off x="5214813" y="3996277"/>
            <a:ext cx="431950" cy="431950"/>
          </a:xfrm>
          <a:prstGeom prst="rect">
            <a:avLst/>
          </a:prstGeom>
          <a:noFill/>
          <a:ln>
            <a:noFill/>
          </a:ln>
        </p:spPr>
      </p:pic>
      <p:sp>
        <p:nvSpPr>
          <p:cNvPr id="296" name="Google Shape;296;p39"/>
          <p:cNvSpPr/>
          <p:nvPr/>
        </p:nvSpPr>
        <p:spPr>
          <a:xfrm>
            <a:off x="936457" y="441639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Typescript</a:t>
            </a:r>
            <a:endParaRPr b="0" i="0" sz="1100" u="none" cap="none" strike="noStrike">
              <a:solidFill>
                <a:srgbClr val="000000"/>
              </a:solidFill>
              <a:latin typeface="Arial"/>
              <a:ea typeface="Arial"/>
              <a:cs typeface="Arial"/>
              <a:sym typeface="Arial"/>
            </a:endParaRPr>
          </a:p>
        </p:txBody>
      </p:sp>
      <p:sp>
        <p:nvSpPr>
          <p:cNvPr id="297" name="Google Shape;297;p39"/>
          <p:cNvSpPr/>
          <p:nvPr/>
        </p:nvSpPr>
        <p:spPr>
          <a:xfrm>
            <a:off x="246907" y="4396833"/>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Nextjs</a:t>
            </a:r>
            <a:endParaRPr b="0" i="0" sz="1100" u="none" cap="none" strike="noStrike">
              <a:solidFill>
                <a:srgbClr val="000000"/>
              </a:solidFill>
              <a:latin typeface="Arial"/>
              <a:ea typeface="Arial"/>
              <a:cs typeface="Arial"/>
              <a:sym typeface="Arial"/>
            </a:endParaRPr>
          </a:p>
        </p:txBody>
      </p:sp>
      <p:sp>
        <p:nvSpPr>
          <p:cNvPr id="298" name="Google Shape;298;p39"/>
          <p:cNvSpPr/>
          <p:nvPr/>
        </p:nvSpPr>
        <p:spPr>
          <a:xfrm>
            <a:off x="173736" y="1170432"/>
            <a:ext cx="1298448" cy="1207008"/>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39"/>
          <p:cNvSpPr/>
          <p:nvPr/>
        </p:nvSpPr>
        <p:spPr>
          <a:xfrm>
            <a:off x="173736" y="1170432"/>
            <a:ext cx="1298448" cy="32004"/>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39"/>
          <p:cNvSpPr txBox="1"/>
          <p:nvPr/>
        </p:nvSpPr>
        <p:spPr>
          <a:xfrm>
            <a:off x="219456" y="1399132"/>
            <a:ext cx="1206900" cy="7167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00" u="none" cap="none" strike="noStrike">
                <a:solidFill>
                  <a:srgbClr val="1F4E79"/>
                </a:solidFill>
                <a:latin typeface="Arial"/>
                <a:ea typeface="Arial"/>
                <a:cs typeface="Arial"/>
                <a:sym typeface="Arial"/>
              </a:rPr>
              <a:t>1  SOURCES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INCOIS ERDDAP  ·  LAS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Argo GDAC  ·  Argo BGC</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glider  ·  CTD  ·  RAMA</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Copernicus GLORYS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NDMA SACHET  (CAP)</a:t>
            </a:r>
            <a:endParaRPr/>
          </a:p>
        </p:txBody>
      </p:sp>
      <p:sp>
        <p:nvSpPr>
          <p:cNvPr id="301" name="Google Shape;301;p39"/>
          <p:cNvSpPr/>
          <p:nvPr/>
        </p:nvSpPr>
        <p:spPr>
          <a:xfrm>
            <a:off x="1618487" y="1170432"/>
            <a:ext cx="1298448" cy="1207008"/>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9"/>
          <p:cNvSpPr/>
          <p:nvPr/>
        </p:nvSpPr>
        <p:spPr>
          <a:xfrm>
            <a:off x="1618487" y="1170432"/>
            <a:ext cx="1298448" cy="32004"/>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39"/>
          <p:cNvSpPr txBox="1"/>
          <p:nvPr/>
        </p:nvSpPr>
        <p:spPr>
          <a:xfrm>
            <a:off x="1664232" y="1426944"/>
            <a:ext cx="1206900" cy="8298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00" u="none" cap="none" strike="noStrike">
                <a:solidFill>
                  <a:srgbClr val="1F4E79"/>
                </a:solidFill>
                <a:latin typeface="Arial"/>
                <a:ea typeface="Arial"/>
                <a:cs typeface="Arial"/>
                <a:sym typeface="Arial"/>
              </a:rPr>
              <a:t>2  INGEST</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CF normalisation</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QC flags 1 and 2</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plugins: HF-radar, ADCP ready</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rechunk to Zarr</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10.5 M values</a:t>
            </a:r>
            <a:endParaRPr/>
          </a:p>
        </p:txBody>
      </p:sp>
      <p:cxnSp>
        <p:nvCxnSpPr>
          <p:cNvPr id="304" name="Google Shape;304;p39"/>
          <p:cNvCxnSpPr/>
          <p:nvPr/>
        </p:nvCxnSpPr>
        <p:spPr>
          <a:xfrm>
            <a:off x="1485899" y="1773936"/>
            <a:ext cx="118800" cy="600"/>
          </a:xfrm>
          <a:prstGeom prst="bentConnector3">
            <a:avLst>
              <a:gd fmla="val 50000" name="adj1"/>
            </a:avLst>
          </a:prstGeom>
          <a:noFill/>
          <a:ln cap="flat" cmpd="sng" w="22225">
            <a:solidFill>
              <a:srgbClr val="C03A2B"/>
            </a:solidFill>
            <a:prstDash val="solid"/>
            <a:round/>
            <a:headEnd len="sm" w="sm" type="none"/>
            <a:tailEnd len="med" w="med" type="triangle"/>
          </a:ln>
          <a:effectLst>
            <a:outerShdw blurRad="40000" rotWithShape="0" dir="5400000" dist="20000">
              <a:srgbClr val="000000">
                <a:alpha val="38039"/>
              </a:srgbClr>
            </a:outerShdw>
          </a:effectLst>
        </p:spPr>
      </p:cxnSp>
      <p:sp>
        <p:nvSpPr>
          <p:cNvPr id="305" name="Google Shape;305;p39"/>
          <p:cNvSpPr/>
          <p:nvPr/>
        </p:nvSpPr>
        <p:spPr>
          <a:xfrm>
            <a:off x="3063239" y="1170432"/>
            <a:ext cx="1298448" cy="1207008"/>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39"/>
          <p:cNvSpPr/>
          <p:nvPr/>
        </p:nvSpPr>
        <p:spPr>
          <a:xfrm>
            <a:off x="3063239" y="1170432"/>
            <a:ext cx="1298448" cy="32004"/>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39"/>
          <p:cNvSpPr txBox="1"/>
          <p:nvPr/>
        </p:nvSpPr>
        <p:spPr>
          <a:xfrm>
            <a:off x="3108921" y="1399121"/>
            <a:ext cx="1206900" cy="8298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00" u="none" cap="none" strike="noStrike">
                <a:solidFill>
                  <a:srgbClr val="11777A"/>
                </a:solidFill>
                <a:latin typeface="Arial"/>
                <a:ea typeface="Arial"/>
                <a:cs typeface="Arial"/>
                <a:sym typeface="Arial"/>
              </a:rPr>
              <a:t>3  DATA PLANE</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FastAPI  ·  13 routes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/field  /profiles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/isosurface  /currents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/scorecard  /warnings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OGC WMS · WCS · interoperable</a:t>
            </a:r>
            <a:endParaRPr/>
          </a:p>
        </p:txBody>
      </p:sp>
      <p:sp>
        <p:nvSpPr>
          <p:cNvPr id="308" name="Google Shape;308;p39"/>
          <p:cNvSpPr/>
          <p:nvPr/>
        </p:nvSpPr>
        <p:spPr>
          <a:xfrm>
            <a:off x="4507992" y="1170432"/>
            <a:ext cx="1298448" cy="1207008"/>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9"/>
          <p:cNvSpPr/>
          <p:nvPr/>
        </p:nvSpPr>
        <p:spPr>
          <a:xfrm>
            <a:off x="4507992" y="1170432"/>
            <a:ext cx="1298448" cy="32004"/>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10" name="Google Shape;310;p39"/>
          <p:cNvCxnSpPr/>
          <p:nvPr/>
        </p:nvCxnSpPr>
        <p:spPr>
          <a:xfrm>
            <a:off x="2930651" y="1773936"/>
            <a:ext cx="118800" cy="600"/>
          </a:xfrm>
          <a:prstGeom prst="bentConnector3">
            <a:avLst>
              <a:gd fmla="val 50000" name="adj1"/>
            </a:avLst>
          </a:prstGeom>
          <a:noFill/>
          <a:ln cap="flat" cmpd="sng" w="22225">
            <a:solidFill>
              <a:srgbClr val="C03A2B"/>
            </a:solidFill>
            <a:prstDash val="solid"/>
            <a:round/>
            <a:headEnd len="sm" w="sm" type="none"/>
            <a:tailEnd len="med" w="med" type="triangle"/>
          </a:ln>
          <a:effectLst>
            <a:outerShdw blurRad="40000" rotWithShape="0" dir="5400000" dist="20000">
              <a:srgbClr val="000000">
                <a:alpha val="38039"/>
              </a:srgbClr>
            </a:outerShdw>
          </a:effectLst>
        </p:spPr>
      </p:cxnSp>
      <p:sp>
        <p:nvSpPr>
          <p:cNvPr id="311" name="Google Shape;311;p39"/>
          <p:cNvSpPr txBox="1"/>
          <p:nvPr/>
        </p:nvSpPr>
        <p:spPr>
          <a:xfrm>
            <a:off x="4581112" y="1390096"/>
            <a:ext cx="1206900" cy="8298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00" u="none" cap="none" strike="noStrike">
                <a:solidFill>
                  <a:srgbClr val="11777A"/>
                </a:solidFill>
                <a:latin typeface="Arial"/>
                <a:ea typeface="Arial"/>
                <a:cs typeface="Arial"/>
                <a:sym typeface="Arial"/>
              </a:rPr>
              <a:t>4  BROWSER</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CesiumJS  ·  WebGL2</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depth slices, 24 levels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isosurface · current vectors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colorbar  ·  variable</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time-step animation</a:t>
            </a:r>
            <a:endParaRPr/>
          </a:p>
        </p:txBody>
      </p:sp>
      <p:cxnSp>
        <p:nvCxnSpPr>
          <p:cNvPr id="312" name="Google Shape;312;p39"/>
          <p:cNvCxnSpPr/>
          <p:nvPr/>
        </p:nvCxnSpPr>
        <p:spPr>
          <a:xfrm>
            <a:off x="4375403" y="1773936"/>
            <a:ext cx="118800" cy="600"/>
          </a:xfrm>
          <a:prstGeom prst="bentConnector3">
            <a:avLst>
              <a:gd fmla="val 50000" name="adj1"/>
            </a:avLst>
          </a:prstGeom>
          <a:noFill/>
          <a:ln cap="flat" cmpd="sng" w="22225">
            <a:solidFill>
              <a:srgbClr val="C03A2B"/>
            </a:solidFill>
            <a:prstDash val="solid"/>
            <a:round/>
            <a:headEnd len="sm" w="sm" type="none"/>
            <a:tailEnd len="med" w="med" type="triangle"/>
          </a:ln>
          <a:effectLst>
            <a:outerShdw blurRad="40000" rotWithShape="0" dir="5400000" dist="20000">
              <a:srgbClr val="000000">
                <a:alpha val="38039"/>
              </a:srgbClr>
            </a:outerShdw>
          </a:effectLst>
        </p:spPr>
      </p:cxnSp>
      <p:sp>
        <p:nvSpPr>
          <p:cNvPr id="313" name="Google Shape;313;p39"/>
          <p:cNvSpPr/>
          <p:nvPr/>
        </p:nvSpPr>
        <p:spPr>
          <a:xfrm>
            <a:off x="1618487" y="2594282"/>
            <a:ext cx="2743200" cy="475500"/>
          </a:xfrm>
          <a:prstGeom prst="roundRect">
            <a:avLst>
              <a:gd fmla="val 10000" name="adj"/>
            </a:avLst>
          </a:prstGeom>
          <a:solidFill>
            <a:srgbClr val="FFFFFF"/>
          </a:solidFill>
          <a:ln cap="flat" cmpd="sng" w="15875">
            <a:solidFill>
              <a:srgbClr val="11777A"/>
            </a:solidFill>
            <a:prstDash val="dash"/>
            <a:round/>
            <a:headEnd len="sm" w="sm" type="none"/>
            <a:tailEnd len="sm" w="sm" type="none"/>
          </a:ln>
        </p:spPr>
        <p:txBody>
          <a:bodyPr anchorCtr="0" anchor="ctr" bIns="45700" lIns="54850" spcFirstLastPara="1" rIns="54850" wrap="square" tIns="45700">
            <a:noAutofit/>
          </a:bodyPr>
          <a:lstStyle/>
          <a:p>
            <a:pPr indent="0" lvl="0" marL="0" marR="0" rtl="0" algn="ctr">
              <a:lnSpc>
                <a:spcPct val="92000"/>
              </a:lnSpc>
              <a:spcBef>
                <a:spcPts val="0"/>
              </a:spcBef>
              <a:spcAft>
                <a:spcPts val="0"/>
              </a:spcAft>
              <a:buNone/>
            </a:pPr>
            <a:r>
              <a:rPr b="1" i="0" lang="en-GB" sz="800" u="none" cap="none" strike="noStrike">
                <a:solidFill>
                  <a:srgbClr val="11777A"/>
                </a:solidFill>
                <a:latin typeface="Arial"/>
                <a:ea typeface="Arial"/>
                <a:cs typeface="Arial"/>
                <a:sym typeface="Arial"/>
              </a:rPr>
              <a:t>SAMUDRA SAHAYAK  ·  detachable service</a:t>
            </a:r>
            <a:endParaRPr/>
          </a:p>
          <a:p>
            <a:pPr indent="0" lvl="0" marL="0" marR="0" rtl="0" algn="ctr">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calls the same public API. Cut this line and every P0 still passes.</a:t>
            </a:r>
            <a:endParaRPr/>
          </a:p>
        </p:txBody>
      </p:sp>
      <p:cxnSp>
        <p:nvCxnSpPr>
          <p:cNvPr id="314" name="Google Shape;314;p39"/>
          <p:cNvCxnSpPr/>
          <p:nvPr/>
        </p:nvCxnSpPr>
        <p:spPr>
          <a:xfrm rot="-5400000">
            <a:off x="2871587" y="2456894"/>
            <a:ext cx="237600" cy="600"/>
          </a:xfrm>
          <a:prstGeom prst="bentConnector3">
            <a:avLst>
              <a:gd fmla="val 50000" name="adj1"/>
            </a:avLst>
          </a:prstGeom>
          <a:noFill/>
          <a:ln cap="flat" cmpd="sng" w="15875">
            <a:solidFill>
              <a:srgbClr val="11777A"/>
            </a:solidFill>
            <a:prstDash val="dash"/>
            <a:round/>
            <a:headEnd len="sm" w="sm" type="none"/>
            <a:tailEnd len="med" w="med" type="triangle"/>
          </a:ln>
          <a:effectLst>
            <a:outerShdw blurRad="40000" rotWithShape="0" dir="5400000" dist="20000">
              <a:srgbClr val="000000">
                <a:alpha val="38039"/>
              </a:srgbClr>
            </a:outerShdw>
          </a:effectLst>
        </p:spPr>
      </p:cxnSp>
      <p:sp>
        <p:nvSpPr>
          <p:cNvPr id="315" name="Google Shape;315;p39"/>
          <p:cNvSpPr/>
          <p:nvPr/>
        </p:nvSpPr>
        <p:spPr>
          <a:xfrm>
            <a:off x="5875020" y="1147572"/>
            <a:ext cx="3118200" cy="1872900"/>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sosurface.png" id="316" name="Google Shape;316;p39"/>
          <p:cNvPicPr preferRelativeResize="0"/>
          <p:nvPr/>
        </p:nvPicPr>
        <p:blipFill rotWithShape="1">
          <a:blip r:embed="rId12">
            <a:alphaModFix/>
          </a:blip>
          <a:srcRect b="0" l="0" r="0" t="0"/>
          <a:stretch/>
        </p:blipFill>
        <p:spPr>
          <a:xfrm>
            <a:off x="5897880" y="1170432"/>
            <a:ext cx="3072385" cy="1827165"/>
          </a:xfrm>
          <a:prstGeom prst="rect">
            <a:avLst/>
          </a:prstGeom>
          <a:noFill/>
          <a:ln>
            <a:noFill/>
          </a:ln>
        </p:spPr>
      </p:pic>
      <p:pic>
        <p:nvPicPr>
          <p:cNvPr id="317" name="Google Shape;317;p39"/>
          <p:cNvPicPr preferRelativeResize="0"/>
          <p:nvPr/>
        </p:nvPicPr>
        <p:blipFill>
          <a:blip r:embed="rId13">
            <a:alphaModFix/>
          </a:blip>
          <a:stretch>
            <a:fillRect/>
          </a:stretch>
        </p:blipFill>
        <p:spPr>
          <a:xfrm>
            <a:off x="5882449" y="3988762"/>
            <a:ext cx="457800" cy="457800"/>
          </a:xfrm>
          <a:prstGeom prst="rect">
            <a:avLst/>
          </a:prstGeom>
          <a:noFill/>
          <a:ln>
            <a:noFill/>
          </a:ln>
        </p:spPr>
      </p:pic>
      <p:pic>
        <p:nvPicPr>
          <p:cNvPr id="318" name="Google Shape;318;p39"/>
          <p:cNvPicPr preferRelativeResize="0"/>
          <p:nvPr/>
        </p:nvPicPr>
        <p:blipFill>
          <a:blip r:embed="rId14">
            <a:alphaModFix/>
          </a:blip>
          <a:stretch>
            <a:fillRect/>
          </a:stretch>
        </p:blipFill>
        <p:spPr>
          <a:xfrm>
            <a:off x="6543332" y="4024952"/>
            <a:ext cx="457800" cy="381489"/>
          </a:xfrm>
          <a:prstGeom prst="rect">
            <a:avLst/>
          </a:prstGeom>
          <a:noFill/>
          <a:ln>
            <a:noFill/>
          </a:ln>
        </p:spPr>
      </p:pic>
      <p:pic>
        <p:nvPicPr>
          <p:cNvPr id="319" name="Google Shape;319;p39"/>
          <p:cNvPicPr preferRelativeResize="0"/>
          <p:nvPr/>
        </p:nvPicPr>
        <p:blipFill>
          <a:blip r:embed="rId15">
            <a:alphaModFix/>
          </a:blip>
          <a:stretch>
            <a:fillRect/>
          </a:stretch>
        </p:blipFill>
        <p:spPr>
          <a:xfrm>
            <a:off x="7073675" y="3901132"/>
            <a:ext cx="798225" cy="5603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0"/>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feasibility scalable architecture browser-native no client-side dependencies deployable on INCOIS infrastructure offline air-gapped commodity GPU server zero licence cost open source colorbar editor variable selector layer opacity vertical exaggeration slider customizable colorbar</a:t>
            </a:r>
            <a:endParaRPr/>
          </a:p>
        </p:txBody>
      </p:sp>
      <p:sp>
        <p:nvSpPr>
          <p:cNvPr id="326" name="Google Shape;326;p40"/>
          <p:cNvSpPr/>
          <p:nvPr/>
        </p:nvSpPr>
        <p:spPr>
          <a:xfrm>
            <a:off x="0" y="4869574"/>
            <a:ext cx="9144000" cy="2739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327" name="Google Shape;327;p40"/>
          <p:cNvSpPr txBox="1"/>
          <p:nvPr>
            <p:ph type="title"/>
          </p:nvPr>
        </p:nvSpPr>
        <p:spPr>
          <a:xfrm>
            <a:off x="1265967" y="94435"/>
            <a:ext cx="7338000" cy="630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FEASIBILITY AND VIABILITY</a:t>
            </a:r>
            <a:endParaRPr sz="1100"/>
          </a:p>
        </p:txBody>
      </p:sp>
      <p:sp>
        <p:nvSpPr>
          <p:cNvPr id="328" name="Google Shape;328;p40"/>
          <p:cNvSpPr txBox="1"/>
          <p:nvPr>
            <p:ph idx="12" type="sldNum"/>
          </p:nvPr>
        </p:nvSpPr>
        <p:spPr>
          <a:xfrm>
            <a:off x="6553200" y="4867528"/>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329" name="Google Shape;329;p40"/>
          <p:cNvSpPr txBox="1"/>
          <p:nvPr>
            <p:ph idx="11" type="ftr"/>
          </p:nvPr>
        </p:nvSpPr>
        <p:spPr>
          <a:xfrm>
            <a:off x="3448950" y="4893232"/>
            <a:ext cx="2654100" cy="2196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700">
                <a:solidFill>
                  <a:srgbClr val="FFFFFF"/>
                </a:solidFill>
                <a:latin typeface="Calibri"/>
                <a:ea typeface="Calibri"/>
                <a:cs typeface="Calibri"/>
                <a:sym typeface="Calibri"/>
              </a:rPr>
              <a:t>SagarDrishti  ·  PS SIH26067  ·  @SIH Idea Submission</a:t>
            </a:r>
            <a:endParaRPr b="0" i="0" sz="1000" u="none" cap="none" strike="noStrike">
              <a:solidFill>
                <a:srgbClr val="FFFFFF"/>
              </a:solidFill>
              <a:latin typeface="Oswald"/>
              <a:ea typeface="Oswald"/>
              <a:cs typeface="Oswald"/>
              <a:sym typeface="Oswald"/>
            </a:endParaRPr>
          </a:p>
        </p:txBody>
      </p:sp>
      <p:pic>
        <p:nvPicPr>
          <p:cNvPr id="330" name="Google Shape;330;p40"/>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331" name="Google Shape;331;p40"/>
          <p:cNvSpPr/>
          <p:nvPr/>
        </p:nvSpPr>
        <p:spPr>
          <a:xfrm>
            <a:off x="178308" y="840366"/>
            <a:ext cx="8785200" cy="79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2" name="Google Shape;332;p40"/>
          <p:cNvSpPr txBox="1"/>
          <p:nvPr/>
        </p:nvSpPr>
        <p:spPr>
          <a:xfrm>
            <a:off x="274325" y="867624"/>
            <a:ext cx="76566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Calibri"/>
                <a:ea typeface="Calibri"/>
                <a:cs typeface="Calibri"/>
                <a:sym typeface="Calibri"/>
              </a:rPr>
              <a:t>FEASIBILITY IS NOT A FORECAST HERE. THE SYSTEM ALREADY RUNS. EVERY FIGURE BELOW WAS MEASURED, NOT ESTIMATED</a:t>
            </a:r>
            <a:endParaRPr b="0" i="0" sz="1400" u="none" cap="none" strike="noStrike">
              <a:solidFill>
                <a:srgbClr val="000000"/>
              </a:solidFill>
              <a:latin typeface="Arial"/>
              <a:ea typeface="Arial"/>
              <a:cs typeface="Arial"/>
              <a:sym typeface="Arial"/>
            </a:endParaRPr>
          </a:p>
        </p:txBody>
      </p:sp>
      <p:sp>
        <p:nvSpPr>
          <p:cNvPr id="333" name="Google Shape;333;p40"/>
          <p:cNvSpPr txBox="1"/>
          <p:nvPr/>
        </p:nvSpPr>
        <p:spPr>
          <a:xfrm>
            <a:off x="274320"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567</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automated tests, 11 in a browser</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34" name="Google Shape;334;p40"/>
          <p:cNvSpPr txBox="1"/>
          <p:nvPr/>
        </p:nvSpPr>
        <p:spPr>
          <a:xfrm>
            <a:off x="1717929"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51 fps</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at 1080p on integrated graphics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35" name="Google Shape;335;p40"/>
          <p:cNvSpPr txBox="1"/>
          <p:nvPr/>
        </p:nvSpPr>
        <p:spPr>
          <a:xfrm>
            <a:off x="3161538"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0</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requests leave the machine</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36" name="Google Shape;336;p40"/>
          <p:cNvSpPr txBox="1"/>
          <p:nvPr/>
        </p:nvSpPr>
        <p:spPr>
          <a:xfrm>
            <a:off x="4605147"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10.5 M</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gridded values, two agencies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37" name="Google Shape;337;p40"/>
          <p:cNvSpPr txBox="1"/>
          <p:nvPr/>
        </p:nvSpPr>
        <p:spPr>
          <a:xfrm>
            <a:off x="6048756"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30,012</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QC-passed levels, 19 instruments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38" name="Google Shape;338;p40"/>
          <p:cNvSpPr txBox="1"/>
          <p:nvPr/>
        </p:nvSpPr>
        <p:spPr>
          <a:xfrm>
            <a:off x="7492365"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13</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ocean parameters, 2 by plugins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39" name="Google Shape;339;p40"/>
          <p:cNvSpPr/>
          <p:nvPr/>
        </p:nvSpPr>
        <p:spPr>
          <a:xfrm>
            <a:off x="178300" y="1741925"/>
            <a:ext cx="2818500" cy="220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0" name="Google Shape;340;p40"/>
          <p:cNvSpPr/>
          <p:nvPr/>
        </p:nvSpPr>
        <p:spPr>
          <a:xfrm>
            <a:off x="178308" y="1741932"/>
            <a:ext cx="2818500" cy="2196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1" name="Google Shape;341;p40"/>
          <p:cNvSpPr txBox="1"/>
          <p:nvPr/>
        </p:nvSpPr>
        <p:spPr>
          <a:xfrm>
            <a:off x="227183" y="1775353"/>
            <a:ext cx="2654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Calibri"/>
                <a:ea typeface="Calibri"/>
                <a:cs typeface="Calibri"/>
                <a:sym typeface="Calibri"/>
              </a:rPr>
              <a:t>ANALYSIS OF FEASIBILITY</a:t>
            </a:r>
            <a:endParaRPr b="0" i="0" sz="1300" u="none" cap="none" strike="noStrike">
              <a:solidFill>
                <a:srgbClr val="000000"/>
              </a:solidFill>
              <a:latin typeface="Arial"/>
              <a:ea typeface="Arial"/>
              <a:cs typeface="Arial"/>
              <a:sym typeface="Arial"/>
            </a:endParaRPr>
          </a:p>
        </p:txBody>
      </p:sp>
      <p:sp>
        <p:nvSpPr>
          <p:cNvPr id="342" name="Google Shape;342;p40"/>
          <p:cNvSpPr txBox="1"/>
          <p:nvPr/>
        </p:nvSpPr>
        <p:spPr>
          <a:xfrm>
            <a:off x="260604" y="1956816"/>
            <a:ext cx="26541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Proven stack.</a:t>
            </a:r>
            <a:r>
              <a:rPr b="0" i="0" lang="en-GB" sz="900" u="none" cap="none" strike="noStrike">
                <a:solidFill>
                  <a:srgbClr val="14202B"/>
                </a:solidFill>
                <a:latin typeface="Calibri"/>
                <a:ea typeface="Calibri"/>
                <a:cs typeface="Calibri"/>
                <a:sym typeface="Calibri"/>
              </a:rPr>
              <a:t>  CesiumJS, FastAPI, Zarr.</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Frame budget cleared.</a:t>
            </a:r>
            <a:r>
              <a:rPr b="0" i="0" lang="en-GB" sz="900" u="none" cap="none" strike="noStrike">
                <a:solidFill>
                  <a:srgbClr val="14202B"/>
                </a:solidFill>
                <a:latin typeface="Calibri"/>
                <a:ea typeface="Calibri"/>
                <a:cs typeface="Calibri"/>
                <a:sym typeface="Calibri"/>
              </a:rPr>
              <a:t>  51 fps on the weakest GPU.</a:t>
            </a:r>
            <a:endParaRPr b="0" i="0" sz="1300" u="none" cap="none" strike="noStrike">
              <a:solidFill>
                <a:srgbClr val="000000"/>
              </a:solidFill>
              <a:latin typeface="Arial"/>
              <a:ea typeface="Arial"/>
              <a:cs typeface="Arial"/>
              <a:sym typeface="Arial"/>
            </a:endParaRPr>
          </a:p>
        </p:txBody>
      </p:sp>
      <p:sp>
        <p:nvSpPr>
          <p:cNvPr id="343" name="Google Shape;343;p40"/>
          <p:cNvSpPr txBox="1"/>
          <p:nvPr/>
        </p:nvSpPr>
        <p:spPr>
          <a:xfrm>
            <a:off x="260604" y="2238817"/>
            <a:ext cx="2654100" cy="30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Reads INCOIS's own ERDDAP.</a:t>
            </a:r>
            <a:r>
              <a:rPr b="0" i="0" lang="en-GB" sz="900" u="none" cap="none" strike="noStrike">
                <a:solidFill>
                  <a:srgbClr val="14202B"/>
                </a:solidFill>
                <a:latin typeface="Calibri"/>
                <a:ea typeface="Calibri"/>
                <a:cs typeface="Calibri"/>
                <a:sym typeface="Calibri"/>
              </a:rPr>
              <a:t>  No duplication.</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Zero licence cost.</a:t>
            </a:r>
            <a:r>
              <a:rPr b="0" i="0" lang="en-GB" sz="900" u="none" cap="none" strike="noStrike">
                <a:solidFill>
                  <a:srgbClr val="14202B"/>
                </a:solidFill>
                <a:latin typeface="Calibri"/>
                <a:ea typeface="Calibri"/>
                <a:cs typeface="Calibri"/>
                <a:sym typeface="Calibri"/>
              </a:rPr>
              <a:t>  One GPU server, open source.</a:t>
            </a:r>
            <a:endParaRPr b="0" i="0" sz="1300" u="none" cap="none" strike="noStrike">
              <a:solidFill>
                <a:srgbClr val="000000"/>
              </a:solidFill>
              <a:latin typeface="Arial"/>
              <a:ea typeface="Arial"/>
              <a:cs typeface="Arial"/>
              <a:sym typeface="Arial"/>
            </a:endParaRPr>
          </a:p>
        </p:txBody>
      </p:sp>
      <p:sp>
        <p:nvSpPr>
          <p:cNvPr id="344" name="Google Shape;344;p40"/>
          <p:cNvSpPr/>
          <p:nvPr/>
        </p:nvSpPr>
        <p:spPr>
          <a:xfrm>
            <a:off x="3161550" y="1741925"/>
            <a:ext cx="2818500" cy="223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5" name="Google Shape;345;p40"/>
          <p:cNvSpPr/>
          <p:nvPr/>
        </p:nvSpPr>
        <p:spPr>
          <a:xfrm>
            <a:off x="3161538" y="1741932"/>
            <a:ext cx="2818500" cy="2196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6" name="Google Shape;346;p40"/>
          <p:cNvSpPr txBox="1"/>
          <p:nvPr/>
        </p:nvSpPr>
        <p:spPr>
          <a:xfrm>
            <a:off x="3215187" y="1784902"/>
            <a:ext cx="26541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POTENTIAL CHALLENGES AND RISKS</a:t>
            </a:r>
            <a:endParaRPr b="0" i="0" sz="1200" u="none" cap="none" strike="noStrike">
              <a:solidFill>
                <a:srgbClr val="000000"/>
              </a:solidFill>
              <a:latin typeface="Arial"/>
              <a:ea typeface="Arial"/>
              <a:cs typeface="Arial"/>
              <a:sym typeface="Arial"/>
            </a:endParaRPr>
          </a:p>
        </p:txBody>
      </p:sp>
      <p:sp>
        <p:nvSpPr>
          <p:cNvPr id="347" name="Google Shape;347;p40"/>
          <p:cNvSpPr txBox="1"/>
          <p:nvPr/>
        </p:nvSpPr>
        <p:spPr>
          <a:xfrm>
            <a:off x="3267066" y="1993097"/>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C44528"/>
                </a:solidFill>
                <a:latin typeface="Calibri"/>
                <a:ea typeface="Calibri"/>
                <a:cs typeface="Calibri"/>
                <a:sym typeface="Calibri"/>
              </a:rPr>
              <a:t>DATA</a:t>
            </a:r>
            <a:endParaRPr b="0" i="0" sz="1400" u="none" cap="none" strike="noStrike">
              <a:solidFill>
                <a:srgbClr val="000000"/>
              </a:solidFill>
              <a:latin typeface="Arial"/>
              <a:ea typeface="Arial"/>
              <a:cs typeface="Arial"/>
              <a:sym typeface="Arial"/>
            </a:endParaRPr>
          </a:p>
        </p:txBody>
      </p:sp>
      <p:sp>
        <p:nvSpPr>
          <p:cNvPr id="348" name="Google Shape;348;p40"/>
          <p:cNvSpPr txBox="1"/>
          <p:nvPr/>
        </p:nvSpPr>
        <p:spPr>
          <a:xfrm>
            <a:off x="3243834" y="2130257"/>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Instrument coverage is uneven.</a:t>
            </a:r>
            <a:r>
              <a:rPr b="0" i="0" lang="en-GB" sz="900" u="none" cap="none" strike="noStrike">
                <a:solidFill>
                  <a:srgbClr val="14202B"/>
                </a:solidFill>
                <a:latin typeface="Calibri"/>
                <a:ea typeface="Calibri"/>
                <a:cs typeface="Calibri"/>
                <a:sym typeface="Calibri"/>
              </a:rPr>
              <a:t>  Not on INCOIS ERDDAP.</a:t>
            </a:r>
            <a:endParaRPr b="0" i="0" sz="1300" u="none" cap="none" strike="noStrike">
              <a:solidFill>
                <a:srgbClr val="000000"/>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Datasets disagree on axes.</a:t>
            </a:r>
            <a:r>
              <a:rPr b="0" i="0" lang="en-GB" sz="900" u="none" cap="none" strike="noStrike">
                <a:solidFill>
                  <a:srgbClr val="14202B"/>
                </a:solidFill>
                <a:latin typeface="Calibri"/>
                <a:ea typeface="Calibri"/>
                <a:cs typeface="Calibri"/>
                <a:sym typeface="Calibri"/>
              </a:rPr>
              <a:t>  GLORYS stops at 1942 m.</a:t>
            </a:r>
            <a:endParaRPr b="0" i="0" sz="1300" u="none" cap="none" strike="noStrike">
              <a:solidFill>
                <a:srgbClr val="000000"/>
              </a:solidFill>
              <a:latin typeface="Arial"/>
              <a:ea typeface="Arial"/>
              <a:cs typeface="Arial"/>
              <a:sym typeface="Arial"/>
            </a:endParaRPr>
          </a:p>
        </p:txBody>
      </p:sp>
      <p:sp>
        <p:nvSpPr>
          <p:cNvPr id="349" name="Google Shape;349;p40"/>
          <p:cNvSpPr txBox="1"/>
          <p:nvPr/>
        </p:nvSpPr>
        <p:spPr>
          <a:xfrm>
            <a:off x="3243834" y="2631604"/>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C44528"/>
                </a:solidFill>
                <a:latin typeface="Calibri"/>
                <a:ea typeface="Calibri"/>
                <a:cs typeface="Calibri"/>
                <a:sym typeface="Calibri"/>
              </a:rPr>
              <a:t>TECHNICAL</a:t>
            </a:r>
            <a:endParaRPr b="0" i="0" sz="1400" u="none" cap="none" strike="noStrike">
              <a:solidFill>
                <a:srgbClr val="000000"/>
              </a:solidFill>
              <a:latin typeface="Arial"/>
              <a:ea typeface="Arial"/>
              <a:cs typeface="Arial"/>
              <a:sym typeface="Arial"/>
            </a:endParaRPr>
          </a:p>
        </p:txBody>
      </p:sp>
      <p:sp>
        <p:nvSpPr>
          <p:cNvPr id="350" name="Google Shape;350;p40"/>
          <p:cNvSpPr txBox="1"/>
          <p:nvPr/>
        </p:nvSpPr>
        <p:spPr>
          <a:xfrm>
            <a:off x="3243834" y="2781054"/>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Volumetric rendering is costly.</a:t>
            </a:r>
            <a:r>
              <a:rPr b="0" i="0" lang="en-GB" sz="900" u="none" cap="none" strike="noStrike">
                <a:solidFill>
                  <a:srgbClr val="14202B"/>
                </a:solidFill>
                <a:latin typeface="Calibri"/>
                <a:ea typeface="Calibri"/>
                <a:cs typeface="Calibri"/>
                <a:sym typeface="Calibri"/>
              </a:rPr>
              <a:t>  Translucent overdraw dominates.</a:t>
            </a:r>
            <a:endParaRPr b="0" i="0" sz="1300" u="none" cap="none" strike="noStrike">
              <a:solidFill>
                <a:srgbClr val="000000"/>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Scaling to the full basin.</a:t>
            </a:r>
            <a:r>
              <a:rPr b="0" i="0" lang="en-GB" sz="900" u="none" cap="none" strike="noStrike">
                <a:solidFill>
                  <a:srgbClr val="14202B"/>
                </a:solidFill>
                <a:latin typeface="Calibri"/>
                <a:ea typeface="Calibri"/>
                <a:cs typeface="Calibri"/>
                <a:sym typeface="Calibri"/>
              </a:rPr>
              <a:t>  The national grid is larger.</a:t>
            </a:r>
            <a:endParaRPr b="0" i="0" sz="1300" u="none" cap="none" strike="noStrike">
              <a:solidFill>
                <a:srgbClr val="000000"/>
              </a:solidFill>
              <a:latin typeface="Arial"/>
              <a:ea typeface="Arial"/>
              <a:cs typeface="Arial"/>
              <a:sym typeface="Arial"/>
            </a:endParaRPr>
          </a:p>
        </p:txBody>
      </p:sp>
      <p:sp>
        <p:nvSpPr>
          <p:cNvPr id="351" name="Google Shape;351;p40"/>
          <p:cNvSpPr txBox="1"/>
          <p:nvPr/>
        </p:nvSpPr>
        <p:spPr>
          <a:xfrm>
            <a:off x="3243834" y="3294691"/>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C44528"/>
                </a:solidFill>
                <a:latin typeface="Calibri"/>
                <a:ea typeface="Calibri"/>
                <a:cs typeface="Calibri"/>
                <a:sym typeface="Calibri"/>
              </a:rPr>
              <a:t>ADOPTION AND TRUST</a:t>
            </a:r>
            <a:endParaRPr b="0" i="0" sz="1400" u="none" cap="none" strike="noStrike">
              <a:solidFill>
                <a:srgbClr val="000000"/>
              </a:solidFill>
              <a:latin typeface="Arial"/>
              <a:ea typeface="Arial"/>
              <a:cs typeface="Arial"/>
              <a:sym typeface="Arial"/>
            </a:endParaRPr>
          </a:p>
        </p:txBody>
      </p:sp>
      <p:sp>
        <p:nvSpPr>
          <p:cNvPr id="352" name="Google Shape;352;p40"/>
          <p:cNvSpPr txBox="1"/>
          <p:nvPr/>
        </p:nvSpPr>
        <p:spPr>
          <a:xfrm>
            <a:off x="3243834" y="3444142"/>
            <a:ext cx="2654100" cy="51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A wrong number beats no number.</a:t>
            </a:r>
            <a:r>
              <a:rPr b="0" i="0" lang="en-GB" sz="900" u="none" cap="none" strike="noStrike">
                <a:solidFill>
                  <a:srgbClr val="14202B"/>
                </a:solidFill>
                <a:latin typeface="Calibri"/>
                <a:ea typeface="Calibri"/>
                <a:cs typeface="Calibri"/>
                <a:sym typeface="Calibri"/>
              </a:rPr>
              <a:t>  Its caveat must travel.</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A false alarm is unacceptable.</a:t>
            </a:r>
            <a:r>
              <a:rPr b="0" i="0" lang="en-GB" sz="900" u="none" cap="none" strike="noStrike">
                <a:solidFill>
                  <a:srgbClr val="14202B"/>
                </a:solidFill>
                <a:latin typeface="Calibri"/>
                <a:ea typeface="Calibri"/>
                <a:cs typeface="Calibri"/>
                <a:sym typeface="Calibri"/>
              </a:rPr>
              <a:t>  Drills are dashed.</a:t>
            </a:r>
            <a:endParaRPr b="0" i="0" sz="1300" u="none" cap="none" strike="noStrike">
              <a:solidFill>
                <a:srgbClr val="000000"/>
              </a:solidFill>
              <a:latin typeface="Arial"/>
              <a:ea typeface="Arial"/>
              <a:cs typeface="Arial"/>
              <a:sym typeface="Arial"/>
            </a:endParaRPr>
          </a:p>
        </p:txBody>
      </p:sp>
      <p:sp>
        <p:nvSpPr>
          <p:cNvPr id="353" name="Google Shape;353;p40"/>
          <p:cNvSpPr/>
          <p:nvPr/>
        </p:nvSpPr>
        <p:spPr>
          <a:xfrm>
            <a:off x="6144775" y="1741925"/>
            <a:ext cx="2818500" cy="223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4" name="Google Shape;354;p40"/>
          <p:cNvSpPr/>
          <p:nvPr/>
        </p:nvSpPr>
        <p:spPr>
          <a:xfrm>
            <a:off x="6144768" y="1741932"/>
            <a:ext cx="2818500" cy="219600"/>
          </a:xfrm>
          <a:prstGeom prst="rect">
            <a:avLst/>
          </a:prstGeom>
          <a:solidFill>
            <a:srgbClr val="009C4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5" name="Google Shape;355;p40"/>
          <p:cNvSpPr txBox="1"/>
          <p:nvPr/>
        </p:nvSpPr>
        <p:spPr>
          <a:xfrm>
            <a:off x="6205579" y="1770579"/>
            <a:ext cx="26541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STRATEGIES TO OVERCOME THEM</a:t>
            </a:r>
            <a:endParaRPr b="0" i="0" sz="1200" u="none" cap="none" strike="noStrike">
              <a:solidFill>
                <a:srgbClr val="000000"/>
              </a:solidFill>
              <a:latin typeface="Arial"/>
              <a:ea typeface="Arial"/>
              <a:cs typeface="Arial"/>
              <a:sym typeface="Arial"/>
            </a:endParaRPr>
          </a:p>
        </p:txBody>
      </p:sp>
      <p:sp>
        <p:nvSpPr>
          <p:cNvPr id="356" name="Google Shape;356;p40"/>
          <p:cNvSpPr txBox="1"/>
          <p:nvPr/>
        </p:nvSpPr>
        <p:spPr>
          <a:xfrm>
            <a:off x="6227064" y="1980557"/>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9C4E"/>
                </a:solidFill>
                <a:latin typeface="Calibri"/>
                <a:ea typeface="Calibri"/>
                <a:cs typeface="Calibri"/>
                <a:sym typeface="Calibri"/>
              </a:rPr>
              <a:t>DATA</a:t>
            </a:r>
            <a:endParaRPr b="1" i="0" sz="1400" u="none" cap="none" strike="noStrike">
              <a:solidFill>
                <a:srgbClr val="009C4E"/>
              </a:solidFill>
              <a:latin typeface="Arial"/>
              <a:ea typeface="Arial"/>
              <a:cs typeface="Arial"/>
              <a:sym typeface="Arial"/>
            </a:endParaRPr>
          </a:p>
        </p:txBody>
      </p:sp>
      <p:sp>
        <p:nvSpPr>
          <p:cNvPr id="357" name="Google Shape;357;p40"/>
          <p:cNvSpPr txBox="1"/>
          <p:nvPr/>
        </p:nvSpPr>
        <p:spPr>
          <a:xfrm>
            <a:off x="6227064" y="2105676"/>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Parsers already written.</a:t>
            </a:r>
            <a:r>
              <a:rPr b="0" i="0" lang="en-GB" sz="900" u="none" cap="none" strike="noStrike">
                <a:solidFill>
                  <a:srgbClr val="14202B"/>
                </a:solidFill>
                <a:latin typeface="Calibri"/>
                <a:ea typeface="Calibri"/>
                <a:cs typeface="Calibri"/>
                <a:sym typeface="Calibri"/>
              </a:rPr>
              <a:t>  A file, not new code.</a:t>
            </a:r>
            <a:endParaRPr b="0" i="0" sz="1300" u="none" cap="none" strike="noStrike">
              <a:solidFill>
                <a:srgbClr val="000000"/>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Never stretch one grid onto another.</a:t>
            </a:r>
            <a:r>
              <a:rPr b="0" i="0" lang="en-GB" sz="900" u="none" cap="none" strike="noStrike">
                <a:solidFill>
                  <a:srgbClr val="14202B"/>
                </a:solidFill>
                <a:latin typeface="Calibri"/>
                <a:ea typeface="Calibri"/>
                <a:cs typeface="Calibri"/>
                <a:sym typeface="Calibri"/>
              </a:rPr>
              <a:t>  The served depth is printed.</a:t>
            </a:r>
            <a:endParaRPr b="0" i="0" sz="1300" u="none" cap="none" strike="noStrike">
              <a:solidFill>
                <a:srgbClr val="000000"/>
              </a:solidFill>
              <a:latin typeface="Arial"/>
              <a:ea typeface="Arial"/>
              <a:cs typeface="Arial"/>
              <a:sym typeface="Arial"/>
            </a:endParaRPr>
          </a:p>
        </p:txBody>
      </p:sp>
      <p:sp>
        <p:nvSpPr>
          <p:cNvPr id="358" name="Google Shape;358;p40"/>
          <p:cNvSpPr txBox="1"/>
          <p:nvPr/>
        </p:nvSpPr>
        <p:spPr>
          <a:xfrm>
            <a:off x="6227064" y="2588588"/>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9C4E"/>
                </a:solidFill>
                <a:latin typeface="Calibri"/>
                <a:ea typeface="Calibri"/>
                <a:cs typeface="Calibri"/>
                <a:sym typeface="Calibri"/>
              </a:rPr>
              <a:t>TECHNICAL</a:t>
            </a:r>
            <a:endParaRPr b="1" i="0" sz="1300" u="none" cap="none" strike="noStrike">
              <a:solidFill>
                <a:srgbClr val="009C4E"/>
              </a:solidFill>
              <a:latin typeface="Arial"/>
              <a:ea typeface="Arial"/>
              <a:cs typeface="Arial"/>
              <a:sym typeface="Arial"/>
            </a:endParaRPr>
          </a:p>
        </p:txBody>
      </p:sp>
      <p:sp>
        <p:nvSpPr>
          <p:cNvPr id="359" name="Google Shape;359;p40"/>
          <p:cNvSpPr txBox="1"/>
          <p:nvPr/>
        </p:nvSpPr>
        <p:spPr>
          <a:xfrm>
            <a:off x="6227075" y="2725749"/>
            <a:ext cx="2736300" cy="57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Depth-space level of detail.</a:t>
            </a:r>
            <a:r>
              <a:rPr b="0" i="0" lang="en-GB" sz="900" u="none" cap="none" strike="noStrike">
                <a:solidFill>
                  <a:srgbClr val="14202B"/>
                </a:solidFill>
                <a:latin typeface="Calibri"/>
                <a:ea typeface="Calibri"/>
                <a:cs typeface="Calibri"/>
                <a:sym typeface="Calibri"/>
              </a:rPr>
              <a:t>  At most 10 of 24 slices at once.</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Chunked Zarr over range requests.</a:t>
            </a:r>
            <a:r>
              <a:rPr b="0" i="0" lang="en-GB" sz="900" u="none" cap="none" strike="noStrike">
                <a:solidFill>
                  <a:srgbClr val="14202B"/>
                </a:solidFill>
                <a:latin typeface="Calibri"/>
                <a:ea typeface="Calibri"/>
                <a:cs typeface="Calibri"/>
                <a:sym typeface="Calibri"/>
              </a:rPr>
              <a:t>  Cost is view-dependent.</a:t>
            </a:r>
            <a:endParaRPr b="0" i="0" sz="1300" u="none" cap="none" strike="noStrike">
              <a:solidFill>
                <a:srgbClr val="000000"/>
              </a:solidFill>
              <a:latin typeface="Arial"/>
              <a:ea typeface="Arial"/>
              <a:cs typeface="Arial"/>
              <a:sym typeface="Arial"/>
            </a:endParaRPr>
          </a:p>
        </p:txBody>
      </p:sp>
      <p:sp>
        <p:nvSpPr>
          <p:cNvPr id="360" name="Google Shape;360;p40"/>
          <p:cNvSpPr txBox="1"/>
          <p:nvPr/>
        </p:nvSpPr>
        <p:spPr>
          <a:xfrm>
            <a:off x="6227064" y="3325418"/>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9C4E"/>
                </a:solidFill>
                <a:latin typeface="Calibri"/>
                <a:ea typeface="Calibri"/>
                <a:cs typeface="Calibri"/>
                <a:sym typeface="Calibri"/>
              </a:rPr>
              <a:t>ADOPTION AND TRUST</a:t>
            </a:r>
            <a:endParaRPr b="1" i="0" sz="1300" u="none" cap="none" strike="noStrike">
              <a:solidFill>
                <a:srgbClr val="009C4E"/>
              </a:solidFill>
              <a:latin typeface="Arial"/>
              <a:ea typeface="Arial"/>
              <a:cs typeface="Arial"/>
              <a:sym typeface="Arial"/>
            </a:endParaRPr>
          </a:p>
        </p:txBody>
      </p:sp>
      <p:sp>
        <p:nvSpPr>
          <p:cNvPr id="361" name="Google Shape;361;p40"/>
          <p:cNvSpPr txBox="1"/>
          <p:nvPr/>
        </p:nvSpPr>
        <p:spPr>
          <a:xfrm>
            <a:off x="6227064" y="3491767"/>
            <a:ext cx="2654100" cy="44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The caveat travels with the number.</a:t>
            </a:r>
            <a:r>
              <a:rPr b="0" i="0" lang="en-GB" sz="900" u="none" cap="none" strike="noStrike">
                <a:solidFill>
                  <a:srgbClr val="14202B"/>
                </a:solidFill>
                <a:latin typeface="Calibri"/>
                <a:ea typeface="Calibri"/>
                <a:cs typeface="Calibri"/>
                <a:sym typeface="Calibri"/>
              </a:rPr>
              <a:t>  On screen and in the API.</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Four independent drill guards.</a:t>
            </a:r>
            <a:r>
              <a:rPr b="0" i="0" lang="en-GB" sz="900" u="none" cap="none" strike="noStrike">
                <a:solidFill>
                  <a:srgbClr val="14202B"/>
                </a:solidFill>
                <a:latin typeface="Calibri"/>
                <a:ea typeface="Calibri"/>
                <a:cs typeface="Calibri"/>
                <a:sym typeface="Calibri"/>
              </a:rPr>
              <a:t>  Exercise is refused.</a:t>
            </a:r>
            <a:endParaRPr b="0" i="0" sz="1300" u="none" cap="none" strike="noStrike">
              <a:solidFill>
                <a:srgbClr val="000000"/>
              </a:solidFill>
              <a:latin typeface="Arial"/>
              <a:ea typeface="Arial"/>
              <a:cs typeface="Arial"/>
              <a:sym typeface="Arial"/>
            </a:endParaRPr>
          </a:p>
        </p:txBody>
      </p:sp>
      <p:sp>
        <p:nvSpPr>
          <p:cNvPr id="362" name="Google Shape;362;p40"/>
          <p:cNvSpPr/>
          <p:nvPr/>
        </p:nvSpPr>
        <p:spPr>
          <a:xfrm>
            <a:off x="178300" y="4053475"/>
            <a:ext cx="8785200" cy="745800"/>
          </a:xfrm>
          <a:prstGeom prst="rect">
            <a:avLst/>
          </a:prstGeom>
          <a:solidFill>
            <a:srgbClr val="D3E3E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3" name="Google Shape;363;p40"/>
          <p:cNvSpPr txBox="1"/>
          <p:nvPr/>
        </p:nvSpPr>
        <p:spPr>
          <a:xfrm>
            <a:off x="253739" y="4107813"/>
            <a:ext cx="3017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VIABILITY  ·  WHY THIS SURVIVES AFTER THE HACKATHON</a:t>
            </a:r>
            <a:endParaRPr b="0" i="0" sz="1300" u="none" cap="none" strike="noStrike">
              <a:solidFill>
                <a:schemeClr val="dk1"/>
              </a:solidFill>
              <a:latin typeface="Arial"/>
              <a:ea typeface="Arial"/>
              <a:cs typeface="Arial"/>
              <a:sym typeface="Arial"/>
            </a:endParaRPr>
          </a:p>
        </p:txBody>
      </p:sp>
      <p:sp>
        <p:nvSpPr>
          <p:cNvPr id="364" name="Google Shape;364;p40"/>
          <p:cNvSpPr txBox="1"/>
          <p:nvPr/>
        </p:nvSpPr>
        <p:spPr>
          <a:xfrm>
            <a:off x="246085" y="4323742"/>
            <a:ext cx="2324100" cy="280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Native deployment path</a:t>
            </a:r>
            <a:endParaRPr b="0" i="0" sz="14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INCOIS's own request. No data migrates.</a:t>
            </a:r>
            <a:endParaRPr b="0" i="0" sz="1400" u="none" cap="none" strike="noStrike">
              <a:solidFill>
                <a:schemeClr val="dk1"/>
              </a:solidFill>
              <a:latin typeface="Arial"/>
              <a:ea typeface="Arial"/>
              <a:cs typeface="Arial"/>
              <a:sym typeface="Arial"/>
            </a:endParaRPr>
          </a:p>
        </p:txBody>
      </p:sp>
      <p:sp>
        <p:nvSpPr>
          <p:cNvPr id="365" name="Google Shape;365;p40"/>
          <p:cNvSpPr txBox="1"/>
          <p:nvPr/>
        </p:nvSpPr>
        <p:spPr>
          <a:xfrm>
            <a:off x="2518344" y="4308822"/>
            <a:ext cx="2066100" cy="4080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Standards, not a silo</a:t>
            </a:r>
            <a:endParaRPr b="0" i="0" sz="13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WMS 1.3.0 and WCS 1.0.0: their tools read it.</a:t>
            </a:r>
            <a:endParaRPr b="0" i="0" sz="1300" u="none" cap="none" strike="noStrike">
              <a:solidFill>
                <a:schemeClr val="dk1"/>
              </a:solidFill>
              <a:latin typeface="Arial"/>
              <a:ea typeface="Arial"/>
              <a:cs typeface="Arial"/>
              <a:sym typeface="Arial"/>
            </a:endParaRPr>
          </a:p>
        </p:txBody>
      </p:sp>
      <p:sp>
        <p:nvSpPr>
          <p:cNvPr id="366" name="Google Shape;366;p40"/>
          <p:cNvSpPr txBox="1"/>
          <p:nvPr/>
        </p:nvSpPr>
        <p:spPr>
          <a:xfrm>
            <a:off x="4676715" y="4276469"/>
            <a:ext cx="2066100" cy="280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Maintainable by the owner</a:t>
            </a:r>
            <a:endParaRPr b="0" i="0" sz="13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Standard Python and JavaScript.</a:t>
            </a:r>
            <a:endParaRPr b="0" i="0" sz="1300" u="none" cap="none" strike="noStrike">
              <a:solidFill>
                <a:schemeClr val="dk1"/>
              </a:solidFill>
              <a:latin typeface="Arial"/>
              <a:ea typeface="Arial"/>
              <a:cs typeface="Arial"/>
              <a:sym typeface="Arial"/>
            </a:endParaRPr>
          </a:p>
        </p:txBody>
      </p:sp>
      <p:sp>
        <p:nvSpPr>
          <p:cNvPr id="367" name="Google Shape;367;p40"/>
          <p:cNvSpPr txBox="1"/>
          <p:nvPr/>
        </p:nvSpPr>
        <p:spPr>
          <a:xfrm>
            <a:off x="6793359" y="4264001"/>
            <a:ext cx="2220900" cy="280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Costs nothing to keep</a:t>
            </a:r>
            <a:endParaRPr b="0" i="0" sz="14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Zero licences, one GPU server.</a:t>
            </a:r>
            <a:endParaRPr b="0" i="0" sz="1400" u="none" cap="none" strike="noStrike">
              <a:solidFill>
                <a:schemeClr val="dk1"/>
              </a:solidFill>
              <a:latin typeface="Arial"/>
              <a:ea typeface="Arial"/>
              <a:cs typeface="Arial"/>
              <a:sym typeface="Arial"/>
            </a:endParaRPr>
          </a:p>
        </p:txBody>
      </p:sp>
      <p:sp>
        <p:nvSpPr>
          <p:cNvPr descr="Your startup LOGO" id="368" name="Google Shape;368;p40"/>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chemeClr val="dk1"/>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369" name="Google Shape;369;p40"/>
          <p:cNvSpPr/>
          <p:nvPr/>
        </p:nvSpPr>
        <p:spPr>
          <a:xfrm rot="5400000">
            <a:off x="6003036" y="2670048"/>
            <a:ext cx="109728" cy="128016"/>
          </a:xfrm>
          <a:prstGeom prst="triangle">
            <a:avLst>
              <a:gd fmla="val 50000" name="adj"/>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0"/>
          <p:cNvSpPr/>
          <p:nvPr/>
        </p:nvSpPr>
        <p:spPr>
          <a:xfrm rot="5400000">
            <a:off x="6003036" y="3328416"/>
            <a:ext cx="109728" cy="128016"/>
          </a:xfrm>
          <a:prstGeom prst="triangle">
            <a:avLst>
              <a:gd fmla="val 50000" name="adj"/>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0"/>
          <p:cNvSpPr/>
          <p:nvPr/>
        </p:nvSpPr>
        <p:spPr>
          <a:xfrm>
            <a:off x="256031" y="2542032"/>
            <a:ext cx="941262" cy="1371600"/>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mobile.png" id="372" name="Google Shape;372;p40"/>
          <p:cNvPicPr preferRelativeResize="0"/>
          <p:nvPr/>
        </p:nvPicPr>
        <p:blipFill rotWithShape="1">
          <a:blip r:embed="rId4">
            <a:alphaModFix/>
          </a:blip>
          <a:srcRect b="0" l="0" r="0" t="0"/>
          <a:stretch/>
        </p:blipFill>
        <p:spPr>
          <a:xfrm>
            <a:off x="274320" y="2560320"/>
            <a:ext cx="904686" cy="1335024"/>
          </a:xfrm>
          <a:prstGeom prst="rect">
            <a:avLst/>
          </a:prstGeom>
          <a:noFill/>
          <a:ln>
            <a:noFill/>
          </a:ln>
        </p:spPr>
      </p:pic>
      <p:sp>
        <p:nvSpPr>
          <p:cNvPr id="373" name="Google Shape;373;p40"/>
          <p:cNvSpPr txBox="1"/>
          <p:nvPr/>
        </p:nvSpPr>
        <p:spPr>
          <a:xfrm>
            <a:off x="1328604" y="2658716"/>
            <a:ext cx="19203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1" i="0" lang="en-GB" sz="800" u="none" cap="none" strike="noStrike">
                <a:solidFill>
                  <a:srgbClr val="1F4E79"/>
                </a:solidFill>
                <a:latin typeface="Arial"/>
                <a:ea typeface="Arial"/>
                <a:cs typeface="Arial"/>
                <a:sym typeface="Arial"/>
              </a:rPr>
              <a:t>THE SAME BUILD, ON A PHONE</a:t>
            </a:r>
            <a:endParaRPr/>
          </a:p>
        </p:txBody>
      </p:sp>
      <p:sp>
        <p:nvSpPr>
          <p:cNvPr id="374" name="Google Shape;374;p40"/>
          <p:cNvSpPr/>
          <p:nvPr/>
        </p:nvSpPr>
        <p:spPr>
          <a:xfrm>
            <a:off x="1328604" y="285531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1</a:t>
            </a:r>
            <a:endParaRPr/>
          </a:p>
        </p:txBody>
      </p:sp>
      <p:sp>
        <p:nvSpPr>
          <p:cNvPr id="375" name="Google Shape;375;p40"/>
          <p:cNvSpPr txBox="1"/>
          <p:nvPr/>
        </p:nvSpPr>
        <p:spPr>
          <a:xfrm>
            <a:off x="1465764" y="2841596"/>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variable selector</a:t>
            </a:r>
            <a:endParaRPr/>
          </a:p>
        </p:txBody>
      </p:sp>
      <p:sp>
        <p:nvSpPr>
          <p:cNvPr id="376" name="Google Shape;376;p40"/>
          <p:cNvSpPr/>
          <p:nvPr/>
        </p:nvSpPr>
        <p:spPr>
          <a:xfrm>
            <a:off x="1328604" y="3015331"/>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2</a:t>
            </a:r>
            <a:endParaRPr/>
          </a:p>
        </p:txBody>
      </p:sp>
      <p:sp>
        <p:nvSpPr>
          <p:cNvPr id="377" name="Google Shape;377;p40"/>
          <p:cNvSpPr txBox="1"/>
          <p:nvPr/>
        </p:nvSpPr>
        <p:spPr>
          <a:xfrm>
            <a:off x="1465764" y="3001615"/>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colorbar, min / max, log</a:t>
            </a:r>
            <a:endParaRPr/>
          </a:p>
        </p:txBody>
      </p:sp>
      <p:sp>
        <p:nvSpPr>
          <p:cNvPr id="378" name="Google Shape;378;p40"/>
          <p:cNvSpPr/>
          <p:nvPr/>
        </p:nvSpPr>
        <p:spPr>
          <a:xfrm>
            <a:off x="1328604" y="317535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3</a:t>
            </a:r>
            <a:endParaRPr/>
          </a:p>
        </p:txBody>
      </p:sp>
      <p:sp>
        <p:nvSpPr>
          <p:cNvPr id="379" name="Google Shape;379;p40"/>
          <p:cNvSpPr txBox="1"/>
          <p:nvPr/>
        </p:nvSpPr>
        <p:spPr>
          <a:xfrm>
            <a:off x="1465764" y="3161636"/>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24 levels, 5 m to 2000 m</a:t>
            </a:r>
            <a:endParaRPr/>
          </a:p>
        </p:txBody>
      </p:sp>
      <p:sp>
        <p:nvSpPr>
          <p:cNvPr id="380" name="Google Shape;380;p40"/>
          <p:cNvSpPr/>
          <p:nvPr/>
        </p:nvSpPr>
        <p:spPr>
          <a:xfrm>
            <a:off x="1328604" y="333537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4</a:t>
            </a:r>
            <a:endParaRPr/>
          </a:p>
        </p:txBody>
      </p:sp>
      <p:sp>
        <p:nvSpPr>
          <p:cNvPr id="381" name="Google Shape;381;p40"/>
          <p:cNvSpPr/>
          <p:nvPr/>
        </p:nvSpPr>
        <p:spPr>
          <a:xfrm rot="5400000">
            <a:off x="6003036" y="2020824"/>
            <a:ext cx="109728" cy="128016"/>
          </a:xfrm>
          <a:prstGeom prst="triangle">
            <a:avLst>
              <a:gd fmla="val 50000" name="adj"/>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0"/>
          <p:cNvSpPr txBox="1"/>
          <p:nvPr/>
        </p:nvSpPr>
        <p:spPr>
          <a:xfrm>
            <a:off x="1465764" y="3321655"/>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vertical exaggeration</a:t>
            </a:r>
            <a:endParaRPr/>
          </a:p>
        </p:txBody>
      </p:sp>
      <p:sp>
        <p:nvSpPr>
          <p:cNvPr id="383" name="Google Shape;383;p40"/>
          <p:cNvSpPr/>
          <p:nvPr/>
        </p:nvSpPr>
        <p:spPr>
          <a:xfrm>
            <a:off x="1328604" y="3495391"/>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5</a:t>
            </a:r>
            <a:endParaRPr/>
          </a:p>
        </p:txBody>
      </p:sp>
      <p:sp>
        <p:nvSpPr>
          <p:cNvPr id="384" name="Google Shape;384;p40"/>
          <p:cNvSpPr txBox="1"/>
          <p:nvPr/>
        </p:nvSpPr>
        <p:spPr>
          <a:xfrm>
            <a:off x="1465764" y="3481675"/>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layer opacity</a:t>
            </a:r>
            <a:endParaRPr/>
          </a:p>
        </p:txBody>
      </p:sp>
      <p:sp>
        <p:nvSpPr>
          <p:cNvPr id="385" name="Google Shape;385;p40"/>
          <p:cNvSpPr/>
          <p:nvPr/>
        </p:nvSpPr>
        <p:spPr>
          <a:xfrm>
            <a:off x="1328604" y="365541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6</a:t>
            </a:r>
            <a:endParaRPr/>
          </a:p>
        </p:txBody>
      </p:sp>
      <p:sp>
        <p:nvSpPr>
          <p:cNvPr id="386" name="Google Shape;386;p40"/>
          <p:cNvSpPr txBox="1"/>
          <p:nvPr/>
        </p:nvSpPr>
        <p:spPr>
          <a:xfrm>
            <a:off x="1465764" y="3641696"/>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time-step animation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1"/>
          <p:cNvSpPr/>
          <p:nvPr/>
        </p:nvSpPr>
        <p:spPr>
          <a:xfrm>
            <a:off x="0" y="4820375"/>
            <a:ext cx="9144000" cy="3231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393" name="Google Shape;393;p41"/>
          <p:cNvSpPr txBox="1"/>
          <p:nvPr>
            <p:ph type="title"/>
          </p:nvPr>
        </p:nvSpPr>
        <p:spPr>
          <a:xfrm>
            <a:off x="1221159" y="77434"/>
            <a:ext cx="7338000" cy="630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IMPACT AND BENEFITS</a:t>
            </a:r>
            <a:endParaRPr sz="1100"/>
          </a:p>
        </p:txBody>
      </p:sp>
      <p:sp>
        <p:nvSpPr>
          <p:cNvPr id="394" name="Google Shape;394;p41"/>
          <p:cNvSpPr txBox="1"/>
          <p:nvPr>
            <p:ph idx="12" type="sldNum"/>
          </p:nvPr>
        </p:nvSpPr>
        <p:spPr>
          <a:xfrm>
            <a:off x="6553200" y="4837449"/>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395" name="Google Shape;395;p41"/>
          <p:cNvSpPr txBox="1"/>
          <p:nvPr>
            <p:ph idx="11" type="ftr"/>
          </p:nvPr>
        </p:nvSpPr>
        <p:spPr>
          <a:xfrm>
            <a:off x="3343225" y="4827925"/>
            <a:ext cx="27159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a:solidFill>
                  <a:srgbClr val="FFFFFF"/>
                </a:solidFill>
                <a:latin typeface="Calibri"/>
                <a:ea typeface="Calibri"/>
                <a:cs typeface="Calibri"/>
                <a:sym typeface="Calibri"/>
              </a:rPr>
              <a:t>SagarDrishti  ·  PS SIH26067  ·  @SIH Idea Submission</a:t>
            </a:r>
            <a:endParaRPr b="0" i="0" u="none" cap="none" strike="noStrike">
              <a:solidFill>
                <a:srgbClr val="FFFFFF"/>
              </a:solidFill>
              <a:latin typeface="Oswald"/>
              <a:ea typeface="Oswald"/>
              <a:cs typeface="Oswald"/>
              <a:sym typeface="Oswald"/>
            </a:endParaRPr>
          </a:p>
        </p:txBody>
      </p:sp>
      <p:pic>
        <p:nvPicPr>
          <p:cNvPr id="396" name="Google Shape;396;p41"/>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397" name="Google Shape;397;p41"/>
          <p:cNvSpPr/>
          <p:nvPr/>
        </p:nvSpPr>
        <p:spPr>
          <a:xfrm>
            <a:off x="2305949" y="677871"/>
            <a:ext cx="4413900" cy="2805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lang="en-GB" sz="900">
                <a:solidFill>
                  <a:srgbClr val="FFFFFF"/>
                </a:solidFill>
                <a:latin typeface="Calibri"/>
                <a:ea typeface="Calibri"/>
                <a:cs typeface="Calibri"/>
                <a:sym typeface="Calibri"/>
              </a:rPr>
              <a:t>                                        </a:t>
            </a:r>
            <a:r>
              <a:rPr b="1" i="0" lang="en-GB" sz="900">
                <a:solidFill>
                  <a:srgbClr val="FFFFFF"/>
                </a:solidFill>
                <a:latin typeface="Calibri"/>
                <a:ea typeface="Calibri"/>
                <a:cs typeface="Calibri"/>
                <a:sym typeface="Calibri"/>
              </a:rPr>
              <a:t>POTENTIAL IMPACT ON THE TARGET AUDIENCE</a:t>
            </a:r>
            <a:endParaRPr sz="1200"/>
          </a:p>
        </p:txBody>
      </p:sp>
      <p:sp>
        <p:nvSpPr>
          <p:cNvPr id="398" name="Google Shape;398;p41"/>
          <p:cNvSpPr/>
          <p:nvPr/>
        </p:nvSpPr>
        <p:spPr>
          <a:xfrm>
            <a:off x="178308" y="1083564"/>
            <a:ext cx="1680300" cy="411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41"/>
          <p:cNvSpPr/>
          <p:nvPr/>
        </p:nvSpPr>
        <p:spPr>
          <a:xfrm>
            <a:off x="1954530" y="1083564"/>
            <a:ext cx="1680300" cy="41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0" name="Google Shape;400;p41"/>
          <p:cNvSpPr/>
          <p:nvPr/>
        </p:nvSpPr>
        <p:spPr>
          <a:xfrm>
            <a:off x="3730752" y="1083564"/>
            <a:ext cx="1680300" cy="41100"/>
          </a:xfrm>
          <a:prstGeom prst="rect">
            <a:avLst/>
          </a:prstGeom>
          <a:solidFill>
            <a:srgbClr val="12688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1" name="Google Shape;401;p41"/>
          <p:cNvSpPr/>
          <p:nvPr/>
        </p:nvSpPr>
        <p:spPr>
          <a:xfrm>
            <a:off x="5506974" y="1083564"/>
            <a:ext cx="1680300" cy="411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2" name="Google Shape;402;p41"/>
          <p:cNvSpPr/>
          <p:nvPr/>
        </p:nvSpPr>
        <p:spPr>
          <a:xfrm>
            <a:off x="7283196" y="1083564"/>
            <a:ext cx="1680300" cy="411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3" name="Google Shape;403;p41"/>
          <p:cNvSpPr/>
          <p:nvPr/>
        </p:nvSpPr>
        <p:spPr>
          <a:xfrm>
            <a:off x="178308" y="2178510"/>
            <a:ext cx="3669000" cy="205800"/>
          </a:xfrm>
          <a:prstGeom prst="roundRect">
            <a:avLst>
              <a:gd fmla="val 32000" name="adj"/>
            </a:avLst>
          </a:prstGeom>
          <a:solidFill>
            <a:srgbClr val="0E8C9A"/>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i="0" lang="en-GB" sz="800">
                <a:solidFill>
                  <a:srgbClr val="FFFFFF"/>
                </a:solidFill>
                <a:latin typeface="Calibri"/>
                <a:ea typeface="Calibri"/>
                <a:cs typeface="Calibri"/>
                <a:sym typeface="Calibri"/>
              </a:rPr>
              <a:t>BENEFITS  ·  SOCIAL, ECONOMIC, ENVIRONMENTAL</a:t>
            </a:r>
            <a:endParaRPr sz="1100"/>
          </a:p>
        </p:txBody>
      </p:sp>
      <p:sp>
        <p:nvSpPr>
          <p:cNvPr id="404" name="Google Shape;404;p41"/>
          <p:cNvSpPr/>
          <p:nvPr/>
        </p:nvSpPr>
        <p:spPr>
          <a:xfrm>
            <a:off x="178300" y="2455176"/>
            <a:ext cx="5726400" cy="1256400"/>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5" name="Google Shape;405;p41"/>
          <p:cNvSpPr txBox="1"/>
          <p:nvPr/>
        </p:nvSpPr>
        <p:spPr>
          <a:xfrm>
            <a:off x="251996" y="2479096"/>
            <a:ext cx="2685000" cy="11700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Faster hazard assessment.</a:t>
            </a:r>
            <a:r>
              <a:rPr b="0" i="0" lang="en-GB" sz="800">
                <a:solidFill>
                  <a:srgbClr val="14202B"/>
                </a:solidFill>
                <a:latin typeface="Calibri"/>
                <a:ea typeface="Calibri"/>
                <a:cs typeface="Calibri"/>
                <a:sym typeface="Calibri"/>
              </a:rPr>
              <a:t>  One tool replaces the toggling the PS describes; the model and the instruments are already side by side.</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Verifiable, not decorative.</a:t>
            </a:r>
            <a:r>
              <a:rPr b="0" i="0" lang="en-GB" sz="800">
                <a:solidFill>
                  <a:srgbClr val="14202B"/>
                </a:solidFill>
                <a:latin typeface="Calibri"/>
                <a:ea typeface="Calibri"/>
                <a:cs typeface="Calibri"/>
                <a:sym typeface="Calibri"/>
              </a:rPr>
              <a:t>  Bias +0.026 degC and RMSE 0.602 degC over 11,718 matched pairs, with the analysis-fit caveat attached.</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Trust where it matters most.</a:t>
            </a:r>
            <a:r>
              <a:rPr b="0" i="0" lang="en-GB" sz="800">
                <a:solidFill>
                  <a:srgbClr val="14202B"/>
                </a:solidFill>
                <a:latin typeface="Calibri"/>
                <a:ea typeface="Calibri"/>
                <a:cs typeface="Calibri"/>
                <a:sym typeface="Calibri"/>
              </a:rPr>
              <a:t>  The model is within about 0.12 degC below 500 m and 2.07 degC across the thermocline at 50 to 100 m, which is exactly the layer a cyclone forecaster reads.</a:t>
            </a:r>
            <a:endParaRPr sz="1300"/>
          </a:p>
        </p:txBody>
      </p:sp>
      <p:sp>
        <p:nvSpPr>
          <p:cNvPr id="406" name="Google Shape;406;p41"/>
          <p:cNvSpPr txBox="1"/>
          <p:nvPr/>
        </p:nvSpPr>
        <p:spPr>
          <a:xfrm>
            <a:off x="3206115" y="2523744"/>
            <a:ext cx="2685000" cy="9384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Zero licence cost.</a:t>
            </a:r>
            <a:r>
              <a:rPr b="0" i="0" lang="en-GB" sz="800">
                <a:solidFill>
                  <a:srgbClr val="14202B"/>
                </a:solidFill>
                <a:latin typeface="Calibri"/>
                <a:ea typeface="Calibri"/>
                <a:cs typeface="Calibri"/>
                <a:sym typeface="Calibri"/>
              </a:rPr>
              <a:t>  Fully open source against proprietary 3D suites; one deployment serves the nation.</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Resilient by design.</a:t>
            </a:r>
            <a:r>
              <a:rPr b="0" i="0" lang="en-GB" sz="800">
                <a:solidFill>
                  <a:srgbClr val="14202B"/>
                </a:solidFill>
                <a:latin typeface="Calibri"/>
                <a:ea typeface="Calibri"/>
                <a:cs typeface="Calibri"/>
                <a:sym typeface="Calibri"/>
              </a:rPr>
              <a:t>  Runs air-gapped, so a network failure at a control room or a nodal centre does not take the tool down.</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Wider access.</a:t>
            </a:r>
            <a:r>
              <a:rPr b="0" i="0" lang="en-GB" sz="800">
                <a:solidFill>
                  <a:srgbClr val="14202B"/>
                </a:solidFill>
                <a:latin typeface="Calibri"/>
                <a:ea typeface="Calibri"/>
                <a:cs typeface="Calibri"/>
                <a:sym typeface="Calibri"/>
              </a:rPr>
              <a:t>  A browser and, in the next phase, Indian-language voice widen who can interrogate the ocean beyond specialists.</a:t>
            </a:r>
            <a:endParaRPr sz="1300"/>
          </a:p>
        </p:txBody>
      </p:sp>
      <p:sp>
        <p:nvSpPr>
          <p:cNvPr id="407" name="Google Shape;407;p41"/>
          <p:cNvSpPr txBox="1"/>
          <p:nvPr/>
        </p:nvSpPr>
        <p:spPr>
          <a:xfrm>
            <a:off x="274320" y="3833622"/>
            <a:ext cx="4114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800">
                <a:solidFill>
                  <a:schemeClr val="lt1"/>
                </a:solidFill>
                <a:latin typeface="Calibri"/>
                <a:ea typeface="Calibri"/>
                <a:cs typeface="Calibri"/>
                <a:sym typeface="Calibri"/>
              </a:rPr>
              <a:t>WHAT CHANGES ON THE DAY IT MATTERS  ·  A DEPRESSION FORMS IN THE BAY</a:t>
            </a:r>
            <a:endParaRPr sz="1200">
              <a:solidFill>
                <a:schemeClr val="lt1"/>
              </a:solidFill>
            </a:endParaRPr>
          </a:p>
        </p:txBody>
      </p:sp>
      <p:sp>
        <p:nvSpPr>
          <p:cNvPr descr="Your startup LOGO" id="408" name="Google Shape;408;p41"/>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Clr>
                <a:schemeClr val="dk1"/>
              </a:buClr>
              <a:buFont typeface="Arial"/>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409" name="Google Shape;409;p41"/>
          <p:cNvSpPr/>
          <p:nvPr/>
        </p:nvSpPr>
        <p:spPr>
          <a:xfrm>
            <a:off x="178300" y="3771900"/>
            <a:ext cx="8785200" cy="7314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0" name="Google Shape;410;p41"/>
          <p:cNvSpPr txBox="1"/>
          <p:nvPr/>
        </p:nvSpPr>
        <p:spPr>
          <a:xfrm>
            <a:off x="274320" y="3833622"/>
            <a:ext cx="4114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Calibri"/>
                <a:ea typeface="Calibri"/>
                <a:cs typeface="Calibri"/>
                <a:sym typeface="Calibri"/>
              </a:rPr>
              <a:t>WHAT CHANGES ON THE DAY IT MATTERS  ·  A DEPRESSION FORMS IN THE BAY</a:t>
            </a:r>
            <a:endParaRPr b="0" i="0" sz="1200" u="none" cap="none" strike="noStrike">
              <a:solidFill>
                <a:schemeClr val="lt1"/>
              </a:solidFill>
              <a:latin typeface="Arial"/>
              <a:ea typeface="Arial"/>
              <a:cs typeface="Arial"/>
              <a:sym typeface="Arial"/>
            </a:endParaRPr>
          </a:p>
        </p:txBody>
      </p:sp>
      <p:sp>
        <p:nvSpPr>
          <p:cNvPr id="411" name="Google Shape;411;p41"/>
          <p:cNvSpPr/>
          <p:nvPr/>
        </p:nvSpPr>
        <p:spPr>
          <a:xfrm>
            <a:off x="274320" y="3986784"/>
            <a:ext cx="2210700" cy="658500"/>
          </a:xfrm>
          <a:prstGeom prst="chevron">
            <a:avLst>
              <a:gd fmla="val 50000" name="adj"/>
            </a:avLst>
          </a:prstGeom>
          <a:solidFill>
            <a:srgbClr val="1F4E79"/>
          </a:solidFill>
          <a:ln>
            <a:noFill/>
          </a:ln>
        </p:spPr>
        <p:txBody>
          <a:bodyPr anchorCtr="0" anchor="ctr" bIns="18275" lIns="91425"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1   SEE THE HEAT</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Switch to the depth of the </a:t>
            </a:r>
            <a:r>
              <a:rPr lang="en-GB" sz="800">
                <a:solidFill>
                  <a:srgbClr val="FFFFFF"/>
                </a:solidFill>
              </a:rPr>
              <a:t>26°C</a:t>
            </a:r>
            <a:r>
              <a:rPr b="0" i="0" lang="en-GB" sz="800" u="none" cap="none" strike="noStrike">
                <a:solidFill>
                  <a:srgbClr val="FFFFFF"/>
                </a:solidFill>
                <a:latin typeface="Arial"/>
                <a:ea typeface="Arial"/>
                <a:cs typeface="Arial"/>
                <a:sym typeface="Arial"/>
              </a:rPr>
              <a:t> isotherm, the layer a cyclone feeds on.</a:t>
            </a:r>
            <a:endParaRPr/>
          </a:p>
        </p:txBody>
      </p:sp>
      <p:sp>
        <p:nvSpPr>
          <p:cNvPr id="412" name="Google Shape;412;p41"/>
          <p:cNvSpPr/>
          <p:nvPr/>
        </p:nvSpPr>
        <p:spPr>
          <a:xfrm>
            <a:off x="2402586" y="3986784"/>
            <a:ext cx="2210700" cy="658500"/>
          </a:xfrm>
          <a:prstGeom prst="chevron">
            <a:avLst>
              <a:gd fmla="val 50000" name="adj"/>
            </a:avLst>
          </a:prstGeom>
          <a:solidFill>
            <a:srgbClr val="11777A"/>
          </a:solidFill>
          <a:ln>
            <a:noFill/>
          </a:ln>
        </p:spPr>
        <p:txBody>
          <a:bodyPr anchorCtr="0" anchor="ctr" bIns="18275" lIns="146300"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2   CHECK THE MODEL</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The card says the field is </a:t>
            </a:r>
            <a:r>
              <a:rPr lang="en-GB" sz="800">
                <a:solidFill>
                  <a:srgbClr val="FFFFFF"/>
                </a:solidFill>
              </a:rPr>
              <a:t>2.07°C</a:t>
            </a:r>
            <a:r>
              <a:rPr b="0" i="0" lang="en-GB" sz="800" u="none" cap="none" strike="noStrike">
                <a:solidFill>
                  <a:srgbClr val="FFFFFF"/>
                </a:solidFill>
                <a:latin typeface="Arial"/>
                <a:ea typeface="Arial"/>
                <a:cs typeface="Arial"/>
                <a:sym typeface="Arial"/>
              </a:rPr>
              <a:t> off across 50 to 100 m.</a:t>
            </a:r>
            <a:endParaRPr/>
          </a:p>
        </p:txBody>
      </p:sp>
      <p:sp>
        <p:nvSpPr>
          <p:cNvPr id="413" name="Google Shape;413;p41"/>
          <p:cNvSpPr/>
          <p:nvPr/>
        </p:nvSpPr>
        <p:spPr>
          <a:xfrm>
            <a:off x="4530852" y="3986784"/>
            <a:ext cx="2210700" cy="658500"/>
          </a:xfrm>
          <a:prstGeom prst="chevron">
            <a:avLst>
              <a:gd fmla="val 50000" name="adj"/>
            </a:avLst>
          </a:prstGeom>
          <a:solidFill>
            <a:srgbClr val="11777A"/>
          </a:solidFill>
          <a:ln>
            <a:noFill/>
          </a:ln>
        </p:spPr>
        <p:txBody>
          <a:bodyPr anchorCtr="0" anchor="ctr" bIns="18275" lIns="146300"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3   CONFIRM AGAINST THE WATER</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Click the nearest Argo float. Its measured profile against the model.</a:t>
            </a:r>
            <a:endParaRPr/>
          </a:p>
        </p:txBody>
      </p:sp>
      <p:sp>
        <p:nvSpPr>
          <p:cNvPr id="414" name="Google Shape;414;p41"/>
          <p:cNvSpPr/>
          <p:nvPr/>
        </p:nvSpPr>
        <p:spPr>
          <a:xfrm>
            <a:off x="6659118" y="3986784"/>
            <a:ext cx="2210700" cy="658500"/>
          </a:xfrm>
          <a:prstGeom prst="chevron">
            <a:avLst>
              <a:gd fmla="val 50000" name="adj"/>
            </a:avLst>
          </a:prstGeom>
          <a:solidFill>
            <a:srgbClr val="C03A2B"/>
          </a:solidFill>
          <a:ln>
            <a:noFill/>
          </a:ln>
        </p:spPr>
        <p:txBody>
          <a:bodyPr anchorCtr="0" anchor="ctr" bIns="18275" lIns="146300"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4   PUT THE WARNING IN CONTEXT</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The CAP bulletin is drawn over the water it concerns. Network off.</a:t>
            </a:r>
            <a:endParaRPr/>
          </a:p>
        </p:txBody>
      </p:sp>
      <p:sp>
        <p:nvSpPr>
          <p:cNvPr id="415" name="Google Shape;415;p41"/>
          <p:cNvSpPr/>
          <p:nvPr/>
        </p:nvSpPr>
        <p:spPr>
          <a:xfrm>
            <a:off x="6392112" y="2208276"/>
            <a:ext cx="2263200" cy="2058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                   NATIONAL ALIGNMENT</a:t>
            </a:r>
            <a:endParaRPr b="0" i="0" sz="1100" u="none" cap="none" strike="noStrike">
              <a:solidFill>
                <a:srgbClr val="000000"/>
              </a:solidFill>
              <a:latin typeface="Arial"/>
              <a:ea typeface="Arial"/>
              <a:cs typeface="Arial"/>
              <a:sym typeface="Arial"/>
            </a:endParaRPr>
          </a:p>
        </p:txBody>
      </p:sp>
      <p:sp>
        <p:nvSpPr>
          <p:cNvPr id="416" name="Google Shape;416;p41"/>
          <p:cNvSpPr/>
          <p:nvPr/>
        </p:nvSpPr>
        <p:spPr>
          <a:xfrm>
            <a:off x="6083045" y="2455164"/>
            <a:ext cx="2880300" cy="1193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7" name="Google Shape;417;p41"/>
          <p:cNvSpPr/>
          <p:nvPr/>
        </p:nvSpPr>
        <p:spPr>
          <a:xfrm>
            <a:off x="6165341" y="253746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Digital India</a:t>
            </a:r>
            <a:endParaRPr b="0" i="0" sz="1300" u="none" cap="none" strike="noStrike">
              <a:solidFill>
                <a:srgbClr val="000000"/>
              </a:solidFill>
              <a:latin typeface="Arial"/>
              <a:ea typeface="Arial"/>
              <a:cs typeface="Arial"/>
              <a:sym typeface="Arial"/>
            </a:endParaRPr>
          </a:p>
        </p:txBody>
      </p:sp>
      <p:sp>
        <p:nvSpPr>
          <p:cNvPr id="418" name="Google Shape;418;p41"/>
          <p:cNvSpPr/>
          <p:nvPr/>
        </p:nvSpPr>
        <p:spPr>
          <a:xfrm>
            <a:off x="7564374" y="253746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Deep Ocean Mission</a:t>
            </a:r>
            <a:endParaRPr b="0" i="0" sz="1300" u="none" cap="none" strike="noStrike">
              <a:solidFill>
                <a:srgbClr val="000000"/>
              </a:solidFill>
              <a:latin typeface="Arial"/>
              <a:ea typeface="Arial"/>
              <a:cs typeface="Arial"/>
              <a:sym typeface="Arial"/>
            </a:endParaRPr>
          </a:p>
        </p:txBody>
      </p:sp>
      <p:sp>
        <p:nvSpPr>
          <p:cNvPr id="419" name="Google Shape;419;p41"/>
          <p:cNvSpPr/>
          <p:nvPr/>
        </p:nvSpPr>
        <p:spPr>
          <a:xfrm>
            <a:off x="6165341" y="281178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Blue Economy</a:t>
            </a:r>
            <a:endParaRPr b="0" i="0" sz="1300" u="none" cap="none" strike="noStrike">
              <a:solidFill>
                <a:srgbClr val="000000"/>
              </a:solidFill>
              <a:latin typeface="Arial"/>
              <a:ea typeface="Arial"/>
              <a:cs typeface="Arial"/>
              <a:sym typeface="Arial"/>
            </a:endParaRPr>
          </a:p>
        </p:txBody>
      </p:sp>
      <p:sp>
        <p:nvSpPr>
          <p:cNvPr id="420" name="Google Shape;420;p41"/>
          <p:cNvSpPr/>
          <p:nvPr/>
        </p:nvSpPr>
        <p:spPr>
          <a:xfrm>
            <a:off x="7564374" y="281178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SAGAR / MoES mandate</a:t>
            </a:r>
            <a:endParaRPr b="0" i="0" sz="1300" u="none" cap="none" strike="noStrike">
              <a:solidFill>
                <a:srgbClr val="000000"/>
              </a:solidFill>
              <a:latin typeface="Arial"/>
              <a:ea typeface="Arial"/>
              <a:cs typeface="Arial"/>
              <a:sym typeface="Arial"/>
            </a:endParaRPr>
          </a:p>
        </p:txBody>
      </p:sp>
      <p:sp>
        <p:nvSpPr>
          <p:cNvPr id="421" name="Google Shape;421;p41"/>
          <p:cNvSpPr/>
          <p:nvPr/>
        </p:nvSpPr>
        <p:spPr>
          <a:xfrm>
            <a:off x="6165341" y="308610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UN SDG 14: Life Below Water</a:t>
            </a:r>
            <a:endParaRPr b="0" i="0" sz="1300" u="none" cap="none" strike="noStrike">
              <a:solidFill>
                <a:srgbClr val="000000"/>
              </a:solidFill>
              <a:latin typeface="Arial"/>
              <a:ea typeface="Arial"/>
              <a:cs typeface="Arial"/>
              <a:sym typeface="Arial"/>
            </a:endParaRPr>
          </a:p>
        </p:txBody>
      </p:sp>
      <p:sp>
        <p:nvSpPr>
          <p:cNvPr id="422" name="Google Shape;422;p41"/>
          <p:cNvSpPr/>
          <p:nvPr/>
        </p:nvSpPr>
        <p:spPr>
          <a:xfrm>
            <a:off x="7564374" y="308610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Deployable on INCOIS infrastructure</a:t>
            </a:r>
            <a:endParaRPr b="0" i="0" sz="1100" u="none" cap="none" strike="noStrike">
              <a:solidFill>
                <a:srgbClr val="000000"/>
              </a:solidFill>
              <a:latin typeface="Arial"/>
              <a:ea typeface="Arial"/>
              <a:cs typeface="Arial"/>
              <a:sym typeface="Arial"/>
            </a:endParaRPr>
          </a:p>
        </p:txBody>
      </p:sp>
      <p:sp>
        <p:nvSpPr>
          <p:cNvPr id="423" name="Google Shape;423;p41"/>
          <p:cNvSpPr txBox="1"/>
          <p:nvPr/>
        </p:nvSpPr>
        <p:spPr>
          <a:xfrm>
            <a:off x="6165341" y="3362027"/>
            <a:ext cx="2715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556471"/>
                </a:solidFill>
                <a:latin typeface="Calibri"/>
                <a:ea typeface="Calibri"/>
                <a:cs typeface="Calibri"/>
                <a:sym typeface="Calibri"/>
              </a:rPr>
              <a:t>The PS is an internal INCOIS tooling request, so the deployment story is native rather than argued.</a:t>
            </a:r>
            <a:endParaRPr b="0" i="0" sz="1200" u="none" cap="none" strike="noStrike">
              <a:solidFill>
                <a:srgbClr val="000000"/>
              </a:solidFill>
              <a:latin typeface="Arial"/>
              <a:ea typeface="Arial"/>
              <a:cs typeface="Arial"/>
              <a:sym typeface="Arial"/>
            </a:endParaRPr>
          </a:p>
        </p:txBody>
      </p:sp>
      <p:sp>
        <p:nvSpPr>
          <p:cNvPr id="424" name="Google Shape;424;p41"/>
          <p:cNvSpPr/>
          <p:nvPr/>
        </p:nvSpPr>
        <p:spPr>
          <a:xfrm>
            <a:off x="178308"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5" name="Google Shape;425;p41"/>
          <p:cNvSpPr/>
          <p:nvPr/>
        </p:nvSpPr>
        <p:spPr>
          <a:xfrm>
            <a:off x="178308" y="1083564"/>
            <a:ext cx="1680300" cy="411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6" name="Google Shape;426;p41"/>
          <p:cNvSpPr txBox="1"/>
          <p:nvPr/>
        </p:nvSpPr>
        <p:spPr>
          <a:xfrm>
            <a:off x="253750" y="1193300"/>
            <a:ext cx="1604700" cy="5709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C44528"/>
                </a:solidFill>
                <a:latin typeface="Calibri"/>
                <a:ea typeface="Calibri"/>
                <a:cs typeface="Calibri"/>
                <a:sym typeface="Calibri"/>
              </a:rPr>
              <a:t>DISASTER MANAGERS</a:t>
            </a:r>
            <a:endParaRPr b="1"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1" i="0" lang="en-GB" sz="900" u="none" cap="none" strike="noStrike">
                <a:solidFill>
                  <a:srgbClr val="14202B"/>
                </a:solidFill>
                <a:latin typeface="Calibri"/>
                <a:ea typeface="Calibri"/>
                <a:cs typeface="Calibri"/>
                <a:sym typeface="Calibri"/>
              </a:rPr>
              <a:t>A tsunami or high-wave CAP bulletin becomes a shape on the water.</a:t>
            </a:r>
            <a:endParaRPr b="0" i="0" sz="1300" u="none" cap="none" strike="noStrike">
              <a:solidFill>
                <a:srgbClr val="000000"/>
              </a:solidFill>
              <a:latin typeface="Arial"/>
              <a:ea typeface="Arial"/>
              <a:cs typeface="Arial"/>
              <a:sym typeface="Arial"/>
            </a:endParaRPr>
          </a:p>
        </p:txBody>
      </p:sp>
      <p:sp>
        <p:nvSpPr>
          <p:cNvPr id="427" name="Google Shape;427;p41"/>
          <p:cNvSpPr/>
          <p:nvPr/>
        </p:nvSpPr>
        <p:spPr>
          <a:xfrm>
            <a:off x="1954530"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8" name="Google Shape;428;p41"/>
          <p:cNvSpPr/>
          <p:nvPr/>
        </p:nvSpPr>
        <p:spPr>
          <a:xfrm>
            <a:off x="1954530" y="1083564"/>
            <a:ext cx="1680300" cy="41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9" name="Google Shape;429;p41"/>
          <p:cNvSpPr txBox="1"/>
          <p:nvPr/>
        </p:nvSpPr>
        <p:spPr>
          <a:xfrm>
            <a:off x="2029968" y="1193292"/>
            <a:ext cx="1529400" cy="4404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0B2E4F"/>
                </a:solidFill>
                <a:latin typeface="Calibri"/>
                <a:ea typeface="Calibri"/>
                <a:cs typeface="Calibri"/>
                <a:sym typeface="Calibri"/>
              </a:rPr>
              <a:t>OPERATIONAL FORECASTERS</a:t>
            </a:r>
            <a:endParaRPr b="0"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“Can I trust today's field?” answered per depth band.</a:t>
            </a:r>
            <a:endParaRPr b="0" i="0" sz="1300" u="none" cap="none" strike="noStrike">
              <a:solidFill>
                <a:srgbClr val="000000"/>
              </a:solidFill>
              <a:latin typeface="Arial"/>
              <a:ea typeface="Arial"/>
              <a:cs typeface="Arial"/>
              <a:sym typeface="Arial"/>
            </a:endParaRPr>
          </a:p>
        </p:txBody>
      </p:sp>
      <p:sp>
        <p:nvSpPr>
          <p:cNvPr id="430" name="Google Shape;430;p41"/>
          <p:cNvSpPr/>
          <p:nvPr/>
        </p:nvSpPr>
        <p:spPr>
          <a:xfrm>
            <a:off x="3730752"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1" name="Google Shape;431;p41"/>
          <p:cNvSpPr/>
          <p:nvPr/>
        </p:nvSpPr>
        <p:spPr>
          <a:xfrm>
            <a:off x="3730752" y="1083564"/>
            <a:ext cx="1680300" cy="41100"/>
          </a:xfrm>
          <a:prstGeom prst="rect">
            <a:avLst/>
          </a:prstGeom>
          <a:solidFill>
            <a:srgbClr val="12688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2" name="Google Shape;432;p41"/>
          <p:cNvSpPr txBox="1"/>
          <p:nvPr/>
        </p:nvSpPr>
        <p:spPr>
          <a:xfrm>
            <a:off x="3806190" y="1193292"/>
            <a:ext cx="1529400" cy="4404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12688F"/>
                </a:solidFill>
                <a:latin typeface="Calibri"/>
                <a:ea typeface="Calibri"/>
                <a:cs typeface="Calibri"/>
                <a:sym typeface="Calibri"/>
              </a:rPr>
              <a:t>SEARCH AND RESCUE</a:t>
            </a:r>
            <a:endParaRPr b="1"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Depth-resolved currents, which is what a drifting object follows.</a:t>
            </a:r>
            <a:endParaRPr b="0" i="0" sz="1300" u="none" cap="none" strike="noStrike">
              <a:solidFill>
                <a:srgbClr val="000000"/>
              </a:solidFill>
              <a:latin typeface="Arial"/>
              <a:ea typeface="Arial"/>
              <a:cs typeface="Arial"/>
              <a:sym typeface="Arial"/>
            </a:endParaRPr>
          </a:p>
        </p:txBody>
      </p:sp>
      <p:sp>
        <p:nvSpPr>
          <p:cNvPr id="433" name="Google Shape;433;p41"/>
          <p:cNvSpPr/>
          <p:nvPr/>
        </p:nvSpPr>
        <p:spPr>
          <a:xfrm>
            <a:off x="5506974"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4" name="Google Shape;434;p41"/>
          <p:cNvSpPr/>
          <p:nvPr/>
        </p:nvSpPr>
        <p:spPr>
          <a:xfrm>
            <a:off x="5506974" y="1083564"/>
            <a:ext cx="1680300" cy="411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5" name="Google Shape;435;p41"/>
          <p:cNvSpPr txBox="1"/>
          <p:nvPr/>
        </p:nvSpPr>
        <p:spPr>
          <a:xfrm>
            <a:off x="5582412" y="1193292"/>
            <a:ext cx="1529400" cy="5709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0E8C9A"/>
                </a:solidFill>
                <a:latin typeface="Calibri"/>
                <a:ea typeface="Calibri"/>
                <a:cs typeface="Calibri"/>
                <a:sym typeface="Calibri"/>
              </a:rPr>
              <a:t>FISHERY ADVISORIES</a:t>
            </a:r>
            <a:endParaRPr b="1"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Subsurface temperature behind advisories reaching ~9 lakh households.</a:t>
            </a:r>
            <a:endParaRPr b="0" i="0" sz="1300" u="none" cap="none" strike="noStrike">
              <a:solidFill>
                <a:srgbClr val="000000"/>
              </a:solidFill>
              <a:latin typeface="Arial"/>
              <a:ea typeface="Arial"/>
              <a:cs typeface="Arial"/>
              <a:sym typeface="Arial"/>
            </a:endParaRPr>
          </a:p>
        </p:txBody>
      </p:sp>
      <p:sp>
        <p:nvSpPr>
          <p:cNvPr id="436" name="Google Shape;436;p41"/>
          <p:cNvSpPr/>
          <p:nvPr/>
        </p:nvSpPr>
        <p:spPr>
          <a:xfrm>
            <a:off x="7283196"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7" name="Google Shape;437;p41"/>
          <p:cNvSpPr/>
          <p:nvPr/>
        </p:nvSpPr>
        <p:spPr>
          <a:xfrm>
            <a:off x="7283196" y="1083564"/>
            <a:ext cx="1680300" cy="411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8" name="Google Shape;438;p41"/>
          <p:cNvSpPr txBox="1"/>
          <p:nvPr/>
        </p:nvSpPr>
        <p:spPr>
          <a:xfrm>
            <a:off x="7358634" y="1193292"/>
            <a:ext cx="1529400" cy="5820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B87A1F"/>
                </a:solidFill>
                <a:latin typeface="Calibri"/>
                <a:ea typeface="Calibri"/>
                <a:cs typeface="Calibri"/>
                <a:sym typeface="Calibri"/>
              </a:rPr>
              <a:t>RESEARCH, EDUCATION, OUTREACH</a:t>
            </a:r>
            <a:endParaRPr b="0"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Guided tours narrate the ocean for schools and exhibitions.</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2"/>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GODAE OceanView Class 4 verification Ryan 2015 Wong 2020 Argo quality control TEOS-10 equation of seawater Qin 2021 Yu 2025 Argovis pyParaOcean Signell 2019 CF Conventions OASIS CAP v1.2 interoperability national international ocean data portals</a:t>
            </a:r>
            <a:endParaRPr/>
          </a:p>
        </p:txBody>
      </p:sp>
      <p:sp>
        <p:nvSpPr>
          <p:cNvPr id="445" name="Google Shape;445;p42"/>
          <p:cNvSpPr/>
          <p:nvPr/>
        </p:nvSpPr>
        <p:spPr>
          <a:xfrm>
            <a:off x="0" y="4869575"/>
            <a:ext cx="9144000" cy="2739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446" name="Google Shape;446;p42"/>
          <p:cNvSpPr txBox="1"/>
          <p:nvPr>
            <p:ph type="title"/>
          </p:nvPr>
        </p:nvSpPr>
        <p:spPr>
          <a:xfrm>
            <a:off x="1275588" y="41148"/>
            <a:ext cx="7338000" cy="630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1100"/>
              <a:buNone/>
            </a:pPr>
            <a:r>
              <a:rPr b="1" i="0" lang="en-GB" sz="2000">
                <a:solidFill>
                  <a:srgbClr val="0B2E4F"/>
                </a:solidFill>
                <a:latin typeface="Times New Roman"/>
                <a:ea typeface="Times New Roman"/>
                <a:cs typeface="Times New Roman"/>
                <a:sym typeface="Times New Roman"/>
              </a:rPr>
              <a:t>RESEARCH AND REFERENCES</a:t>
            </a:r>
            <a:endParaRPr sz="1100"/>
          </a:p>
        </p:txBody>
      </p:sp>
      <p:sp>
        <p:nvSpPr>
          <p:cNvPr id="447" name="Google Shape;447;p42"/>
          <p:cNvSpPr txBox="1"/>
          <p:nvPr>
            <p:ph idx="12" type="sldNum"/>
          </p:nvPr>
        </p:nvSpPr>
        <p:spPr>
          <a:xfrm>
            <a:off x="6553200" y="4867347"/>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448" name="Google Shape;448;p42"/>
          <p:cNvSpPr txBox="1"/>
          <p:nvPr>
            <p:ph idx="11" type="ftr"/>
          </p:nvPr>
        </p:nvSpPr>
        <p:spPr>
          <a:xfrm>
            <a:off x="3396599" y="4846738"/>
            <a:ext cx="24030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700">
                <a:solidFill>
                  <a:srgbClr val="FFFFFF"/>
                </a:solidFill>
                <a:latin typeface="Calibri"/>
                <a:ea typeface="Calibri"/>
                <a:cs typeface="Calibri"/>
                <a:sym typeface="Calibri"/>
              </a:rPr>
              <a:t>SagarDrishti  ·  PS SIH26067  ·  @SIH Idea Submission</a:t>
            </a:r>
            <a:endParaRPr b="0" i="0" sz="900" u="none" cap="none" strike="noStrike">
              <a:solidFill>
                <a:srgbClr val="FFFFFF"/>
              </a:solidFill>
              <a:latin typeface="Oswald"/>
              <a:ea typeface="Oswald"/>
              <a:cs typeface="Oswald"/>
              <a:sym typeface="Oswald"/>
            </a:endParaRPr>
          </a:p>
        </p:txBody>
      </p:sp>
      <p:pic>
        <p:nvPicPr>
          <p:cNvPr id="449" name="Google Shape;449;p42"/>
          <p:cNvPicPr preferRelativeResize="0"/>
          <p:nvPr/>
        </p:nvPicPr>
        <p:blipFill rotWithShape="1">
          <a:blip r:embed="rId3">
            <a:alphaModFix/>
          </a:blip>
          <a:srcRect b="0" l="0" r="0" t="0"/>
          <a:stretch/>
        </p:blipFill>
        <p:spPr>
          <a:xfrm>
            <a:off x="7813772" y="-6708"/>
            <a:ext cx="1282120" cy="605400"/>
          </a:xfrm>
          <a:prstGeom prst="rect">
            <a:avLst/>
          </a:prstGeom>
          <a:noFill/>
          <a:ln>
            <a:noFill/>
          </a:ln>
        </p:spPr>
      </p:pic>
      <p:sp>
        <p:nvSpPr>
          <p:cNvPr id="450" name="Google Shape;450;p42"/>
          <p:cNvSpPr/>
          <p:nvPr/>
        </p:nvSpPr>
        <p:spPr>
          <a:xfrm>
            <a:off x="188775" y="798057"/>
            <a:ext cx="3497700" cy="2058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DETAILS AND LINKS OF THE REFERENCE AND RESEARCH WORK</a:t>
            </a:r>
            <a:endParaRPr b="0" i="0" sz="1100" u="none" cap="none" strike="noStrike">
              <a:solidFill>
                <a:srgbClr val="000000"/>
              </a:solidFill>
              <a:latin typeface="Arial"/>
              <a:ea typeface="Arial"/>
              <a:cs typeface="Arial"/>
              <a:sym typeface="Arial"/>
            </a:endParaRPr>
          </a:p>
        </p:txBody>
      </p:sp>
      <p:sp>
        <p:nvSpPr>
          <p:cNvPr id="451" name="Google Shape;451;p42"/>
          <p:cNvSpPr txBox="1"/>
          <p:nvPr/>
        </p:nvSpPr>
        <p:spPr>
          <a:xfrm>
            <a:off x="178308" y="1110996"/>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E8C9A"/>
                </a:solidFill>
                <a:latin typeface="Calibri"/>
                <a:ea typeface="Calibri"/>
                <a:cs typeface="Calibri"/>
                <a:sym typeface="Calibri"/>
              </a:rPr>
              <a:t>METHOD AND VERIFICATION</a:t>
            </a:r>
            <a:endParaRPr b="0" i="0" sz="1300" u="none" cap="none" strike="noStrike">
              <a:solidFill>
                <a:srgbClr val="000000"/>
              </a:solidFill>
              <a:latin typeface="Arial"/>
              <a:ea typeface="Arial"/>
              <a:cs typeface="Arial"/>
              <a:sym typeface="Arial"/>
            </a:endParaRPr>
          </a:p>
        </p:txBody>
      </p:sp>
      <p:sp>
        <p:nvSpPr>
          <p:cNvPr id="452" name="Google Shape;452;p42"/>
          <p:cNvSpPr txBox="1"/>
          <p:nvPr/>
        </p:nvSpPr>
        <p:spPr>
          <a:xfrm>
            <a:off x="178308" y="1241298"/>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4"/>
              </a:rPr>
              <a:t>Ryan et al. 2015: GODAE OceanView Class 4 verification, J. Op. Oceanogr. 8</a:t>
            </a:r>
            <a:r>
              <a:rPr b="0" i="1" lang="en-GB" sz="800" u="none" cap="none" strike="noStrike">
                <a:solidFill>
                  <a:srgbClr val="556471"/>
                </a:solidFill>
                <a:latin typeface="Calibri"/>
                <a:ea typeface="Calibri"/>
                <a:cs typeface="Calibri"/>
                <a:sym typeface="Calibri"/>
              </a:rPr>
              <a:t>   ·  the method behind our scorecard</a:t>
            </a:r>
            <a:endParaRPr b="0" i="0" sz="1300" u="none" cap="none" strike="noStrike">
              <a:solidFill>
                <a:srgbClr val="000000"/>
              </a:solidFill>
              <a:latin typeface="Arial"/>
              <a:ea typeface="Arial"/>
              <a:cs typeface="Arial"/>
              <a:sym typeface="Arial"/>
            </a:endParaRPr>
          </a:p>
        </p:txBody>
      </p:sp>
      <p:sp>
        <p:nvSpPr>
          <p:cNvPr id="453" name="Google Shape;453;p42"/>
          <p:cNvSpPr txBox="1"/>
          <p:nvPr/>
        </p:nvSpPr>
        <p:spPr>
          <a:xfrm>
            <a:off x="178308" y="134965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5"/>
              </a:rPr>
              <a:t>Wong et al. 2020: Argo data and its QC flags, Front. Mar. Sci. 7:700</a:t>
            </a:r>
            <a:r>
              <a:rPr b="0" i="1" lang="en-GB" sz="800" u="none" cap="none" strike="noStrike">
                <a:solidFill>
                  <a:srgbClr val="556471"/>
                </a:solidFill>
                <a:latin typeface="Calibri"/>
                <a:ea typeface="Calibri"/>
                <a:cs typeface="Calibri"/>
                <a:sym typeface="Calibri"/>
              </a:rPr>
              <a:t>   ·  why we keep only flags 1 and 2</a:t>
            </a:r>
            <a:endParaRPr b="0" i="0" sz="1300" u="none" cap="none" strike="noStrike">
              <a:solidFill>
                <a:srgbClr val="000000"/>
              </a:solidFill>
              <a:latin typeface="Arial"/>
              <a:ea typeface="Arial"/>
              <a:cs typeface="Arial"/>
              <a:sym typeface="Arial"/>
            </a:endParaRPr>
          </a:p>
        </p:txBody>
      </p:sp>
      <p:sp>
        <p:nvSpPr>
          <p:cNvPr id="454" name="Google Shape;454;p42"/>
          <p:cNvSpPr txBox="1"/>
          <p:nvPr/>
        </p:nvSpPr>
        <p:spPr>
          <a:xfrm>
            <a:off x="178308" y="1458011"/>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6"/>
              </a:rPr>
              <a:t>IOC, SCOR, IAPSO: TEOS-10 thermodynamic equation of seawater</a:t>
            </a:r>
            <a:r>
              <a:rPr b="0" i="1" lang="en-GB" sz="800" u="none" cap="none" strike="noStrike">
                <a:solidFill>
                  <a:srgbClr val="556471"/>
                </a:solidFill>
                <a:latin typeface="Calibri"/>
                <a:ea typeface="Calibri"/>
                <a:cs typeface="Calibri"/>
                <a:sym typeface="Calibri"/>
              </a:rPr>
              <a:t>   ·  our density field</a:t>
            </a:r>
            <a:endParaRPr b="0" i="0" sz="1300" u="none" cap="none" strike="noStrike">
              <a:solidFill>
                <a:srgbClr val="000000"/>
              </a:solidFill>
              <a:latin typeface="Arial"/>
              <a:ea typeface="Arial"/>
              <a:cs typeface="Arial"/>
              <a:sym typeface="Arial"/>
            </a:endParaRPr>
          </a:p>
        </p:txBody>
      </p:sp>
      <p:sp>
        <p:nvSpPr>
          <p:cNvPr id="455" name="Google Shape;455;p42"/>
          <p:cNvSpPr txBox="1"/>
          <p:nvPr/>
        </p:nvSpPr>
        <p:spPr>
          <a:xfrm>
            <a:off x="178308" y="1566367"/>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7"/>
              </a:rPr>
              <a:t>Balakrishnan Nair et al. 2013: INCOIS Ocean State Forecast validation, Current Science 105(2)</a:t>
            </a:r>
            <a:r>
              <a:rPr b="0" i="1" lang="en-GB" sz="800" u="none" cap="none" strike="noStrike">
                <a:solidFill>
                  <a:srgbClr val="556471"/>
                </a:solidFill>
                <a:latin typeface="Calibri"/>
                <a:ea typeface="Calibri"/>
                <a:cs typeface="Calibri"/>
                <a:sym typeface="Calibri"/>
              </a:rPr>
              <a:t>   ·  the Indian validation precedent</a:t>
            </a:r>
            <a:endParaRPr b="0" i="0" sz="1300" u="none" cap="none" strike="noStrike">
              <a:solidFill>
                <a:srgbClr val="000000"/>
              </a:solidFill>
              <a:latin typeface="Arial"/>
              <a:ea typeface="Arial"/>
              <a:cs typeface="Arial"/>
              <a:sym typeface="Arial"/>
            </a:endParaRPr>
          </a:p>
        </p:txBody>
      </p:sp>
      <p:sp>
        <p:nvSpPr>
          <p:cNvPr id="456" name="Google Shape;456;p42"/>
          <p:cNvSpPr txBox="1"/>
          <p:nvPr/>
        </p:nvSpPr>
        <p:spPr>
          <a:xfrm>
            <a:off x="178308" y="1753590"/>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GB" sz="800" u="none" cap="none" strike="noStrike">
                <a:solidFill>
                  <a:srgbClr val="12688F"/>
                </a:solidFill>
                <a:latin typeface="Calibri"/>
                <a:ea typeface="Calibri"/>
                <a:cs typeface="Calibri"/>
                <a:sym typeface="Calibri"/>
              </a:rPr>
              <a:t>WEB 3D OCEAN VISUALISATION</a:t>
            </a:r>
            <a:endParaRPr b="0" i="0" sz="1300" u="none" cap="none" strike="noStrike">
              <a:solidFill>
                <a:srgbClr val="000000"/>
              </a:solidFill>
              <a:latin typeface="Arial"/>
              <a:ea typeface="Arial"/>
              <a:cs typeface="Arial"/>
              <a:sym typeface="Arial"/>
            </a:endParaRPr>
          </a:p>
        </p:txBody>
      </p:sp>
      <p:sp>
        <p:nvSpPr>
          <p:cNvPr id="457" name="Google Shape;457;p42"/>
          <p:cNvSpPr txBox="1"/>
          <p:nvPr/>
        </p:nvSpPr>
        <p:spPr>
          <a:xfrm>
            <a:off x="178308" y="1883892"/>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8"/>
              </a:rPr>
              <a:t>Qin et al. 2021: Web 3D framework for time-varying ocean forecast data, Env. Modelling &amp; Software 135</a:t>
            </a:r>
            <a:r>
              <a:rPr b="0" i="1" lang="en-GB" sz="800" u="none" cap="none" strike="noStrike">
                <a:solidFill>
                  <a:srgbClr val="556471"/>
                </a:solidFill>
                <a:latin typeface="Calibri"/>
                <a:ea typeface="Calibri"/>
                <a:cs typeface="Calibri"/>
                <a:sym typeface="Calibri"/>
              </a:rPr>
              <a:t>   ·  the closest ancestor</a:t>
            </a:r>
            <a:endParaRPr b="0" i="0" sz="1300" u="none" cap="none" strike="noStrike">
              <a:solidFill>
                <a:srgbClr val="000000"/>
              </a:solidFill>
              <a:latin typeface="Arial"/>
              <a:ea typeface="Arial"/>
              <a:cs typeface="Arial"/>
              <a:sym typeface="Arial"/>
            </a:endParaRPr>
          </a:p>
        </p:txBody>
      </p:sp>
      <p:sp>
        <p:nvSpPr>
          <p:cNvPr id="458" name="Google Shape;458;p42"/>
          <p:cNvSpPr txBox="1"/>
          <p:nvPr/>
        </p:nvSpPr>
        <p:spPr>
          <a:xfrm>
            <a:off x="178308" y="199224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9"/>
              </a:rPr>
              <a:t>Yu, Qin &amp; Xu 2025: WebGPU volume rendering of ocean scalars, Applied Sciences 15(5):2782</a:t>
            </a:r>
            <a:r>
              <a:rPr b="0" i="1" lang="en-GB" sz="800" u="none" cap="none" strike="noStrike">
                <a:solidFill>
                  <a:srgbClr val="556471"/>
                </a:solidFill>
                <a:latin typeface="Calibri"/>
                <a:ea typeface="Calibri"/>
                <a:cs typeface="Calibri"/>
                <a:sym typeface="Calibri"/>
              </a:rPr>
              <a:t>   ·  our rendering optimisations</a:t>
            </a:r>
            <a:endParaRPr b="0" i="0" sz="1300" u="none" cap="none" strike="noStrike">
              <a:solidFill>
                <a:srgbClr val="000000"/>
              </a:solidFill>
              <a:latin typeface="Arial"/>
              <a:ea typeface="Arial"/>
              <a:cs typeface="Arial"/>
              <a:sym typeface="Arial"/>
            </a:endParaRPr>
          </a:p>
        </p:txBody>
      </p:sp>
      <p:sp>
        <p:nvSpPr>
          <p:cNvPr id="459" name="Google Shape;459;p42"/>
          <p:cNvSpPr txBox="1"/>
          <p:nvPr/>
        </p:nvSpPr>
        <p:spPr>
          <a:xfrm>
            <a:off x="178308" y="2100605"/>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0"/>
              </a:rPr>
              <a:t>Tucker et al. 2020: Argovis, J. Atmos. Ocean. Tech. 37(3):401</a:t>
            </a:r>
            <a:r>
              <a:rPr b="0" i="1" lang="en-GB" sz="800" u="none" cap="none" strike="noStrike">
                <a:solidFill>
                  <a:srgbClr val="556471"/>
                </a:solidFill>
                <a:latin typeface="Calibri"/>
                <a:ea typeface="Calibri"/>
                <a:cs typeface="Calibri"/>
                <a:sym typeface="Calibri"/>
              </a:rPr>
              <a:t>   ·  the API contract we follow</a:t>
            </a:r>
            <a:endParaRPr b="0" i="0" sz="1300" u="none" cap="none" strike="noStrike">
              <a:solidFill>
                <a:srgbClr val="000000"/>
              </a:solidFill>
              <a:latin typeface="Arial"/>
              <a:ea typeface="Arial"/>
              <a:cs typeface="Arial"/>
              <a:sym typeface="Arial"/>
            </a:endParaRPr>
          </a:p>
        </p:txBody>
      </p:sp>
      <p:sp>
        <p:nvSpPr>
          <p:cNvPr id="460" name="Google Shape;460;p42"/>
          <p:cNvSpPr txBox="1"/>
          <p:nvPr/>
        </p:nvSpPr>
        <p:spPr>
          <a:xfrm>
            <a:off x="178308" y="2208962"/>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1"/>
              </a:rPr>
              <a:t>Blower et al. 2013: ncWMS, Env. Modelling &amp; Software 47</a:t>
            </a:r>
            <a:r>
              <a:rPr b="0" i="1" lang="en-GB" sz="800" u="none" cap="none" strike="noStrike">
                <a:solidFill>
                  <a:srgbClr val="556471"/>
                </a:solidFill>
                <a:latin typeface="Calibri"/>
                <a:ea typeface="Calibri"/>
                <a:cs typeface="Calibri"/>
                <a:sym typeface="Calibri"/>
              </a:rPr>
              <a:t>   ·  OGC WMS over CF-NetCDF</a:t>
            </a:r>
            <a:endParaRPr b="0" i="0" sz="1300" u="none" cap="none" strike="noStrike">
              <a:solidFill>
                <a:srgbClr val="000000"/>
              </a:solidFill>
              <a:latin typeface="Arial"/>
              <a:ea typeface="Arial"/>
              <a:cs typeface="Arial"/>
              <a:sym typeface="Arial"/>
            </a:endParaRPr>
          </a:p>
        </p:txBody>
      </p:sp>
      <p:sp>
        <p:nvSpPr>
          <p:cNvPr id="461" name="Google Shape;461;p42"/>
          <p:cNvSpPr txBox="1"/>
          <p:nvPr/>
        </p:nvSpPr>
        <p:spPr>
          <a:xfrm>
            <a:off x="178308" y="2317318"/>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2"/>
              </a:rPr>
              <a:t>Signell &amp; Pothina 2019: Cloud coastal model analysis, JMSE 7(4):110</a:t>
            </a:r>
            <a:r>
              <a:rPr b="0" i="1" lang="en-GB" sz="800" u="none" cap="none" strike="noStrike">
                <a:solidFill>
                  <a:srgbClr val="556471"/>
                </a:solidFill>
                <a:latin typeface="Calibri"/>
                <a:ea typeface="Calibri"/>
                <a:cs typeface="Calibri"/>
                <a:sym typeface="Calibri"/>
              </a:rPr>
              <a:t>   ·  why Zarr rather than whole NetCDF files</a:t>
            </a:r>
            <a:endParaRPr b="0" i="0" sz="1300" u="none" cap="none" strike="noStrike">
              <a:solidFill>
                <a:srgbClr val="000000"/>
              </a:solidFill>
              <a:latin typeface="Arial"/>
              <a:ea typeface="Arial"/>
              <a:cs typeface="Arial"/>
              <a:sym typeface="Arial"/>
            </a:endParaRPr>
          </a:p>
        </p:txBody>
      </p:sp>
      <p:sp>
        <p:nvSpPr>
          <p:cNvPr id="462" name="Google Shape;462;p42"/>
          <p:cNvSpPr txBox="1"/>
          <p:nvPr/>
        </p:nvSpPr>
        <p:spPr>
          <a:xfrm>
            <a:off x="178308" y="242567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3"/>
              </a:rPr>
              <a:t>pyParaOcean (IISc): desktop ocean volumetrics we bring to the browser</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63" name="Google Shape;463;p42"/>
          <p:cNvSpPr txBox="1"/>
          <p:nvPr/>
        </p:nvSpPr>
        <p:spPr>
          <a:xfrm>
            <a:off x="178308" y="2612897"/>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GB" sz="800" u="none" cap="none" strike="noStrike">
                <a:solidFill>
                  <a:srgbClr val="0B2E4F"/>
                </a:solidFill>
                <a:latin typeface="Calibri"/>
                <a:ea typeface="Calibri"/>
                <a:cs typeface="Calibri"/>
                <a:sym typeface="Calibri"/>
              </a:rPr>
              <a:t>DATA SOURCES WE INGEST</a:t>
            </a:r>
            <a:endParaRPr b="0" i="0" sz="1300" u="none" cap="none" strike="noStrike">
              <a:solidFill>
                <a:srgbClr val="000000"/>
              </a:solidFill>
              <a:latin typeface="Arial"/>
              <a:ea typeface="Arial"/>
              <a:cs typeface="Arial"/>
              <a:sym typeface="Arial"/>
            </a:endParaRPr>
          </a:p>
        </p:txBody>
      </p:sp>
      <p:sp>
        <p:nvSpPr>
          <p:cNvPr id="464" name="Google Shape;464;p42"/>
          <p:cNvSpPr txBox="1"/>
          <p:nvPr/>
        </p:nvSpPr>
        <p:spPr>
          <a:xfrm>
            <a:off x="178308" y="274319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4"/>
              </a:rPr>
              <a:t>INCOIS ERDDAP: the analysis field, 24 levels, 5 to 2000 m</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65" name="Google Shape;465;p42"/>
          <p:cNvSpPr txBox="1"/>
          <p:nvPr/>
        </p:nvSpPr>
        <p:spPr>
          <a:xfrm>
            <a:off x="178308" y="2851556"/>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5"/>
              </a:rPr>
              <a:t>Argo GDAC (Ifremer): Indian Ocean profile files</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66" name="Google Shape;466;p42"/>
          <p:cNvSpPr txBox="1"/>
          <p:nvPr/>
        </p:nvSpPr>
        <p:spPr>
          <a:xfrm>
            <a:off x="178308" y="2959913"/>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6"/>
              </a:rPr>
              <a:t>Copernicus Marine: GLOBAL_ANALYSISFORECAST_PHY_001_024 currents</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67" name="Google Shape;467;p42"/>
          <p:cNvSpPr txBox="1"/>
          <p:nvPr/>
        </p:nvSpPr>
        <p:spPr>
          <a:xfrm>
            <a:off x="178308" y="306826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7"/>
              </a:rPr>
              <a:t>NOAA PMEL: RAMA moored buoy array, Indian Ocean</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68" name="Google Shape;468;p42"/>
          <p:cNvSpPr txBox="1"/>
          <p:nvPr/>
        </p:nvSpPr>
        <p:spPr>
          <a:xfrm>
            <a:off x="178308" y="3176625"/>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8"/>
              </a:rPr>
              <a:t>NDMA SACHET: India's national CAP alert backbone</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69" name="Google Shape;469;p42"/>
          <p:cNvSpPr txBox="1"/>
          <p:nvPr/>
        </p:nvSpPr>
        <p:spPr>
          <a:xfrm>
            <a:off x="178308" y="3284981"/>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9"/>
              </a:rPr>
              <a:t>INCOIS: Indian National Centre for Ocean Information Services</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70" name="Google Shape;470;p42"/>
          <p:cNvSpPr txBox="1"/>
          <p:nvPr/>
        </p:nvSpPr>
        <p:spPr>
          <a:xfrm>
            <a:off x="178308" y="3472205"/>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GB" sz="800" u="none" cap="none" strike="noStrike">
                <a:solidFill>
                  <a:srgbClr val="B87A1F"/>
                </a:solidFill>
                <a:latin typeface="Calibri"/>
                <a:ea typeface="Calibri"/>
                <a:cs typeface="Calibri"/>
                <a:sym typeface="Calibri"/>
              </a:rPr>
              <a:t>OPEN STANDARDS IMPLEMENTED</a:t>
            </a:r>
            <a:endParaRPr b="0" i="0" sz="1300" u="none" cap="none" strike="noStrike">
              <a:solidFill>
                <a:srgbClr val="000000"/>
              </a:solidFill>
              <a:latin typeface="Arial"/>
              <a:ea typeface="Arial"/>
              <a:cs typeface="Arial"/>
              <a:sym typeface="Arial"/>
            </a:endParaRPr>
          </a:p>
        </p:txBody>
      </p:sp>
      <p:sp>
        <p:nvSpPr>
          <p:cNvPr id="471" name="Google Shape;471;p42"/>
          <p:cNvSpPr txBox="1"/>
          <p:nvPr/>
        </p:nvSpPr>
        <p:spPr>
          <a:xfrm>
            <a:off x="178308" y="3602507"/>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0"/>
              </a:rPr>
              <a:t>CF Conventions for climate and forecast metadata</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72" name="Google Shape;472;p42"/>
          <p:cNvSpPr txBox="1"/>
          <p:nvPr/>
        </p:nvSpPr>
        <p:spPr>
          <a:xfrm>
            <a:off x="178308" y="371086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1"/>
              </a:rPr>
              <a:t>OGC Web Map Service (WMS) 1.3.0</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73" name="Google Shape;473;p42"/>
          <p:cNvSpPr txBox="1"/>
          <p:nvPr/>
        </p:nvSpPr>
        <p:spPr>
          <a:xfrm>
            <a:off x="178308" y="3819220"/>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2"/>
              </a:rPr>
              <a:t>OGC Web Coverage Service (WCS) 1.0.0</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74" name="Google Shape;474;p42"/>
          <p:cNvSpPr txBox="1"/>
          <p:nvPr/>
        </p:nvSpPr>
        <p:spPr>
          <a:xfrm>
            <a:off x="178308" y="3927576"/>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3"/>
              </a:rPr>
              <a:t>OASIS Common Alerting Protocol (CAP) v1.2</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475" name="Google Shape;475;p42"/>
          <p:cNvSpPr/>
          <p:nvPr/>
        </p:nvSpPr>
        <p:spPr>
          <a:xfrm>
            <a:off x="178301" y="4155950"/>
            <a:ext cx="5181900" cy="635505"/>
          </a:xfrm>
          <a:prstGeom prst="rect">
            <a:avLst/>
          </a:prstGeom>
          <a:solidFill>
            <a:srgbClr val="EFF4F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6" name="Google Shape;476;p42"/>
          <p:cNvSpPr txBox="1"/>
          <p:nvPr/>
        </p:nvSpPr>
        <p:spPr>
          <a:xfrm>
            <a:off x="274320" y="4217669"/>
            <a:ext cx="41148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HOW THE RESEARCH CHANGED THE BUILD  ·  not a bibliography, a set of decisions</a:t>
            </a:r>
            <a:endParaRPr b="0" i="0" sz="1100" u="none" cap="none" strike="noStrike">
              <a:solidFill>
                <a:srgbClr val="000000"/>
              </a:solidFill>
              <a:latin typeface="Arial"/>
              <a:ea typeface="Arial"/>
              <a:cs typeface="Arial"/>
              <a:sym typeface="Arial"/>
            </a:endParaRPr>
          </a:p>
        </p:txBody>
      </p:sp>
      <p:sp>
        <p:nvSpPr>
          <p:cNvPr id="477" name="Google Shape;477;p42"/>
          <p:cNvSpPr txBox="1"/>
          <p:nvPr/>
        </p:nvSpPr>
        <p:spPr>
          <a:xfrm>
            <a:off x="310896" y="4389120"/>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Ryan 2015  →  verify in observation space</a:t>
            </a:r>
            <a:endParaRPr b="0" i="0" sz="1100" u="none" cap="none" strike="noStrike">
              <a:solidFill>
                <a:srgbClr val="000000"/>
              </a:solidFill>
              <a:latin typeface="Arial"/>
              <a:ea typeface="Arial"/>
              <a:cs typeface="Arial"/>
              <a:sym typeface="Arial"/>
            </a:endParaRPr>
          </a:p>
        </p:txBody>
      </p:sp>
      <p:sp>
        <p:nvSpPr>
          <p:cNvPr id="478" name="Google Shape;478;p42"/>
          <p:cNvSpPr txBox="1"/>
          <p:nvPr/>
        </p:nvSpPr>
        <p:spPr>
          <a:xfrm>
            <a:off x="2834640" y="4389120"/>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Wong 2020  →  QC flags 1 and 2 only</a:t>
            </a:r>
            <a:endParaRPr b="0" i="0" sz="1100" u="none" cap="none" strike="noStrike">
              <a:solidFill>
                <a:srgbClr val="000000"/>
              </a:solidFill>
              <a:latin typeface="Arial"/>
              <a:ea typeface="Arial"/>
              <a:cs typeface="Arial"/>
              <a:sym typeface="Arial"/>
            </a:endParaRPr>
          </a:p>
        </p:txBody>
      </p:sp>
      <p:sp>
        <p:nvSpPr>
          <p:cNvPr id="479" name="Google Shape;479;p42"/>
          <p:cNvSpPr txBox="1"/>
          <p:nvPr/>
        </p:nvSpPr>
        <p:spPr>
          <a:xfrm>
            <a:off x="310896" y="4590288"/>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Yu 2025  →  drop a slice that cannot change the picture</a:t>
            </a:r>
            <a:endParaRPr b="0" i="0" sz="1100" u="none" cap="none" strike="noStrike">
              <a:solidFill>
                <a:srgbClr val="000000"/>
              </a:solidFill>
              <a:latin typeface="Arial"/>
              <a:ea typeface="Arial"/>
              <a:cs typeface="Arial"/>
              <a:sym typeface="Arial"/>
            </a:endParaRPr>
          </a:p>
        </p:txBody>
      </p:sp>
      <p:sp>
        <p:nvSpPr>
          <p:cNvPr id="480" name="Google Shape;480;p42"/>
          <p:cNvSpPr txBox="1"/>
          <p:nvPr/>
        </p:nvSpPr>
        <p:spPr>
          <a:xfrm>
            <a:off x="2834640" y="4590288"/>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Signell 2019  →  Zarr chunks over HTTP range reads</a:t>
            </a:r>
            <a:endParaRPr b="0" i="0" sz="1100" u="none" cap="none" strike="noStrike">
              <a:solidFill>
                <a:srgbClr val="000000"/>
              </a:solidFill>
              <a:latin typeface="Arial"/>
              <a:ea typeface="Arial"/>
              <a:cs typeface="Arial"/>
              <a:sym typeface="Arial"/>
            </a:endParaRPr>
          </a:p>
        </p:txBody>
      </p:sp>
      <p:sp>
        <p:nvSpPr>
          <p:cNvPr id="481" name="Google Shape;481;p42"/>
          <p:cNvSpPr/>
          <p:nvPr/>
        </p:nvSpPr>
        <p:spPr>
          <a:xfrm>
            <a:off x="5618027" y="625399"/>
            <a:ext cx="3295800" cy="231000"/>
          </a:xfrm>
          <a:prstGeom prst="roundRect">
            <a:avLst>
              <a:gd fmla="val 32000" name="adj"/>
            </a:avLst>
          </a:prstGeom>
          <a:solidFill>
            <a:srgbClr val="C44528"/>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                             WHERE WE SIT  ·  GAP ANALYSIS</a:t>
            </a:r>
            <a:endParaRPr b="0" i="0" sz="1200" u="none" cap="none" strike="noStrike">
              <a:solidFill>
                <a:srgbClr val="000000"/>
              </a:solidFill>
              <a:latin typeface="Arial"/>
              <a:ea typeface="Arial"/>
              <a:cs typeface="Arial"/>
              <a:sym typeface="Arial"/>
            </a:endParaRPr>
          </a:p>
        </p:txBody>
      </p:sp>
      <p:graphicFrame>
        <p:nvGraphicFramePr>
          <p:cNvPr id="482" name="Google Shape;482;p42"/>
          <p:cNvGraphicFramePr/>
          <p:nvPr/>
        </p:nvGraphicFramePr>
        <p:xfrm>
          <a:off x="5618020" y="941212"/>
          <a:ext cx="3000000" cy="3000000"/>
        </p:xfrm>
        <a:graphic>
          <a:graphicData uri="http://schemas.openxmlformats.org/drawingml/2006/table">
            <a:tbl>
              <a:tblPr bandRow="1" firstRow="1">
                <a:noFill/>
                <a:tableStyleId>{BD5BD6F1-D5D9-4BC6-827C-F8875A3E09ED}</a:tableStyleId>
              </a:tblPr>
              <a:tblGrid>
                <a:gridCol w="1321225"/>
                <a:gridCol w="506025"/>
                <a:gridCol w="506025"/>
                <a:gridCol w="506025"/>
                <a:gridCol w="506025"/>
              </a:tblGrid>
              <a:tr h="319400">
                <a:tc>
                  <a:txBody>
                    <a:bodyPr/>
                    <a:lstStyle/>
                    <a:p>
                      <a:pPr indent="0" lvl="0" marL="0" marR="0" rtl="0" algn="l">
                        <a:lnSpc>
                          <a:spcPct val="88000"/>
                        </a:lnSpc>
                        <a:spcBef>
                          <a:spcPts val="0"/>
                        </a:spcBef>
                        <a:spcAft>
                          <a:spcPts val="0"/>
                        </a:spcAft>
                        <a:buClr>
                          <a:srgbClr val="000000"/>
                        </a:buClr>
                        <a:buSzPts val="600"/>
                        <a:buFont typeface="Arial"/>
                        <a:buNone/>
                      </a:pPr>
                      <a:r>
                        <a:rPr b="1" i="0" lang="en-GB" sz="600" u="none" cap="none" strike="noStrike">
                          <a:solidFill>
                            <a:srgbClr val="FFFFFF"/>
                          </a:solidFill>
                          <a:latin typeface="Calibri"/>
                          <a:ea typeface="Calibri"/>
                          <a:cs typeface="Calibri"/>
                          <a:sym typeface="Calibri"/>
                        </a:rPr>
                        <a:t>Capability</a:t>
                      </a:r>
                      <a:endParaRPr sz="11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600" u="none" cap="none" strike="noStrike">
                          <a:solidFill>
                            <a:srgbClr val="FFFFFF"/>
                          </a:solidFill>
                          <a:latin typeface="Calibri"/>
                          <a:ea typeface="Calibri"/>
                          <a:cs typeface="Calibri"/>
                          <a:sym typeface="Calibri"/>
                        </a:rPr>
                        <a:t>Desktop</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tools</a:t>
                      </a:r>
                      <a:endParaRPr sz="11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600" u="none" cap="none" strike="noStrike">
                          <a:solidFill>
                            <a:srgbClr val="FFFFFF"/>
                          </a:solidFill>
                          <a:latin typeface="Calibri"/>
                          <a:ea typeface="Calibri"/>
                          <a:cs typeface="Calibri"/>
                          <a:sym typeface="Calibri"/>
                        </a:rPr>
                        <a:t>Web</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viewers</a:t>
                      </a:r>
                      <a:endParaRPr sz="11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600" u="none" cap="none" strike="noStrike">
                          <a:solidFill>
                            <a:srgbClr val="FFFFFF"/>
                          </a:solidFill>
                          <a:latin typeface="Calibri"/>
                          <a:ea typeface="Calibri"/>
                          <a:cs typeface="Calibri"/>
                          <a:sym typeface="Calibri"/>
                        </a:rPr>
                        <a:t>Digital</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Ocean</a:t>
                      </a:r>
                      <a:endParaRPr sz="11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600" u="none" cap="none" strike="noStrike">
                          <a:solidFill>
                            <a:srgbClr val="FFFFFF"/>
                          </a:solidFill>
                          <a:latin typeface="Calibri"/>
                          <a:ea typeface="Calibri"/>
                          <a:cs typeface="Calibri"/>
                          <a:sym typeface="Calibri"/>
                        </a:rPr>
                        <a:t>Sagar</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Drishti</a:t>
                      </a:r>
                      <a:endParaRPr sz="1100" u="none" cap="none" strike="noStrike"/>
                    </a:p>
                  </a:txBody>
                  <a:tcPr marT="0" marB="0" marR="20575" marL="34300" anchor="ctr">
                    <a:solidFill>
                      <a:srgbClr val="C44528"/>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Browser-native, no install</a:t>
                      </a:r>
                      <a:endParaRPr sz="12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True volumetric water column</a:t>
                      </a:r>
                      <a:endParaRPr sz="12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87A1F"/>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Model + in-situ in ONE 3D scene</a:t>
                      </a:r>
                      <a:endParaRPr sz="12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87A1F"/>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Model-vs-observation skill on screen</a:t>
                      </a:r>
                      <a:endParaRPr sz="12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CAP hazard layer in ocean context</a:t>
                      </a:r>
                      <a:endParaRPr sz="12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Runs fully offline / air-gapped</a:t>
                      </a:r>
                      <a:endParaRPr sz="12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bl>
          </a:graphicData>
        </a:graphic>
      </p:graphicFrame>
      <p:sp>
        <p:nvSpPr>
          <p:cNvPr id="483" name="Google Shape;483;p42"/>
          <p:cNvSpPr txBox="1"/>
          <p:nvPr/>
        </p:nvSpPr>
        <p:spPr>
          <a:xfrm>
            <a:off x="5628576" y="2576894"/>
            <a:ext cx="33348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556471"/>
                </a:solidFill>
                <a:latin typeface="Calibri"/>
                <a:ea typeface="Calibri"/>
                <a:cs typeface="Calibri"/>
                <a:sym typeface="Calibri"/>
              </a:rPr>
              <a:t>Desktop tools: ODV, IDV, pyParaOcean.  Web viewers: Argovis, MyOcean.  INCOIS's Digital Ocean portal advertises 3D and 4D; what it does not do is fuse instruments into the volume or publish model skill beside the field.</a:t>
            </a:r>
            <a:endParaRPr b="0" i="0" sz="1400" u="none" cap="none" strike="noStrike">
              <a:solidFill>
                <a:srgbClr val="000000"/>
              </a:solidFill>
              <a:latin typeface="Arial"/>
              <a:ea typeface="Arial"/>
              <a:cs typeface="Arial"/>
              <a:sym typeface="Arial"/>
            </a:endParaRPr>
          </a:p>
        </p:txBody>
      </p:sp>
      <p:sp>
        <p:nvSpPr>
          <p:cNvPr id="484" name="Google Shape;484;p42"/>
          <p:cNvSpPr/>
          <p:nvPr/>
        </p:nvSpPr>
        <p:spPr>
          <a:xfrm>
            <a:off x="5628575" y="3163700"/>
            <a:ext cx="3285300" cy="1481700"/>
          </a:xfrm>
          <a:prstGeom prst="rect">
            <a:avLst/>
          </a:prstGeom>
          <a:solidFill>
            <a:srgbClr val="EFF4F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descr="Your startup LOGO" id="485" name="Google Shape;485;p42"/>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chemeClr val="dk1"/>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486" name="Google Shape;486;p42"/>
          <p:cNvSpPr/>
          <p:nvPr/>
        </p:nvSpPr>
        <p:spPr>
          <a:xfrm>
            <a:off x="5632704" y="3218688"/>
            <a:ext cx="2834640" cy="201168"/>
          </a:xfrm>
          <a:prstGeom prst="roundRect">
            <a:avLst>
              <a:gd fmla="val 25000" name="adj"/>
            </a:avLst>
          </a:prstGeom>
          <a:solidFill>
            <a:srgbClr val="1F4E79"/>
          </a:solidFill>
          <a:ln>
            <a:noFill/>
          </a:ln>
        </p:spPr>
        <p:txBody>
          <a:bodyPr anchorCtr="0" anchor="ctr" bIns="9125" lIns="36575" spcFirstLastPara="1" rIns="36575" wrap="square" tIns="9125">
            <a:noAutofit/>
          </a:bodyPr>
          <a:lstStyle/>
          <a:p>
            <a:pPr indent="0" lvl="0" marL="0" marR="0" rtl="0" algn="l">
              <a:lnSpc>
                <a:spcPct val="92000"/>
              </a:lnSpc>
              <a:spcBef>
                <a:spcPts val="0"/>
              </a:spcBef>
              <a:spcAft>
                <a:spcPts val="0"/>
              </a:spcAft>
              <a:buNone/>
            </a:pPr>
            <a:r>
              <a:rPr b="1" i="0" lang="en-GB" sz="900" u="none" cap="none" strike="noStrike">
                <a:solidFill>
                  <a:srgbClr val="FFFFFF"/>
                </a:solidFill>
                <a:latin typeface="Arial"/>
                <a:ea typeface="Arial"/>
                <a:cs typeface="Arial"/>
                <a:sym typeface="Arial"/>
              </a:rPr>
              <a:t>OUR OWN WORK, AND HOW TO CHECK IT</a:t>
            </a:r>
            <a:endParaRPr/>
          </a:p>
        </p:txBody>
      </p:sp>
      <p:sp>
        <p:nvSpPr>
          <p:cNvPr id="487" name="Google Shape;487;p42"/>
          <p:cNvSpPr txBox="1"/>
          <p:nvPr/>
        </p:nvSpPr>
        <p:spPr>
          <a:xfrm>
            <a:off x="5701837" y="3467039"/>
            <a:ext cx="3310200" cy="1785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567   </a:t>
            </a:r>
            <a:r>
              <a:rPr b="0" i="0" lang="en-GB" sz="850" u="none" cap="none" strike="noStrike">
                <a:solidFill>
                  <a:srgbClr val="5A6B78"/>
                </a:solidFill>
                <a:latin typeface="Arial"/>
                <a:ea typeface="Arial"/>
                <a:cs typeface="Arial"/>
                <a:sym typeface="Arial"/>
              </a:rPr>
              <a:t>automated tests, 11 in a real browser</a:t>
            </a:r>
            <a:endParaRPr/>
          </a:p>
        </p:txBody>
      </p:sp>
      <p:sp>
        <p:nvSpPr>
          <p:cNvPr id="488" name="Google Shape;488;p42"/>
          <p:cNvSpPr txBox="1"/>
          <p:nvPr/>
        </p:nvSpPr>
        <p:spPr>
          <a:xfrm>
            <a:off x="5701837" y="3741358"/>
            <a:ext cx="3310200" cy="1785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6 dp   </a:t>
            </a:r>
            <a:r>
              <a:rPr b="0" i="0" lang="en-GB" sz="850" u="none" cap="none" strike="noStrike">
                <a:solidFill>
                  <a:srgbClr val="5A6B78"/>
                </a:solidFill>
                <a:latin typeface="Arial"/>
                <a:ea typeface="Arial"/>
                <a:cs typeface="Arial"/>
                <a:sym typeface="Arial"/>
              </a:rPr>
              <a:t>TEOS-10 check values reproduced exactly</a:t>
            </a:r>
            <a:endParaRPr/>
          </a:p>
        </p:txBody>
      </p:sp>
      <p:sp>
        <p:nvSpPr>
          <p:cNvPr id="489" name="Google Shape;489;p42"/>
          <p:cNvSpPr txBox="1"/>
          <p:nvPr/>
        </p:nvSpPr>
        <p:spPr>
          <a:xfrm>
            <a:off x="5701837" y="4015678"/>
            <a:ext cx="3310200" cy="1785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100%   </a:t>
            </a:r>
            <a:r>
              <a:rPr b="0" i="0" lang="en-GB" sz="850" u="none" cap="none" strike="noStrike">
                <a:solidFill>
                  <a:srgbClr val="5A6B78"/>
                </a:solidFill>
                <a:latin typeface="Arial"/>
                <a:ea typeface="Arial"/>
                <a:cs typeface="Arial"/>
                <a:sym typeface="Arial"/>
              </a:rPr>
              <a:t>of panels cite dataset and timestamp</a:t>
            </a:r>
            <a:endParaRPr/>
          </a:p>
        </p:txBody>
      </p:sp>
      <p:sp>
        <p:nvSpPr>
          <p:cNvPr id="490" name="Google Shape;490;p42"/>
          <p:cNvSpPr txBox="1"/>
          <p:nvPr/>
        </p:nvSpPr>
        <p:spPr>
          <a:xfrm>
            <a:off x="5701826" y="4289993"/>
            <a:ext cx="3141000" cy="3060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15 + 8   </a:t>
            </a:r>
            <a:r>
              <a:rPr b="0" i="0" lang="en-GB" sz="900" u="none" cap="none" strike="noStrike">
                <a:solidFill>
                  <a:srgbClr val="5A6B78"/>
                </a:solidFill>
                <a:latin typeface="Arial"/>
                <a:ea typeface="Arial"/>
                <a:cs typeface="Arial"/>
                <a:sym typeface="Arial"/>
              </a:rPr>
              <a:t>papers and existing tools reviewed for the gap analysis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
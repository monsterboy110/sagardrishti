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6"/>
    <p:sldMasterId id="2147483671" r:id="rId7"/>
  </p:sldMasterIdLst>
  <p:notesMasterIdLst>
    <p:notesMasterId r:id="rId8"/>
  </p:notesMasterIdLst>
  <p:sldIdLst>
    <p:sldId id="256" r:id="rId9"/>
    <p:sldId id="257" r:id="rId10"/>
    <p:sldId id="258" r:id="rId11"/>
    <p:sldId id="259" r:id="rId12"/>
    <p:sldId id="260" r:id="rId13"/>
    <p:sldId id="261" r:id="rId14"/>
  </p:sldIdLst>
  <p:sldSz cy="5143500" cx="9144000"/>
  <p:notesSz cx="6858000" cy="9144000"/>
  <p:embeddedFontLst>
    <p:embeddedFont>
      <p:font typeface="Garamond"/>
      <p:regular r:id="rId21"/>
      <p:bold r:id="rId22"/>
      <p:italic r:id="rId23"/>
      <p:boldItalic r:id="rId24"/>
    </p:embeddedFont>
    <p:embeddedFont>
      <p:font typeface="Oswald"/>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Subhojyoti Maity"/>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BA62E27-8779-4C89-AAAB-776B91DDA70A}">
  <a:tblStyle styleId="{7BA62E27-8779-4C89-AAAB-776B91DDA70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21" Type="http://schemas.openxmlformats.org/officeDocument/2006/relationships/font" Target="fonts/Garamond-regular.fntdata"/><Relationship Id="rId22" Type="http://schemas.openxmlformats.org/officeDocument/2006/relationships/font" Target="fonts/Garamond-bold.fntdata"/><Relationship Id="rId23" Type="http://schemas.openxmlformats.org/officeDocument/2006/relationships/font" Target="fonts/Garamond-italic.fntdata"/><Relationship Id="rId24" Type="http://schemas.openxmlformats.org/officeDocument/2006/relationships/font" Target="fonts/Garamond-boldItalic.fntdata"/><Relationship Id="rId25" Type="http://schemas.openxmlformats.org/officeDocument/2006/relationships/font" Target="fonts/Oswald-regular.fntdata"/><Relationship Id="rId26" Type="http://schemas.openxmlformats.org/officeDocument/2006/relationships/font" Target="fonts/Oswald-bold.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15T14:05:33.711">
    <p:pos x="3166" y="801"/>
    <p:text>Old Data img..change hobe</p:text>
  </p:cm>
  <p:cm authorId="0" idx="2" dt="2026-09-15T14:05:34.294">
    <p:pos x="2920" y="2462"/>
    <p:text>Old Data img..change hobe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409d75fe4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409d75fe4a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409d75fe4a1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42" name="Google Shape;142;g409d75fe4a1_0_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409d75fe4a1_0_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409d75fe4a1_0_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76" name="Google Shape;176;g409d75fe4a1_0_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409d75fe4a1_0_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409d75fe4a1_0_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291" name="Google Shape;291;g409d75fe4a1_0_1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g409d75fe4a1_0_1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409d75fe4a1_0_2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43" name="Google Shape;343;g409d75fe4a1_0_2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g409d75fe4a1_0_2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409d75fe4a1_0_2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393" name="Google Shape;393;g409d75fe4a1_0_2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g409d75fe4a1_0_2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685800" y="1597821"/>
            <a:ext cx="7772400" cy="1102519"/>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58" name="Google Shape;58;p14"/>
          <p:cNvSpPr txBox="1"/>
          <p:nvPr>
            <p:ph idx="1" type="subTitle"/>
          </p:nvPr>
        </p:nvSpPr>
        <p:spPr>
          <a:xfrm>
            <a:off x="1371600" y="2914650"/>
            <a:ext cx="6400800" cy="1314450"/>
          </a:xfrm>
          <a:prstGeom prst="rect">
            <a:avLst/>
          </a:prstGeom>
          <a:noFill/>
          <a:ln>
            <a:noFill/>
          </a:ln>
        </p:spPr>
        <p:txBody>
          <a:bodyPr anchorCtr="0" anchor="t" bIns="34275" lIns="68575" spcFirstLastPara="1" rIns="68575" wrap="square" tIns="34275">
            <a:no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59" name="Google Shape;59;p14"/>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64" name="Google Shape;64;p15"/>
          <p:cNvSpPr txBox="1"/>
          <p:nvPr>
            <p:ph idx="1" type="body"/>
          </p:nvPr>
        </p:nvSpPr>
        <p:spPr>
          <a:xfrm>
            <a:off x="457200" y="821531"/>
            <a:ext cx="8229600" cy="3773091"/>
          </a:xfrm>
          <a:prstGeom prst="rect">
            <a:avLst/>
          </a:prstGeom>
          <a:noFill/>
          <a:ln>
            <a:noFill/>
          </a:ln>
        </p:spPr>
        <p:txBody>
          <a:bodyPr anchorCtr="0" anchor="t" bIns="34275" lIns="68575" spcFirstLastPara="1" rIns="68575" wrap="square" tIns="34275">
            <a:no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5" name="Google Shape;65;p15"/>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722313" y="3305177"/>
            <a:ext cx="7772400" cy="1021556"/>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b="1" sz="3000" cap="none"/>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70" name="Google Shape;70;p16"/>
          <p:cNvSpPr txBox="1"/>
          <p:nvPr>
            <p:ph idx="1" type="body"/>
          </p:nvPr>
        </p:nvSpPr>
        <p:spPr>
          <a:xfrm>
            <a:off x="722313" y="2180035"/>
            <a:ext cx="7772400" cy="1125140"/>
          </a:xfrm>
          <a:prstGeom prst="rect">
            <a:avLst/>
          </a:prstGeom>
          <a:noFill/>
          <a:ln>
            <a:noFill/>
          </a:ln>
        </p:spPr>
        <p:txBody>
          <a:bodyPr anchorCtr="0" anchor="b" bIns="34275" lIns="68575" spcFirstLastPara="1" rIns="68575" wrap="square" tIns="34275">
            <a:no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1" name="Google Shape;71;p16"/>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76" name="Google Shape;76;p17"/>
          <p:cNvSpPr txBox="1"/>
          <p:nvPr>
            <p:ph idx="1" type="body"/>
          </p:nvPr>
        </p:nvSpPr>
        <p:spPr>
          <a:xfrm>
            <a:off x="457200" y="1200152"/>
            <a:ext cx="4038600" cy="3394472"/>
          </a:xfrm>
          <a:prstGeom prst="rect">
            <a:avLst/>
          </a:prstGeom>
          <a:noFill/>
          <a:ln>
            <a:noFill/>
          </a:ln>
        </p:spPr>
        <p:txBody>
          <a:bodyPr anchorCtr="0" anchor="t" bIns="34275" lIns="68575" spcFirstLastPara="1" rIns="68575" wrap="square" tIns="34275">
            <a:no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77" name="Google Shape;77;p17"/>
          <p:cNvSpPr txBox="1"/>
          <p:nvPr>
            <p:ph idx="2" type="body"/>
          </p:nvPr>
        </p:nvSpPr>
        <p:spPr>
          <a:xfrm>
            <a:off x="4648200" y="1200152"/>
            <a:ext cx="4038600" cy="3394472"/>
          </a:xfrm>
          <a:prstGeom prst="rect">
            <a:avLst/>
          </a:prstGeom>
          <a:noFill/>
          <a:ln>
            <a:noFill/>
          </a:ln>
        </p:spPr>
        <p:txBody>
          <a:bodyPr anchorCtr="0" anchor="t" bIns="34275" lIns="68575" spcFirstLastPara="1" rIns="68575" wrap="square" tIns="34275">
            <a:no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78" name="Google Shape;78;p17"/>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83" name="Google Shape;83;p18"/>
          <p:cNvSpPr txBox="1"/>
          <p:nvPr>
            <p:ph idx="1" type="body"/>
          </p:nvPr>
        </p:nvSpPr>
        <p:spPr>
          <a:xfrm>
            <a:off x="457200" y="1151335"/>
            <a:ext cx="4040188" cy="479822"/>
          </a:xfrm>
          <a:prstGeom prst="rect">
            <a:avLst/>
          </a:prstGeom>
          <a:noFill/>
          <a:ln>
            <a:noFill/>
          </a:ln>
        </p:spPr>
        <p:txBody>
          <a:bodyPr anchorCtr="0" anchor="b" bIns="34275" lIns="68575" spcFirstLastPara="1" rIns="68575" wrap="square" tIns="34275">
            <a:no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4" name="Google Shape;84;p18"/>
          <p:cNvSpPr txBox="1"/>
          <p:nvPr>
            <p:ph idx="2" type="body"/>
          </p:nvPr>
        </p:nvSpPr>
        <p:spPr>
          <a:xfrm>
            <a:off x="457200" y="1631156"/>
            <a:ext cx="4040188" cy="2963466"/>
          </a:xfrm>
          <a:prstGeom prst="rect">
            <a:avLst/>
          </a:prstGeom>
          <a:noFill/>
          <a:ln>
            <a:noFill/>
          </a:ln>
        </p:spPr>
        <p:txBody>
          <a:bodyPr anchorCtr="0" anchor="t" bIns="34275" lIns="68575" spcFirstLastPara="1" rIns="68575" wrap="square" tIns="34275">
            <a:no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5" name="Google Shape;85;p18"/>
          <p:cNvSpPr txBox="1"/>
          <p:nvPr>
            <p:ph idx="3" type="body"/>
          </p:nvPr>
        </p:nvSpPr>
        <p:spPr>
          <a:xfrm>
            <a:off x="4645027" y="1151335"/>
            <a:ext cx="4041775" cy="479822"/>
          </a:xfrm>
          <a:prstGeom prst="rect">
            <a:avLst/>
          </a:prstGeom>
          <a:noFill/>
          <a:ln>
            <a:noFill/>
          </a:ln>
        </p:spPr>
        <p:txBody>
          <a:bodyPr anchorCtr="0" anchor="b" bIns="34275" lIns="68575" spcFirstLastPara="1" rIns="68575" wrap="square" tIns="34275">
            <a:no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6" name="Google Shape;86;p18"/>
          <p:cNvSpPr txBox="1"/>
          <p:nvPr>
            <p:ph idx="4" type="body"/>
          </p:nvPr>
        </p:nvSpPr>
        <p:spPr>
          <a:xfrm>
            <a:off x="4645027" y="1631156"/>
            <a:ext cx="4041775" cy="2963466"/>
          </a:xfrm>
          <a:prstGeom prst="rect">
            <a:avLst/>
          </a:prstGeom>
          <a:noFill/>
          <a:ln>
            <a:noFill/>
          </a:ln>
        </p:spPr>
        <p:txBody>
          <a:bodyPr anchorCtr="0" anchor="t" bIns="34275" lIns="68575" spcFirstLastPara="1" rIns="68575" wrap="square" tIns="34275">
            <a:no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7" name="Google Shape;87;p18"/>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92" name="Google Shape;92;p19"/>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1" y="204788"/>
            <a:ext cx="3008313" cy="871538"/>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b="1" sz="1500"/>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01" name="Google Shape;101;p21"/>
          <p:cNvSpPr txBox="1"/>
          <p:nvPr>
            <p:ph idx="1" type="body"/>
          </p:nvPr>
        </p:nvSpPr>
        <p:spPr>
          <a:xfrm>
            <a:off x="3575050" y="204790"/>
            <a:ext cx="5111750" cy="4389835"/>
          </a:xfrm>
          <a:prstGeom prst="rect">
            <a:avLst/>
          </a:prstGeom>
          <a:noFill/>
          <a:ln>
            <a:noFill/>
          </a:ln>
        </p:spPr>
        <p:txBody>
          <a:bodyPr anchorCtr="0" anchor="t" bIns="34275" lIns="68575" spcFirstLastPara="1" rIns="68575" wrap="square" tIns="34275">
            <a:no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457201" y="1076327"/>
            <a:ext cx="3008313" cy="3518297"/>
          </a:xfrm>
          <a:prstGeom prst="rect">
            <a:avLst/>
          </a:prstGeom>
          <a:noFill/>
          <a:ln>
            <a:noFill/>
          </a:ln>
        </p:spPr>
        <p:txBody>
          <a:bodyPr anchorCtr="0" anchor="t" bIns="34275" lIns="68575" spcFirstLastPara="1" rIns="68575" wrap="square" tIns="34275">
            <a:no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3600450"/>
            <a:ext cx="5486400" cy="425054"/>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SzPts val="1100"/>
              <a:buNone/>
              <a:defRPr b="1" sz="1500"/>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08" name="Google Shape;108;p22"/>
          <p:cNvSpPr/>
          <p:nvPr>
            <p:ph idx="2" type="pic"/>
          </p:nvPr>
        </p:nvSpPr>
        <p:spPr>
          <a:xfrm>
            <a:off x="1792288" y="459581"/>
            <a:ext cx="5486400" cy="3086100"/>
          </a:xfrm>
          <a:prstGeom prst="rect">
            <a:avLst/>
          </a:prstGeom>
          <a:noFill/>
          <a:ln>
            <a:noFill/>
          </a:ln>
        </p:spPr>
      </p:sp>
      <p:sp>
        <p:nvSpPr>
          <p:cNvPr id="109" name="Google Shape;109;p22"/>
          <p:cNvSpPr txBox="1"/>
          <p:nvPr>
            <p:ph idx="1" type="body"/>
          </p:nvPr>
        </p:nvSpPr>
        <p:spPr>
          <a:xfrm>
            <a:off x="1792288" y="4025503"/>
            <a:ext cx="5486400" cy="603647"/>
          </a:xfrm>
          <a:prstGeom prst="rect">
            <a:avLst/>
          </a:prstGeom>
          <a:noFill/>
          <a:ln>
            <a:noFill/>
          </a:ln>
        </p:spPr>
        <p:txBody>
          <a:bodyPr anchorCtr="0" anchor="t" bIns="34275" lIns="68575" spcFirstLastPara="1" rIns="68575" wrap="square" tIns="34275">
            <a:no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15" name="Google Shape;115;p23"/>
          <p:cNvSpPr txBox="1"/>
          <p:nvPr>
            <p:ph idx="1" type="body"/>
          </p:nvPr>
        </p:nvSpPr>
        <p:spPr>
          <a:xfrm rot="5400000">
            <a:off x="2685455" y="-1406723"/>
            <a:ext cx="3773091" cy="8229600"/>
          </a:xfrm>
          <a:prstGeom prst="rect">
            <a:avLst/>
          </a:prstGeom>
          <a:noFill/>
          <a:ln>
            <a:noFill/>
          </a:ln>
        </p:spPr>
        <p:txBody>
          <a:bodyPr anchorCtr="0" anchor="t" bIns="34275" lIns="68575" spcFirstLastPara="1" rIns="68575" wrap="square" tIns="34275">
            <a:no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463778" y="1371603"/>
            <a:ext cx="4388644" cy="20574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ctr">
              <a:spcBef>
                <a:spcPts val="0"/>
              </a:spcBef>
              <a:spcAft>
                <a:spcPts val="0"/>
              </a:spcAft>
              <a:buSzPts val="1100"/>
              <a:buNone/>
              <a:defRPr/>
            </a:lvl2pPr>
            <a:lvl3pPr lvl="2" algn="ctr">
              <a:spcBef>
                <a:spcPts val="0"/>
              </a:spcBef>
              <a:spcAft>
                <a:spcPts val="0"/>
              </a:spcAft>
              <a:buSzPts val="1100"/>
              <a:buNone/>
              <a:defRPr/>
            </a:lvl3pPr>
            <a:lvl4pPr lvl="3" algn="ctr">
              <a:spcBef>
                <a:spcPts val="0"/>
              </a:spcBef>
              <a:spcAft>
                <a:spcPts val="0"/>
              </a:spcAft>
              <a:buSzPts val="1100"/>
              <a:buNone/>
              <a:defRPr/>
            </a:lvl4pPr>
            <a:lvl5pPr lvl="4" algn="ctr">
              <a:spcBef>
                <a:spcPts val="0"/>
              </a:spcBef>
              <a:spcAft>
                <a:spcPts val="0"/>
              </a:spcAft>
              <a:buSzPts val="1100"/>
              <a:buNone/>
              <a:defRPr/>
            </a:lvl5pPr>
            <a:lvl6pPr lvl="5" algn="ctr">
              <a:spcBef>
                <a:spcPts val="0"/>
              </a:spcBef>
              <a:spcAft>
                <a:spcPts val="0"/>
              </a:spcAft>
              <a:buSzPts val="1100"/>
              <a:buNone/>
              <a:defRPr/>
            </a:lvl6pPr>
            <a:lvl7pPr lvl="6" algn="ctr">
              <a:spcBef>
                <a:spcPts val="0"/>
              </a:spcBef>
              <a:spcAft>
                <a:spcPts val="0"/>
              </a:spcAft>
              <a:buSzPts val="1100"/>
              <a:buNone/>
              <a:defRPr/>
            </a:lvl7pPr>
            <a:lvl8pPr lvl="7" algn="ctr">
              <a:spcBef>
                <a:spcPts val="0"/>
              </a:spcBef>
              <a:spcAft>
                <a:spcPts val="0"/>
              </a:spcAft>
              <a:buSzPts val="1100"/>
              <a:buNone/>
              <a:defRPr/>
            </a:lvl8pPr>
            <a:lvl9pPr lvl="8" algn="ctr">
              <a:spcBef>
                <a:spcPts val="0"/>
              </a:spcBef>
              <a:spcAft>
                <a:spcPts val="0"/>
              </a:spcAft>
              <a:buSzPts val="1100"/>
              <a:buNone/>
              <a:defRPr/>
            </a:lvl9pPr>
          </a:lstStyle>
          <a:p/>
        </p:txBody>
      </p:sp>
      <p:sp>
        <p:nvSpPr>
          <p:cNvPr id="121" name="Google Shape;121;p24"/>
          <p:cNvSpPr txBox="1"/>
          <p:nvPr>
            <p:ph idx="1" type="body"/>
          </p:nvPr>
        </p:nvSpPr>
        <p:spPr>
          <a:xfrm rot="5400000">
            <a:off x="1272778" y="-609597"/>
            <a:ext cx="4388644" cy="6019800"/>
          </a:xfrm>
          <a:prstGeom prst="rect">
            <a:avLst/>
          </a:prstGeom>
          <a:noFill/>
          <a:ln>
            <a:noFill/>
          </a:ln>
        </p:spPr>
        <p:txBody>
          <a:bodyPr anchorCtr="0" anchor="t" bIns="34275" lIns="68575" spcFirstLastPara="1" rIns="68575" wrap="square" tIns="34275">
            <a:no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spcAft>
                <a:spcPts val="0"/>
              </a:spcAft>
              <a:buNone/>
              <a:defRPr sz="900">
                <a:solidFill>
                  <a:srgbClr val="898989"/>
                </a:solidFill>
                <a:latin typeface="Oswald"/>
                <a:ea typeface="Oswald"/>
                <a:cs typeface="Oswald"/>
                <a:sym typeface="Oswald"/>
              </a:defRPr>
            </a:lvl1pPr>
            <a:lvl2pPr indent="0" lvl="1" marL="0" algn="r">
              <a:spcBef>
                <a:spcPts val="0"/>
              </a:spcBef>
              <a:spcAft>
                <a:spcPts val="0"/>
              </a:spcAft>
              <a:buNone/>
              <a:defRPr sz="900">
                <a:solidFill>
                  <a:srgbClr val="898989"/>
                </a:solidFill>
                <a:latin typeface="Oswald"/>
                <a:ea typeface="Oswald"/>
                <a:cs typeface="Oswald"/>
                <a:sym typeface="Oswald"/>
              </a:defRPr>
            </a:lvl2pPr>
            <a:lvl3pPr indent="0" lvl="2" marL="0" algn="r">
              <a:spcBef>
                <a:spcPts val="0"/>
              </a:spcBef>
              <a:spcAft>
                <a:spcPts val="0"/>
              </a:spcAft>
              <a:buNone/>
              <a:defRPr sz="900">
                <a:solidFill>
                  <a:srgbClr val="898989"/>
                </a:solidFill>
                <a:latin typeface="Oswald"/>
                <a:ea typeface="Oswald"/>
                <a:cs typeface="Oswald"/>
                <a:sym typeface="Oswald"/>
              </a:defRPr>
            </a:lvl3pPr>
            <a:lvl4pPr indent="0" lvl="3" marL="0" algn="r">
              <a:spcBef>
                <a:spcPts val="0"/>
              </a:spcBef>
              <a:spcAft>
                <a:spcPts val="0"/>
              </a:spcAft>
              <a:buNone/>
              <a:defRPr sz="900">
                <a:solidFill>
                  <a:srgbClr val="898989"/>
                </a:solidFill>
                <a:latin typeface="Oswald"/>
                <a:ea typeface="Oswald"/>
                <a:cs typeface="Oswald"/>
                <a:sym typeface="Oswald"/>
              </a:defRPr>
            </a:lvl4pPr>
            <a:lvl5pPr indent="0" lvl="4" marL="0" algn="r">
              <a:spcBef>
                <a:spcPts val="0"/>
              </a:spcBef>
              <a:spcAft>
                <a:spcPts val="0"/>
              </a:spcAft>
              <a:buNone/>
              <a:defRPr sz="900">
                <a:solidFill>
                  <a:srgbClr val="898989"/>
                </a:solidFill>
                <a:latin typeface="Oswald"/>
                <a:ea typeface="Oswald"/>
                <a:cs typeface="Oswald"/>
                <a:sym typeface="Oswald"/>
              </a:defRPr>
            </a:lvl5pPr>
            <a:lvl6pPr indent="0" lvl="5" marL="0" algn="r">
              <a:spcBef>
                <a:spcPts val="0"/>
              </a:spcBef>
              <a:spcAft>
                <a:spcPts val="0"/>
              </a:spcAft>
              <a:buNone/>
              <a:defRPr sz="900">
                <a:solidFill>
                  <a:srgbClr val="898989"/>
                </a:solidFill>
                <a:latin typeface="Oswald"/>
                <a:ea typeface="Oswald"/>
                <a:cs typeface="Oswald"/>
                <a:sym typeface="Oswald"/>
              </a:defRPr>
            </a:lvl6pPr>
            <a:lvl7pPr indent="0" lvl="6" marL="0" algn="r">
              <a:spcBef>
                <a:spcPts val="0"/>
              </a:spcBef>
              <a:spcAft>
                <a:spcPts val="0"/>
              </a:spcAft>
              <a:buNone/>
              <a:defRPr sz="900">
                <a:solidFill>
                  <a:srgbClr val="898989"/>
                </a:solidFill>
                <a:latin typeface="Oswald"/>
                <a:ea typeface="Oswald"/>
                <a:cs typeface="Oswald"/>
                <a:sym typeface="Oswald"/>
              </a:defRPr>
            </a:lvl7pPr>
            <a:lvl8pPr indent="0" lvl="7" marL="0" algn="r">
              <a:spcBef>
                <a:spcPts val="0"/>
              </a:spcBef>
              <a:spcAft>
                <a:spcPts val="0"/>
              </a:spcAft>
              <a:buNone/>
              <a:defRPr sz="900">
                <a:solidFill>
                  <a:srgbClr val="898989"/>
                </a:solidFill>
                <a:latin typeface="Oswald"/>
                <a:ea typeface="Oswald"/>
                <a:cs typeface="Oswald"/>
                <a:sym typeface="Oswald"/>
              </a:defRPr>
            </a:lvl8pPr>
            <a:lvl9pPr indent="0" lvl="8" marL="0" algn="r">
              <a:spcBef>
                <a:spcPts val="0"/>
              </a:spcBef>
              <a:spcAft>
                <a:spcPts val="0"/>
              </a:spcAft>
              <a:buNone/>
              <a:defRPr sz="900">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35719"/>
            <a:ext cx="8229600" cy="85725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1pPr>
            <a:lvl2pPr lvl="1"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2pPr>
            <a:lvl3pPr lvl="2"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3pPr>
            <a:lvl4pPr lvl="3"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4pPr>
            <a:lvl5pPr lvl="4"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5pPr>
            <a:lvl6pPr lvl="5"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6pPr>
            <a:lvl7pPr lvl="6"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7pPr>
            <a:lvl8pPr lvl="7"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8pPr>
            <a:lvl9pPr lvl="8" marR="0" rtl="0" algn="ctr">
              <a:spcBef>
                <a:spcPts val="0"/>
              </a:spcBef>
              <a:spcAft>
                <a:spcPts val="0"/>
              </a:spcAft>
              <a:buSzPts val="1100"/>
              <a:buNone/>
              <a:defRPr b="0" i="0" sz="3300" u="none" cap="none" strike="noStrike">
                <a:solidFill>
                  <a:schemeClr val="dk1"/>
                </a:solidFill>
                <a:latin typeface="Oswald"/>
                <a:ea typeface="Oswald"/>
                <a:cs typeface="Oswald"/>
                <a:sym typeface="Oswald"/>
              </a:defRPr>
            </a:lvl9pPr>
          </a:lstStyle>
          <a:p/>
        </p:txBody>
      </p:sp>
      <p:sp>
        <p:nvSpPr>
          <p:cNvPr id="52" name="Google Shape;52;p13"/>
          <p:cNvSpPr txBox="1"/>
          <p:nvPr>
            <p:ph idx="1" type="body"/>
          </p:nvPr>
        </p:nvSpPr>
        <p:spPr>
          <a:xfrm>
            <a:off x="457200" y="821531"/>
            <a:ext cx="8229600" cy="3773091"/>
          </a:xfrm>
          <a:prstGeom prst="rect">
            <a:avLst/>
          </a:prstGeom>
          <a:noFill/>
          <a:ln>
            <a:noFill/>
          </a:ln>
        </p:spPr>
        <p:txBody>
          <a:bodyPr anchorCtr="0" anchor="t" bIns="34275" lIns="68575" spcFirstLastPara="1" rIns="68575" wrap="square" tIns="34275">
            <a:no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Oswald"/>
                <a:ea typeface="Oswald"/>
                <a:cs typeface="Oswald"/>
                <a:sym typeface="Oswald"/>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Oswald"/>
                <a:ea typeface="Oswald"/>
                <a:cs typeface="Oswald"/>
                <a:sym typeface="Oswald"/>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Oswald"/>
                <a:ea typeface="Oswald"/>
                <a:cs typeface="Oswald"/>
                <a:sym typeface="Oswald"/>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Oswald"/>
                <a:ea typeface="Oswald"/>
                <a:cs typeface="Oswald"/>
                <a:sym typeface="Oswald"/>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Oswald"/>
                <a:ea typeface="Oswald"/>
                <a:cs typeface="Oswald"/>
                <a:sym typeface="Oswald"/>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4767265"/>
            <a:ext cx="21336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98989"/>
                </a:solidFill>
                <a:latin typeface="Oswald"/>
                <a:ea typeface="Oswald"/>
                <a:cs typeface="Oswald"/>
                <a:sym typeface="Oswald"/>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4767265"/>
            <a:ext cx="28956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Oswald"/>
                <a:ea typeface="Oswald"/>
                <a:cs typeface="Oswald"/>
                <a:sym typeface="Oswald"/>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4767265"/>
            <a:ext cx="21336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spcAft>
                <a:spcPts val="0"/>
              </a:spcAft>
              <a:buNone/>
              <a:defRPr b="0" i="0" sz="900" u="none" cap="none" strike="noStrike">
                <a:solidFill>
                  <a:srgbClr val="898989"/>
                </a:solidFill>
                <a:latin typeface="Oswald"/>
                <a:ea typeface="Oswald"/>
                <a:cs typeface="Oswald"/>
                <a:sym typeface="Oswald"/>
              </a:defRPr>
            </a:lvl1pPr>
            <a:lvl2pPr indent="0" lvl="1" marL="0" marR="0" rtl="0" algn="r">
              <a:spcBef>
                <a:spcPts val="0"/>
              </a:spcBef>
              <a:spcAft>
                <a:spcPts val="0"/>
              </a:spcAft>
              <a:buNone/>
              <a:defRPr b="0" i="0" sz="900" u="none" cap="none" strike="noStrike">
                <a:solidFill>
                  <a:srgbClr val="898989"/>
                </a:solidFill>
                <a:latin typeface="Oswald"/>
                <a:ea typeface="Oswald"/>
                <a:cs typeface="Oswald"/>
                <a:sym typeface="Oswald"/>
              </a:defRPr>
            </a:lvl2pPr>
            <a:lvl3pPr indent="0" lvl="2" marL="0" marR="0" rtl="0" algn="r">
              <a:spcBef>
                <a:spcPts val="0"/>
              </a:spcBef>
              <a:spcAft>
                <a:spcPts val="0"/>
              </a:spcAft>
              <a:buNone/>
              <a:defRPr b="0" i="0" sz="900" u="none" cap="none" strike="noStrike">
                <a:solidFill>
                  <a:srgbClr val="898989"/>
                </a:solidFill>
                <a:latin typeface="Oswald"/>
                <a:ea typeface="Oswald"/>
                <a:cs typeface="Oswald"/>
                <a:sym typeface="Oswald"/>
              </a:defRPr>
            </a:lvl3pPr>
            <a:lvl4pPr indent="0" lvl="3" marL="0" marR="0" rtl="0" algn="r">
              <a:spcBef>
                <a:spcPts val="0"/>
              </a:spcBef>
              <a:spcAft>
                <a:spcPts val="0"/>
              </a:spcAft>
              <a:buNone/>
              <a:defRPr b="0" i="0" sz="900" u="none" cap="none" strike="noStrike">
                <a:solidFill>
                  <a:srgbClr val="898989"/>
                </a:solidFill>
                <a:latin typeface="Oswald"/>
                <a:ea typeface="Oswald"/>
                <a:cs typeface="Oswald"/>
                <a:sym typeface="Oswald"/>
              </a:defRPr>
            </a:lvl4pPr>
            <a:lvl5pPr indent="0" lvl="4" marL="0" marR="0" rtl="0" algn="r">
              <a:spcBef>
                <a:spcPts val="0"/>
              </a:spcBef>
              <a:spcAft>
                <a:spcPts val="0"/>
              </a:spcAft>
              <a:buNone/>
              <a:defRPr b="0" i="0" sz="900" u="none" cap="none" strike="noStrike">
                <a:solidFill>
                  <a:srgbClr val="898989"/>
                </a:solidFill>
                <a:latin typeface="Oswald"/>
                <a:ea typeface="Oswald"/>
                <a:cs typeface="Oswald"/>
                <a:sym typeface="Oswald"/>
              </a:defRPr>
            </a:lvl5pPr>
            <a:lvl6pPr indent="0" lvl="5" marL="0" marR="0" rtl="0" algn="r">
              <a:spcBef>
                <a:spcPts val="0"/>
              </a:spcBef>
              <a:spcAft>
                <a:spcPts val="0"/>
              </a:spcAft>
              <a:buNone/>
              <a:defRPr b="0" i="0" sz="900" u="none" cap="none" strike="noStrike">
                <a:solidFill>
                  <a:srgbClr val="898989"/>
                </a:solidFill>
                <a:latin typeface="Oswald"/>
                <a:ea typeface="Oswald"/>
                <a:cs typeface="Oswald"/>
                <a:sym typeface="Oswald"/>
              </a:defRPr>
            </a:lvl6pPr>
            <a:lvl7pPr indent="0" lvl="6" marL="0" marR="0" rtl="0" algn="r">
              <a:spcBef>
                <a:spcPts val="0"/>
              </a:spcBef>
              <a:spcAft>
                <a:spcPts val="0"/>
              </a:spcAft>
              <a:buNone/>
              <a:defRPr b="0" i="0" sz="900" u="none" cap="none" strike="noStrike">
                <a:solidFill>
                  <a:srgbClr val="898989"/>
                </a:solidFill>
                <a:latin typeface="Oswald"/>
                <a:ea typeface="Oswald"/>
                <a:cs typeface="Oswald"/>
                <a:sym typeface="Oswald"/>
              </a:defRPr>
            </a:lvl7pPr>
            <a:lvl8pPr indent="0" lvl="7" marL="0" marR="0" rtl="0" algn="r">
              <a:spcBef>
                <a:spcPts val="0"/>
              </a:spcBef>
              <a:spcAft>
                <a:spcPts val="0"/>
              </a:spcAft>
              <a:buNone/>
              <a:defRPr b="0" i="0" sz="900" u="none" cap="none" strike="noStrike">
                <a:solidFill>
                  <a:srgbClr val="898989"/>
                </a:solidFill>
                <a:latin typeface="Oswald"/>
                <a:ea typeface="Oswald"/>
                <a:cs typeface="Oswald"/>
                <a:sym typeface="Oswald"/>
              </a:defRPr>
            </a:lvl8pPr>
            <a:lvl9pPr indent="0" lvl="8" marL="0" marR="0" rtl="0" algn="r">
              <a:spcBef>
                <a:spcPts val="0"/>
              </a:spcBef>
              <a:spcAft>
                <a:spcPts val="0"/>
              </a:spcAft>
              <a:buNone/>
              <a:defRPr b="0" i="0" sz="9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9.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7.png"/><Relationship Id="rId13"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15.png"/><Relationship Id="rId7" Type="http://schemas.openxmlformats.org/officeDocument/2006/relationships/image" Target="../media/image17.png"/><Relationship Id="rId8" Type="http://schemas.openxmlformats.org/officeDocument/2006/relationships/image" Target="../media/image12.png"/><Relationship Id="rId9" Type="http://schemas.openxmlformats.org/officeDocument/2006/relationships/image" Target="../media/image8.png"/><Relationship Id="rId10" Type="http://schemas.openxmlformats.org/officeDocument/2006/relationships/image" Target="../media/image16.png"/><Relationship Id="rId11" Type="http://schemas.openxmlformats.org/officeDocument/2006/relationships/image" Target="../media/image5.png"/><Relationship Id="rId12" Type="http://schemas.openxmlformats.org/officeDocument/2006/relationships/image" Target="../media/image13.png"/><Relationship Id="rId13" Type="http://schemas.openxmlformats.org/officeDocument/2006/relationships/image" Target="../media/image6.png"/><Relationship Id="rId14" Type="http://schemas.openxmlformats.org/officeDocument/2006/relationships/image" Target="../media/image10.png"/><Relationship Id="rId15" Type="http://schemas.openxmlformats.org/officeDocument/2006/relationships/image" Target="../media/image14.png"/><Relationship Id="rId16" Type="http://schemas.openxmlformats.org/officeDocument/2006/relationships/image" Target="../media/image18.png"/><Relationship Id="rId17" Type="http://schemas.openxmlformats.org/officeDocument/2006/relationships/image" Target="../media/image21.png"/><Relationship Id="rId18" Type="http://schemas.openxmlformats.org/officeDocument/2006/relationships/image" Target="../media/image24.png"/><Relationship Id="rId19" Type="http://schemas.openxmlformats.org/officeDocument/2006/relationships/image" Target="../media/image29.png"/><Relationship Id="rId20"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hyperlink" Target="https://example.com/replace-with-demo-video" TargetMode="External"/><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31.png"/><Relationship Id="rId8"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hyperlink" Target="https://doi.org/10.1080/1755876X.2015.1022330" TargetMode="External"/><Relationship Id="rId5" Type="http://schemas.openxmlformats.org/officeDocument/2006/relationships/hyperlink" Target="https://doi.org/10.3389/fmars.2020.00700" TargetMode="External"/><Relationship Id="rId6" Type="http://schemas.openxmlformats.org/officeDocument/2006/relationships/hyperlink" Target="https://www.teos-10.org/" TargetMode="External"/><Relationship Id="rId7" Type="http://schemas.openxmlformats.org/officeDocument/2006/relationships/hyperlink" Target="https://www.currentscience.ac.in/Volumes/105/02/0175.pdf" TargetMode="External"/><Relationship Id="rId8" Type="http://schemas.openxmlformats.org/officeDocument/2006/relationships/hyperlink" Target="https://www.sciencedirect.com/science/article/pii/S1364815220309658" TargetMode="External"/><Relationship Id="rId9" Type="http://schemas.openxmlformats.org/officeDocument/2006/relationships/hyperlink" Target="https://www.mdpi.com/2076-3417/15/5/2782" TargetMode="External"/><Relationship Id="rId10" Type="http://schemas.openxmlformats.org/officeDocument/2006/relationships/hyperlink" Target="https://doi.org/10.1175/JTECH-D-19-0041.1" TargetMode="External"/><Relationship Id="rId11" Type="http://schemas.openxmlformats.org/officeDocument/2006/relationships/hyperlink" Target="https://www.sciencedirect.com/science/article/pii/S1364815213000947" TargetMode="External"/><Relationship Id="rId12" Type="http://schemas.openxmlformats.org/officeDocument/2006/relationships/hyperlink" Target="https://www.mdpi.com/2077-1312/7/4/110" TargetMode="External"/><Relationship Id="rId13" Type="http://schemas.openxmlformats.org/officeDocument/2006/relationships/hyperlink" Target="https://arxiv.org/abs/2309.14328" TargetMode="External"/><Relationship Id="rId14" Type="http://schemas.openxmlformats.org/officeDocument/2006/relationships/hyperlink" Target="https://erddap.incois.gov.in/erddap/index.html" TargetMode="External"/><Relationship Id="rId15" Type="http://schemas.openxmlformats.org/officeDocument/2006/relationships/hyperlink" Target="https://data-argo.ifremer.fr/" TargetMode="External"/><Relationship Id="rId16" Type="http://schemas.openxmlformats.org/officeDocument/2006/relationships/hyperlink" Target="https://data.marine.copernicus.eu/product/GLOBAL_ANALYSISFORECAST_PHY_001_024/description" TargetMode="External"/><Relationship Id="rId17" Type="http://schemas.openxmlformats.org/officeDocument/2006/relationships/hyperlink" Target="https://www.pmel.noaa.gov/gtmba/pmel-theme/indian-ocean-rama" TargetMode="External"/><Relationship Id="rId18" Type="http://schemas.openxmlformats.org/officeDocument/2006/relationships/hyperlink" Target="https://sachet.ndma.gov.in/" TargetMode="External"/><Relationship Id="rId19" Type="http://schemas.openxmlformats.org/officeDocument/2006/relationships/hyperlink" Target="https://incois.gov.in/" TargetMode="External"/><Relationship Id="rId20" Type="http://schemas.openxmlformats.org/officeDocument/2006/relationships/hyperlink" Target="https://cfconventions.org/" TargetMode="External"/><Relationship Id="rId21" Type="http://schemas.openxmlformats.org/officeDocument/2006/relationships/hyperlink" Target="https://www.ogc.org/standards/wms" TargetMode="External"/><Relationship Id="rId22" Type="http://schemas.openxmlformats.org/officeDocument/2006/relationships/hyperlink" Target="https://www.ogc.org/standards/wcs" TargetMode="External"/><Relationship Id="rId23" Type="http://schemas.openxmlformats.org/officeDocument/2006/relationships/hyperlink" Target="http://docs.oasis-open.org/emergency/cap/v1.2/CAP-v1.2-os.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40" name="TextBox 139"/>
          <p:cNvSpPr txBox="1"/>
          <p:nvPr/>
        </p:nvSpPr>
        <p:spPr>
          <a:xfrm>
            <a:off x="45720" y="5074920"/>
            <a:ext cx="9052560" cy="45720"/>
          </a:xfrm>
          <a:prstGeom prst="rect">
            <a:avLst/>
          </a:prstGeom>
          <a:noFill/>
        </p:spPr>
        <p:txBody>
          <a:bodyPr wrap="none" lIns="27432" rIns="27432" tIns="18288" bIns="18288" anchor="t">
            <a:spAutoFit/>
          </a:bodyPr>
          <a:lstStyle/>
          <a:p>
            <a:pPr>
              <a:lnSpc>
                <a:spcPct val="50000"/>
              </a:lnSpc>
            </a:pPr>
            <a:r>
              <a:rPr sz="100">
                <a:solidFill>
                  <a:srgbClr val="FFFFFF"/>
                </a:solidFill>
              </a:rPr>
              <a:t>SagarDrishti SIH26067 Ministry of Earth Sciences INCOIS Indian National Centre for Ocean Information Services web-based interactive 3D visualization platform numerical ocean model outputs in-situ observations Disaster Management Software Bay of Bengal Indian Ocean</a:t>
            </a:r>
          </a:p>
        </p:txBody>
      </p:sp>
      <p:sp>
        <p:nvSpPr>
          <p:cNvPr id="129" name="Google Shape;129;p25"/>
          <p:cNvSpPr/>
          <p:nvPr/>
        </p:nvSpPr>
        <p:spPr>
          <a:xfrm>
            <a:off x="4488391" y="383507"/>
            <a:ext cx="3478953" cy="3866225"/>
          </a:xfrm>
          <a:custGeom>
            <a:rect b="b" l="l" r="r" t="t"/>
            <a:pathLst>
              <a:path extrusionOk="0" h="5154967" w="6184806">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rgbClr val="7F7F7F">
              <a:alpha val="149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0" name="Google Shape;130;p25"/>
          <p:cNvSpPr txBox="1"/>
          <p:nvPr>
            <p:ph type="ctrTitle"/>
          </p:nvPr>
        </p:nvSpPr>
        <p:spPr>
          <a:xfrm>
            <a:off x="646675" y="106173"/>
            <a:ext cx="6908400" cy="4527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n-GB" sz="3000">
                <a:solidFill>
                  <a:schemeClr val="dk2"/>
                </a:solidFill>
                <a:latin typeface="Garamond"/>
                <a:ea typeface="Garamond"/>
                <a:cs typeface="Garamond"/>
                <a:sym typeface="Garamond"/>
              </a:rPr>
              <a:t>SMART INDIA HACKATHON 2026</a:t>
            </a:r>
            <a:endParaRPr b="1" sz="3000">
              <a:solidFill>
                <a:schemeClr val="dk2"/>
              </a:solidFill>
              <a:latin typeface="Garamond"/>
              <a:ea typeface="Garamond"/>
              <a:cs typeface="Garamond"/>
              <a:sym typeface="Garamond"/>
            </a:endParaRPr>
          </a:p>
        </p:txBody>
      </p:sp>
      <p:sp>
        <p:nvSpPr>
          <p:cNvPr id="131" name="Google Shape;131;p25"/>
          <p:cNvSpPr txBox="1"/>
          <p:nvPr/>
        </p:nvSpPr>
        <p:spPr>
          <a:xfrm>
            <a:off x="277794" y="809251"/>
            <a:ext cx="4149000" cy="83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3300" u="none" cap="none" strike="noStrike">
                <a:solidFill>
                  <a:srgbClr val="0B2E4F"/>
                </a:solidFill>
                <a:latin typeface="Calibri"/>
                <a:ea typeface="Calibri"/>
                <a:cs typeface="Calibri"/>
                <a:sym typeface="Calibri"/>
              </a:rPr>
              <a:t>SagarDrishti</a:t>
            </a:r>
            <a:endParaRPr b="1" sz="3300">
              <a:solidFill>
                <a:srgbClr val="0B2E4F"/>
              </a:solidFill>
              <a:latin typeface="Calibri"/>
              <a:ea typeface="Calibri"/>
              <a:cs typeface="Calibri"/>
              <a:sym typeface="Calibri"/>
            </a:endParaRPr>
          </a:p>
          <a:p>
            <a:pPr indent="0" lvl="0" marL="0" marR="0" rtl="0" algn="l">
              <a:spcBef>
                <a:spcPts val="100"/>
              </a:spcBef>
              <a:spcAft>
                <a:spcPts val="0"/>
              </a:spcAft>
              <a:buNone/>
            </a:pPr>
            <a:r>
              <a:rPr b="0" i="1" lang="en-GB" sz="1600" u="none" cap="none" strike="noStrike">
                <a:solidFill>
                  <a:srgbClr val="12688F"/>
                </a:solidFill>
                <a:latin typeface="Calibri"/>
                <a:ea typeface="Calibri"/>
                <a:cs typeface="Calibri"/>
                <a:sym typeface="Calibri"/>
              </a:rPr>
              <a:t>A browser-native 3D digital twin of India's ocean</a:t>
            </a:r>
            <a:endParaRPr sz="1700"/>
          </a:p>
        </p:txBody>
      </p:sp>
      <p:pic>
        <p:nvPicPr>
          <p:cNvPr id="132" name="Google Shape;132;p25"/>
          <p:cNvPicPr preferRelativeResize="0"/>
          <p:nvPr/>
        </p:nvPicPr>
        <p:blipFill rotWithShape="1">
          <a:blip r:embed="rId3">
            <a:alphaModFix/>
          </a:blip>
          <a:srcRect b="0" l="0" r="0" t="0"/>
          <a:stretch/>
        </p:blipFill>
        <p:spPr>
          <a:xfrm>
            <a:off x="7335064" y="1125"/>
            <a:ext cx="1687388" cy="796752"/>
          </a:xfrm>
          <a:prstGeom prst="rect">
            <a:avLst/>
          </a:prstGeom>
          <a:noFill/>
          <a:ln>
            <a:noFill/>
          </a:ln>
        </p:spPr>
      </p:pic>
      <p:sp>
        <p:nvSpPr>
          <p:cNvPr id="134" name="Google Shape;134;p25"/>
          <p:cNvSpPr/>
          <p:nvPr/>
        </p:nvSpPr>
        <p:spPr>
          <a:xfrm>
            <a:off x="288036" y="1693518"/>
            <a:ext cx="1577400" cy="30900"/>
          </a:xfrm>
          <a:prstGeom prst="rect">
            <a:avLst/>
          </a:prstGeom>
          <a:solidFill>
            <a:srgbClr val="C4452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5" name="Google Shape;135;p25"/>
          <p:cNvSpPr txBox="1"/>
          <p:nvPr/>
        </p:nvSpPr>
        <p:spPr>
          <a:xfrm>
            <a:off x="277800" y="1896027"/>
            <a:ext cx="4149000" cy="19266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Problem Statement ID - </a:t>
            </a:r>
            <a:r>
              <a:rPr b="0" i="0" lang="en-GB" u="none" cap="none" strike="noStrike">
                <a:solidFill>
                  <a:srgbClr val="14202B"/>
                </a:solidFill>
                <a:latin typeface="Calibri"/>
                <a:ea typeface="Calibri"/>
                <a:cs typeface="Calibri"/>
                <a:sym typeface="Calibri"/>
              </a:rPr>
              <a:t>SIH26067</a:t>
            </a:r>
            <a:endParaRPr sz="1700">
              <a:latin typeface="Calibri"/>
              <a:ea typeface="Calibri"/>
              <a:cs typeface="Calibri"/>
              <a:sym typeface="Calibri"/>
            </a:endParaRPr>
          </a:p>
          <a:p>
            <a:pPr indent="0" lvl="0" marL="0" marR="0" rtl="0" algn="l">
              <a:lnSpc>
                <a:spcPct val="100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Problem Statement Title - </a:t>
            </a:r>
            <a:r>
              <a:rPr lang="en-GB">
                <a:solidFill>
                  <a:srgbClr val="212529"/>
                </a:solidFill>
                <a:highlight>
                  <a:srgbClr val="FFFFFF"/>
                </a:highlight>
                <a:latin typeface="Calibri"/>
                <a:ea typeface="Calibri"/>
                <a:cs typeface="Calibri"/>
                <a:sym typeface="Calibri"/>
              </a:rPr>
              <a:t>Develop </a:t>
            </a:r>
            <a:r>
              <a:rPr lang="en-GB">
                <a:solidFill>
                  <a:srgbClr val="212529"/>
                </a:solidFill>
                <a:highlight>
                  <a:srgbClr val="FFFFFF"/>
                </a:highlight>
                <a:latin typeface="Calibri"/>
                <a:ea typeface="Calibri"/>
                <a:cs typeface="Calibri"/>
                <a:sym typeface="Calibri"/>
              </a:rPr>
              <a:t>a web-based interactive 3D visualization platform that integrates numerical ocean model outputs and in-situ observations.</a:t>
            </a:r>
            <a:r>
              <a:rPr lang="en-GB" sz="1100">
                <a:solidFill>
                  <a:schemeClr val="dk1"/>
                </a:solidFill>
              </a:rPr>
              <a:t> </a:t>
            </a:r>
            <a:endParaRPr sz="1700"/>
          </a:p>
          <a:p>
            <a:pPr indent="0" lvl="0" marL="0" marR="0" rtl="0" algn="l">
              <a:lnSpc>
                <a:spcPct val="95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Theme - </a:t>
            </a:r>
            <a:r>
              <a:rPr b="0" i="0" lang="en-GB" u="none" cap="none" strike="noStrike">
                <a:solidFill>
                  <a:srgbClr val="14202B"/>
                </a:solidFill>
                <a:latin typeface="Calibri"/>
                <a:ea typeface="Calibri"/>
                <a:cs typeface="Calibri"/>
                <a:sym typeface="Calibri"/>
              </a:rPr>
              <a:t>Disaster Management</a:t>
            </a:r>
            <a:endParaRPr sz="1700"/>
          </a:p>
          <a:p>
            <a:pPr indent="0" lvl="0" marL="0" marR="0" rtl="0" algn="l">
              <a:lnSpc>
                <a:spcPct val="95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PS Category - </a:t>
            </a:r>
            <a:r>
              <a:rPr b="0" i="0" lang="en-GB" u="none" cap="none" strike="noStrike">
                <a:solidFill>
                  <a:srgbClr val="14202B"/>
                </a:solidFill>
                <a:latin typeface="Calibri"/>
                <a:ea typeface="Calibri"/>
                <a:cs typeface="Calibri"/>
                <a:sym typeface="Calibri"/>
              </a:rPr>
              <a:t>Software</a:t>
            </a:r>
            <a:endParaRPr sz="1700"/>
          </a:p>
          <a:p>
            <a:pPr indent="0" lvl="0" marL="0" marR="0" rtl="0" algn="l">
              <a:lnSpc>
                <a:spcPct val="95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Team ID </a:t>
            </a:r>
            <a:r>
              <a:rPr b="1" i="0" lang="en-GB" u="none" cap="none" strike="noStrike">
                <a:solidFill>
                  <a:srgbClr val="0B2E4F"/>
                </a:solidFill>
                <a:latin typeface="Calibri"/>
                <a:ea typeface="Calibri"/>
                <a:cs typeface="Calibri"/>
                <a:sym typeface="Calibri"/>
              </a:rPr>
              <a:t>- </a:t>
            </a:r>
            <a:endParaRPr sz="1700"/>
          </a:p>
          <a:p>
            <a:pPr indent="0" lvl="0" marL="0" marR="0" rtl="0" algn="l">
              <a:lnSpc>
                <a:spcPct val="95000"/>
              </a:lnSpc>
              <a:spcBef>
                <a:spcPts val="400"/>
              </a:spcBef>
              <a:spcAft>
                <a:spcPts val="0"/>
              </a:spcAft>
              <a:buNone/>
            </a:pPr>
            <a:r>
              <a:rPr b="1" i="0" lang="en-GB" sz="1300" u="none" cap="none" strike="noStrike">
                <a:solidFill>
                  <a:srgbClr val="C44528"/>
                </a:solidFill>
                <a:latin typeface="Calibri"/>
                <a:ea typeface="Calibri"/>
                <a:cs typeface="Calibri"/>
                <a:sym typeface="Calibri"/>
              </a:rPr>
              <a:t>▪  </a:t>
            </a:r>
            <a:r>
              <a:rPr b="1" i="0" lang="en-GB" u="none" cap="none" strike="noStrike">
                <a:solidFill>
                  <a:srgbClr val="0B2E4F"/>
                </a:solidFill>
                <a:latin typeface="Calibri"/>
                <a:ea typeface="Calibri"/>
                <a:cs typeface="Calibri"/>
                <a:sym typeface="Calibri"/>
              </a:rPr>
              <a:t>Team Name (Registered on portal) - </a:t>
            </a:r>
            <a:r>
              <a:rPr lang="en-GB">
                <a:solidFill>
                  <a:srgbClr val="14202B"/>
                </a:solidFill>
                <a:latin typeface="Calibri"/>
                <a:ea typeface="Calibri"/>
                <a:cs typeface="Calibri"/>
                <a:sym typeface="Calibri"/>
              </a:rPr>
              <a:t>PixelPaws</a:t>
            </a:r>
            <a:endParaRPr sz="1700"/>
          </a:p>
        </p:txBody>
      </p:sp>
      <p:sp>
        <p:nvSpPr>
          <p:cNvPr id="136" name="Google Shape;136;p25"/>
          <p:cNvSpPr/>
          <p:nvPr/>
        </p:nvSpPr>
        <p:spPr>
          <a:xfrm>
            <a:off x="288025" y="4319825"/>
            <a:ext cx="8606100" cy="4878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7" name="Google Shape;137;p25"/>
          <p:cNvSpPr/>
          <p:nvPr/>
        </p:nvSpPr>
        <p:spPr>
          <a:xfrm>
            <a:off x="288024" y="4319750"/>
            <a:ext cx="67800" cy="487800"/>
          </a:xfrm>
          <a:prstGeom prst="rect">
            <a:avLst/>
          </a:prstGeom>
          <a:solidFill>
            <a:srgbClr val="C4452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8" name="Google Shape;138;p25"/>
          <p:cNvSpPr txBox="1"/>
          <p:nvPr/>
        </p:nvSpPr>
        <p:spPr>
          <a:xfrm>
            <a:off x="452625" y="4350554"/>
            <a:ext cx="8441400" cy="394800"/>
          </a:xfrm>
          <a:prstGeom prst="rect">
            <a:avLst/>
          </a:prstGeom>
          <a:noFill/>
          <a:ln>
            <a:noFill/>
          </a:ln>
        </p:spPr>
        <p:txBody>
          <a:bodyPr anchorCtr="0" anchor="ctr" bIns="0" lIns="0" spcFirstLastPara="1" rIns="0" wrap="square" tIns="0">
            <a:spAutoFit/>
          </a:bodyPr>
          <a:lstStyle/>
          <a:p>
            <a:pPr indent="0" lvl="0" marL="0" marR="0" rtl="0" algn="l">
              <a:lnSpc>
                <a:spcPct val="95000"/>
              </a:lnSpc>
              <a:spcBef>
                <a:spcPts val="0"/>
              </a:spcBef>
              <a:spcAft>
                <a:spcPts val="0"/>
              </a:spcAft>
              <a:buNone/>
            </a:pPr>
            <a:r>
              <a:rPr b="1" i="0" lang="en-GB" u="none" cap="none" strike="noStrike">
                <a:solidFill>
                  <a:srgbClr val="6FD4D0"/>
                </a:solidFill>
                <a:latin typeface="Calibri"/>
                <a:ea typeface="Calibri"/>
                <a:cs typeface="Calibri"/>
                <a:sym typeface="Calibri"/>
              </a:rPr>
              <a:t>Not a proposal on paper.   </a:t>
            </a:r>
            <a:r>
              <a:rPr b="0" i="0" lang="en-GB" sz="1300" u="none" cap="none" strike="noStrike">
                <a:solidFill>
                  <a:srgbClr val="D3E3EC"/>
                </a:solidFill>
                <a:latin typeface="Calibri"/>
                <a:ea typeface="Calibri"/>
                <a:cs typeface="Calibri"/>
                <a:sym typeface="Calibri"/>
              </a:rPr>
              <a:t>567 automated tests  ·  51 fps at 1080p on integrated graphics  ·  30,012 QC-passed instrument levels  ·  zero requests leave the machine.</a:t>
            </a:r>
            <a:endParaRPr sz="1700"/>
          </a:p>
        </p:txBody>
      </p:sp>
      <p:pic>
        <p:nvPicPr>
          <p:cNvPr id="139" name="Google Shape;139;p25"/>
          <p:cNvPicPr preferRelativeResize="0"/>
          <p:nvPr/>
        </p:nvPicPr>
        <p:blipFill rotWithShape="1">
          <a:blip r:embed="rId4">
            <a:alphaModFix/>
          </a:blip>
          <a:srcRect b="0" l="0" r="59917" t="0"/>
          <a:stretch/>
        </p:blipFill>
        <p:spPr>
          <a:xfrm>
            <a:off x="5595943" y="780823"/>
            <a:ext cx="2402632" cy="25696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95" name="TextBox 194"/>
          <p:cNvSpPr txBox="1"/>
          <p:nvPr/>
        </p:nvSpPr>
        <p:spPr>
          <a:xfrm>
            <a:off x="45720" y="5074920"/>
            <a:ext cx="9052560" cy="45720"/>
          </a:xfrm>
          <a:prstGeom prst="rect">
            <a:avLst/>
          </a:prstGeom>
          <a:noFill/>
        </p:spPr>
        <p:txBody>
          <a:bodyPr wrap="none" lIns="27432" rIns="27432" tIns="18288" bIns="18288" anchor="t">
            <a:spAutoFit/>
          </a:bodyPr>
          <a:lstStyle/>
          <a:p>
            <a:pPr>
              <a:lnSpc>
                <a:spcPct val="50000"/>
              </a:lnSpc>
            </a:pPr>
            <a:r>
              <a:rPr sz="100">
                <a:solidFill>
                  <a:srgbClr val="FFFFFF"/>
                </a:solidFill>
              </a:rPr>
              <a:t>volumetric rendering depth-slice navigation isosurface extraction time-step animation Argo profiling float glider CTD BGC biogeochemical moored buoy in-situ instrument profile depth-vs-variable chart geospatially accurate markers co-visualization single interactive environment</a:t>
            </a:r>
          </a:p>
        </p:txBody>
      </p:sp>
      <p:sp>
        <p:nvSpPr>
          <p:cNvPr id="145" name="Google Shape;145;p26"/>
          <p:cNvSpPr/>
          <p:nvPr/>
        </p:nvSpPr>
        <p:spPr>
          <a:xfrm>
            <a:off x="0" y="4766072"/>
            <a:ext cx="9144000" cy="377400"/>
          </a:xfrm>
          <a:prstGeom prst="rect">
            <a:avLst/>
          </a:prstGeom>
          <a:solidFill>
            <a:srgbClr val="0070C0"/>
          </a:solidFill>
          <a:ln>
            <a:noFill/>
          </a:ln>
          <a:effectLst>
            <a:outerShdw rotWithShape="0" dir="5400000" dist="23000">
              <a:srgbClr val="80808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b="0" i="0" sz="1400" u="none" cap="none" strike="noStrike">
              <a:solidFill>
                <a:srgbClr val="953734"/>
              </a:solidFill>
              <a:latin typeface="Calibri"/>
              <a:ea typeface="Calibri"/>
              <a:cs typeface="Calibri"/>
              <a:sym typeface="Calibri"/>
            </a:endParaRPr>
          </a:p>
        </p:txBody>
      </p:sp>
      <p:sp>
        <p:nvSpPr>
          <p:cNvPr id="146" name="Google Shape;146;p26"/>
          <p:cNvSpPr txBox="1"/>
          <p:nvPr>
            <p:ph type="title"/>
          </p:nvPr>
        </p:nvSpPr>
        <p:spPr>
          <a:xfrm>
            <a:off x="2376325" y="149525"/>
            <a:ext cx="4374300" cy="6054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lang="en-GB" sz="2500">
                <a:solidFill>
                  <a:srgbClr val="0B2E4F"/>
                </a:solidFill>
                <a:latin typeface="Times New Roman"/>
                <a:ea typeface="Times New Roman"/>
                <a:cs typeface="Times New Roman"/>
                <a:sym typeface="Times New Roman"/>
              </a:rPr>
              <a:t>The Problem &amp; Our Solution</a:t>
            </a:r>
            <a:endParaRPr sz="2500"/>
          </a:p>
        </p:txBody>
      </p:sp>
      <p:sp>
        <p:nvSpPr>
          <p:cNvPr id="147" name="Google Shape;147;p26"/>
          <p:cNvSpPr txBox="1"/>
          <p:nvPr>
            <p:ph idx="12" type="sldNum"/>
          </p:nvPr>
        </p:nvSpPr>
        <p:spPr>
          <a:xfrm>
            <a:off x="6553200" y="4817396"/>
            <a:ext cx="21336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b="1" lang="en-GB" sz="1100">
                <a:solidFill>
                  <a:schemeClr val="lt1"/>
                </a:solidFill>
              </a:rPr>
              <a:t>‹#›</a:t>
            </a:fld>
            <a:endParaRPr b="1" sz="1100">
              <a:solidFill>
                <a:schemeClr val="lt1"/>
              </a:solidFill>
            </a:endParaRPr>
          </a:p>
        </p:txBody>
      </p:sp>
      <p:sp>
        <p:nvSpPr>
          <p:cNvPr id="148" name="Google Shape;148;p26"/>
          <p:cNvSpPr txBox="1"/>
          <p:nvPr>
            <p:ph idx="11" type="ftr"/>
          </p:nvPr>
        </p:nvSpPr>
        <p:spPr>
          <a:xfrm>
            <a:off x="3227220" y="4802772"/>
            <a:ext cx="2983500" cy="2739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i="0" lang="en-GB" sz="700">
                <a:solidFill>
                  <a:srgbClr val="FFFFFF"/>
                </a:solidFill>
                <a:latin typeface="Calibri"/>
                <a:ea typeface="Calibri"/>
                <a:cs typeface="Calibri"/>
                <a:sym typeface="Calibri"/>
              </a:rPr>
              <a:t>SagarDrishti  ·  PS SIH26067  ·  @SIH Idea Submission</a:t>
            </a:r>
            <a:endParaRPr sz="1300">
              <a:solidFill>
                <a:schemeClr val="lt1"/>
              </a:solidFill>
            </a:endParaRPr>
          </a:p>
        </p:txBody>
      </p:sp>
      <p:sp>
        <p:nvSpPr>
          <p:cNvPr descr="Your startup LOGO" id="149" name="Google Shape;149;p26"/>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rtl="0" algn="l">
              <a:lnSpc>
                <a:spcPct val="95000"/>
              </a:lnSpc>
              <a:spcBef>
                <a:spcPts val="400"/>
              </a:spcBef>
              <a:spcAft>
                <a:spcPts val="0"/>
              </a:spcAft>
              <a:buClr>
                <a:schemeClr val="dk1"/>
              </a:buClr>
              <a:buFont typeface="Arial"/>
              <a:buNone/>
            </a:pPr>
            <a:r>
              <a:rPr b="1" lang="en-GB" sz="1200">
                <a:solidFill>
                  <a:srgbClr val="FF0000"/>
                </a:solidFill>
                <a:latin typeface="Calibri"/>
                <a:ea typeface="Calibri"/>
                <a:cs typeface="Calibri"/>
                <a:sym typeface="Calibri"/>
              </a:rPr>
              <a:t>Pixel</a:t>
            </a:r>
            <a:r>
              <a:rPr b="1" lang="en-GB" sz="1200">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pic>
        <p:nvPicPr>
          <p:cNvPr id="150" name="Google Shape;150;p26"/>
          <p:cNvPicPr preferRelativeResize="0"/>
          <p:nvPr/>
        </p:nvPicPr>
        <p:blipFill rotWithShape="1">
          <a:blip r:embed="rId4">
            <a:alphaModFix/>
          </a:blip>
          <a:srcRect b="0" l="0" r="0" t="0"/>
          <a:stretch/>
        </p:blipFill>
        <p:spPr>
          <a:xfrm>
            <a:off x="7335064" y="1125"/>
            <a:ext cx="1687388" cy="796752"/>
          </a:xfrm>
          <a:prstGeom prst="rect">
            <a:avLst/>
          </a:prstGeom>
          <a:noFill/>
          <a:ln>
            <a:noFill/>
          </a:ln>
        </p:spPr>
      </p:pic>
      <p:sp>
        <p:nvSpPr>
          <p:cNvPr id="151" name="Google Shape;151;p26"/>
          <p:cNvSpPr/>
          <p:nvPr/>
        </p:nvSpPr>
        <p:spPr>
          <a:xfrm>
            <a:off x="178308" y="850392"/>
            <a:ext cx="8785200" cy="3567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b="0" i="0" sz="1400" u="none" cap="none" strike="noStrike">
              <a:solidFill>
                <a:schemeClr val="dk1"/>
              </a:solidFill>
              <a:latin typeface="Calibri"/>
              <a:ea typeface="Calibri"/>
              <a:cs typeface="Calibri"/>
              <a:sym typeface="Calibri"/>
            </a:endParaRPr>
          </a:p>
        </p:txBody>
      </p:sp>
      <p:sp>
        <p:nvSpPr>
          <p:cNvPr id="152" name="Google Shape;152;p26"/>
          <p:cNvSpPr txBox="1"/>
          <p:nvPr/>
        </p:nvSpPr>
        <p:spPr>
          <a:xfrm>
            <a:off x="266879" y="895040"/>
            <a:ext cx="8593200" cy="215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GB" sz="1400" u="none" cap="none" strike="noStrike">
                <a:solidFill>
                  <a:srgbClr val="FFFFFF"/>
                </a:solidFill>
                <a:latin typeface="Calibri"/>
                <a:ea typeface="Calibri"/>
                <a:cs typeface="Calibri"/>
                <a:sym typeface="Calibri"/>
              </a:rPr>
              <a:t>SagarDrishti     Bay of Bengal: model fields and the instruments in the water, on one screen, with a number for the gap between them.</a:t>
            </a:r>
            <a:endParaRPr b="1" sz="1300"/>
          </a:p>
        </p:txBody>
      </p:sp>
      <p:sp>
        <p:nvSpPr>
          <p:cNvPr id="153" name="Google Shape;153;p26"/>
          <p:cNvSpPr/>
          <p:nvPr/>
        </p:nvSpPr>
        <p:spPr>
          <a:xfrm>
            <a:off x="178308" y="1250584"/>
            <a:ext cx="2229000" cy="1920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spcBef>
                <a:spcPts val="0"/>
              </a:spcBef>
              <a:spcAft>
                <a:spcPts val="0"/>
              </a:spcAft>
              <a:buNone/>
            </a:pPr>
            <a:r>
              <a:rPr b="1" i="0" lang="en-GB" sz="900">
                <a:solidFill>
                  <a:srgbClr val="FFFFFF"/>
                </a:solidFill>
                <a:latin typeface="Calibri"/>
                <a:ea typeface="Calibri"/>
                <a:cs typeface="Calibri"/>
                <a:sym typeface="Calibri"/>
              </a:rPr>
              <a:t>THE PROBLEM  ·  INCOIS'S OWN WORDS</a:t>
            </a:r>
            <a:endParaRPr sz="1100"/>
          </a:p>
        </p:txBody>
      </p:sp>
      <p:sp>
        <p:nvSpPr>
          <p:cNvPr id="154" name="Google Shape;154;p26"/>
          <p:cNvSpPr/>
          <p:nvPr/>
        </p:nvSpPr>
        <p:spPr>
          <a:xfrm>
            <a:off x="178300" y="1495050"/>
            <a:ext cx="4725900" cy="566928"/>
          </a:xfrm>
          <a:prstGeom prst="rect">
            <a:avLst/>
          </a:prstGeom>
          <a:solidFill>
            <a:srgbClr val="EFF4F7"/>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155" name="Google Shape;155;p26"/>
          <p:cNvSpPr txBox="1"/>
          <p:nvPr/>
        </p:nvSpPr>
        <p:spPr>
          <a:xfrm>
            <a:off x="206401" y="1553384"/>
            <a:ext cx="4725900" cy="530352"/>
          </a:xfrm>
          <a:prstGeom prst="rect">
            <a:avLst/>
          </a:prstGeom>
          <a:noFill/>
          <a:ln>
            <a:noFill/>
          </a:ln>
        </p:spPr>
        <p:txBody>
          <a:bodyPr anchorCtr="0" anchor="t" bIns="0" lIns="0" spcFirstLastPara="1" rIns="0" wrap="square" tIns="0">
            <a:spAutoFit/>
          </a:bodyPr>
          <a:lstStyle/>
          <a:p>
            <a:pPr indent="0" lvl="0" marL="0" marR="0" rtl="0" algn="l">
              <a:lnSpc>
                <a:spcPct val="88000"/>
              </a:lnSpc>
              <a:spcBef>
                <a:spcPts val="0"/>
              </a:spcBef>
              <a:spcAft>
                <a:spcPts val="0"/>
              </a:spcAft>
              <a:buNone/>
            </a:pPr>
            <a:r>
              <a:rPr b="1" i="0" lang="en-GB" sz="900">
                <a:solidFill>
                  <a:srgbClr val="12688F"/>
                </a:solidFill>
                <a:latin typeface="Calibri"/>
                <a:ea typeface="Calibri"/>
                <a:cs typeface="Calibri"/>
                <a:sym typeface="Calibri"/>
              </a:rPr>
              <a:t>▪  </a:t>
            </a:r>
            <a:r>
              <a:rPr b="1" i="0" lang="en-GB" sz="900">
                <a:solidFill>
                  <a:srgbClr val="C44528"/>
                </a:solidFill>
                <a:latin typeface="Calibri"/>
                <a:ea typeface="Calibri"/>
                <a:cs typeface="Calibri"/>
                <a:sym typeface="Calibri"/>
              </a:rPr>
              <a:t>“No integrated, web-based 3D visualization platform currently exists”</a:t>
            </a:r>
            <a:r>
              <a:rPr b="0" i="0" lang="en-GB" sz="900">
                <a:solidFill>
                  <a:srgbClr val="14202B"/>
                </a:solidFill>
                <a:latin typeface="Calibri"/>
                <a:ea typeface="Calibri"/>
                <a:cs typeface="Calibri"/>
                <a:sym typeface="Calibri"/>
              </a:rPr>
              <a:t> so forecasters toggle between disparate software packages, which impedes hazard assessment, search and rescue, fishery advisories and climate monitoring.</a:t>
            </a:r>
            <a:endParaRPr sz="1000"/>
          </a:p>
        </p:txBody>
      </p:sp>
      <p:sp>
        <p:nvSpPr>
          <p:cNvPr id="156" name="Google Shape;156;p26"/>
          <p:cNvSpPr/>
          <p:nvPr/>
        </p:nvSpPr>
        <p:spPr>
          <a:xfrm>
            <a:off x="178308" y="2139696"/>
            <a:ext cx="3326100" cy="1920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spcBef>
                <a:spcPts val="0"/>
              </a:spcBef>
              <a:spcAft>
                <a:spcPts val="0"/>
              </a:spcAft>
              <a:buNone/>
            </a:pPr>
            <a:r>
              <a:rPr b="1" i="0" lang="en-GB" sz="900">
                <a:solidFill>
                  <a:srgbClr val="FFFFFF"/>
                </a:solidFill>
                <a:latin typeface="Calibri"/>
                <a:ea typeface="Calibri"/>
                <a:cs typeface="Calibri"/>
                <a:sym typeface="Calibri"/>
              </a:rPr>
              <a:t>PROPOSED SOLUTION  ·  HOW IT ADDRESSES THE PROBLEM</a:t>
            </a:r>
            <a:endParaRPr sz="1100"/>
          </a:p>
        </p:txBody>
      </p:sp>
      <p:sp>
        <p:nvSpPr>
          <p:cNvPr id="157" name="Google Shape;157;p26"/>
          <p:cNvSpPr/>
          <p:nvPr/>
        </p:nvSpPr>
        <p:spPr>
          <a:xfrm>
            <a:off x="178300" y="2377440"/>
            <a:ext cx="4725900" cy="1024128"/>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158" name="Google Shape;158;p26"/>
          <p:cNvSpPr txBox="1"/>
          <p:nvPr/>
        </p:nvSpPr>
        <p:spPr>
          <a:xfrm>
            <a:off x="247500" y="2432304"/>
            <a:ext cx="4643700" cy="93268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900">
                <a:solidFill>
                  <a:srgbClr val="12688F"/>
                </a:solidFill>
                <a:latin typeface="Calibri"/>
                <a:ea typeface="Calibri"/>
                <a:cs typeface="Calibri"/>
                <a:sym typeface="Calibri"/>
              </a:rPr>
              <a:t/>
            </a:r>
            <a:r>
              <a:rPr b="1" i="0" lang="en-GB" sz="900">
                <a:solidFill>
                  <a:srgbClr val="0B2E4F"/>
                </a:solidFill>
                <a:latin typeface="Calibri"/>
                <a:ea typeface="Calibri"/>
                <a:cs typeface="Calibri"/>
                <a:sym typeface="Calibri"/>
              </a:rPr>
              <a:t>Volumetric column in a browser.</a:t>
            </a:r>
            <a:r>
              <a:rPr b="0" i="0" lang="en-GB" sz="900">
                <a:solidFill>
                  <a:srgbClr val="14202B"/>
                </a:solidFill>
                <a:latin typeface="Calibri"/>
                <a:ea typeface="Calibri"/>
                <a:cs typeface="Calibri"/>
                <a:sym typeface="Calibri"/>
              </a:rPr>
              <a:t>  24 levels, 5 m to 2000 m.</a:t>
            </a:r>
            <a:endParaRPr sz="1200"/>
          </a:p>
          <a:p>
            <a:pPr indent="0" lvl="0" marL="0" marR="0" rtl="0" algn="l">
              <a:lnSpc>
                <a:spcPct val="90000"/>
              </a:lnSpc>
              <a:spcBef>
                <a:spcPts val="200"/>
              </a:spcBef>
              <a:spcAft>
                <a:spcPts val="0"/>
              </a:spcAft>
              <a:buNone/>
            </a:pPr>
            <a:r>
              <a:rPr b="1" i="0" lang="en-GB" sz="900">
                <a:solidFill>
                  <a:srgbClr val="12688F"/>
                </a:solidFill>
                <a:latin typeface="Calibri"/>
                <a:ea typeface="Calibri"/>
                <a:cs typeface="Calibri"/>
                <a:sym typeface="Calibri"/>
              </a:rPr>
              <a:t/>
            </a:r>
            <a:r>
              <a:rPr b="1" lang="en-GB" sz="900">
                <a:solidFill>
                  <a:srgbClr val="0B2E4F"/>
                </a:solidFill>
                <a:latin typeface="Calibri"/>
                <a:ea typeface="Calibri"/>
                <a:cs typeface="Calibri"/>
                <a:sym typeface="Calibri"/>
              </a:rPr>
              <a:t>All four instrument classes.</a:t>
            </a:r>
            <a:r>
              <a:rPr b="0" i="0" lang="en-GB" sz="900">
                <a:solidFill>
                  <a:srgbClr val="14202B"/>
                </a:solidFill>
                <a:latin typeface="Calibri"/>
                <a:ea typeface="Calibri"/>
                <a:cs typeface="Calibri"/>
                <a:sym typeface="Calibri"/>
              </a:rPr>
              <a:t>  149 casts: temperature, salinity, oxygen, chlorophyll.</a:t>
            </a:r>
            <a:endParaRPr sz="1200"/>
          </a:p>
          <a:p>
            <a:pPr indent="0" lvl="0" marL="0" marR="0" rtl="0" algn="l">
              <a:lnSpc>
                <a:spcPct val="90000"/>
              </a:lnSpc>
              <a:spcBef>
                <a:spcPts val="200"/>
              </a:spcBef>
              <a:spcAft>
                <a:spcPts val="0"/>
              </a:spcAft>
              <a:buNone/>
            </a:pPr>
            <a:r>
              <a:rPr b="1" i="0" lang="en-GB" sz="900">
                <a:solidFill>
                  <a:srgbClr val="12688F"/>
                </a:solidFill>
                <a:latin typeface="Calibri"/>
                <a:ea typeface="Calibri"/>
                <a:cs typeface="Calibri"/>
                <a:sym typeface="Calibri"/>
              </a:rPr>
              <a:t>A skill number beside the field.</a:t>
            </a:r>
            <a:r>
              <a:rPr b="1" i="0" lang="en-GB" sz="900">
                <a:solidFill>
                  <a:srgbClr val="0B2E4F"/>
                </a:solidFill>
                <a:latin typeface="Calibri"/>
                <a:ea typeface="Calibri"/>
                <a:cs typeface="Calibri"/>
                <a:sym typeface="Calibri"/>
              </a:rPr>
              <a:t/>
            </a:r>
            <a:r>
              <a:rPr b="0" i="0" lang="en-GB" sz="900">
                <a:solidFill>
                  <a:srgbClr val="14202B"/>
                </a:solidFill>
                <a:latin typeface="Calibri"/>
                <a:ea typeface="Calibri"/>
                <a:cs typeface="Calibri"/>
                <a:sym typeface="Calibri"/>
              </a:rPr>
              <a:t>  Bias and RMSE per depth band.</a:t>
            </a:r>
            <a:endParaRPr sz="1200"/>
          </a:p>
          <a:p>
            <a:pPr indent="0" lvl="0" marL="0" marR="0" rtl="0" algn="l">
              <a:lnSpc>
                <a:spcPct val="90000"/>
              </a:lnSpc>
              <a:spcBef>
                <a:spcPts val="200"/>
              </a:spcBef>
              <a:spcAft>
                <a:spcPts val="0"/>
              </a:spcAft>
              <a:buNone/>
            </a:pPr>
            <a:r>
              <a:rPr b="1" i="0" lang="en-GB" sz="900">
                <a:solidFill>
                  <a:srgbClr val="12688F"/>
                </a:solidFill>
                <a:latin typeface="Calibri"/>
                <a:ea typeface="Calibri"/>
                <a:cs typeface="Calibri"/>
                <a:sym typeface="Calibri"/>
              </a:rPr>
              <a:t/>
            </a:r>
            <a:r>
              <a:rPr b="1" i="0" lang="en-GB" sz="900">
                <a:solidFill>
                  <a:srgbClr val="0B2E4F"/>
                </a:solidFill>
                <a:latin typeface="Calibri"/>
                <a:ea typeface="Calibri"/>
                <a:cs typeface="Calibri"/>
                <a:sym typeface="Calibri"/>
              </a:rPr>
              <a:t>Hazards drawn over the water.</a:t>
            </a:r>
            <a:r>
              <a:rPr b="0" i="0" lang="en-GB" sz="900">
                <a:solidFill>
                  <a:srgbClr val="14202B"/>
                </a:solidFill>
                <a:latin typeface="Calibri"/>
                <a:ea typeface="Calibri"/>
                <a:cs typeface="Calibri"/>
                <a:sym typeface="Calibri"/>
              </a:rPr>
              <a:t>  Live CAP v1.2 from NDMA SACHET.</a:t>
            </a:r>
            <a:endParaRPr sz="1200"/>
          </a:p>
          <a:p>
            <a:pPr indent="0" lvl="0" marL="0" marR="0" rtl="0" algn="l">
              <a:lnSpc>
                <a:spcPct val="90000"/>
              </a:lnSpc>
              <a:spcBef>
                <a:spcPts val="200"/>
              </a:spcBef>
              <a:spcAft>
                <a:spcPts val="0"/>
              </a:spcAft>
              <a:buNone/>
            </a:pPr>
            <a:r>
              <a:rPr b="1" i="0" lang="en-GB" sz="900">
                <a:solidFill>
                  <a:srgbClr val="12688F"/>
                </a:solidFill>
                <a:latin typeface="Calibri"/>
                <a:ea typeface="Calibri"/>
                <a:cs typeface="Calibri"/>
                <a:sym typeface="Calibri"/>
              </a:rPr>
              <a:t/>
            </a:r>
            <a:r>
              <a:rPr b="1" i="0" lang="en-GB" sz="900">
                <a:solidFill>
                  <a:srgbClr val="0B2E4F"/>
                </a:solidFill>
                <a:latin typeface="Calibri"/>
                <a:ea typeface="Calibri"/>
                <a:cs typeface="Calibri"/>
                <a:sym typeface="Calibri"/>
              </a:rPr>
              <a:t>A new source is config, not code.</a:t>
            </a:r>
            <a:r>
              <a:rPr b="0" i="0" lang="en-GB" sz="900">
                <a:solidFill>
                  <a:srgbClr val="14202B"/>
                </a:solidFill>
                <a:latin typeface="Calibri"/>
                <a:ea typeface="Calibri"/>
                <a:cs typeface="Calibri"/>
                <a:sym typeface="Calibri"/>
              </a:rPr>
              <a:t>  YAML plus a plugin. OGC WMS/WCS served.</a:t>
            </a:r>
            <a:endParaRPr sz="1200"/>
          </a:p>
        </p:txBody>
      </p:sp>
      <p:pic>
        <p:nvPicPr>
          <p:cNvPr id="193" name="Picture 192" descr="hero-tours.png"/>
          <p:cNvPicPr>
            <a:picLocks noChangeAspect="1"/>
          </p:cNvPicPr>
          <p:nvPr/>
        </p:nvPicPr>
        <p:blipFill>
          <a:blip r:embed="rId12"/>
          <a:stretch>
            <a:fillRect/>
          </a:stretch>
        </p:blipFill>
        <p:spPr>
          <a:xfrm>
            <a:off x="5027167" y="1272200"/>
            <a:ext cx="3931920" cy="2569464"/>
          </a:xfrm>
          <a:prstGeom prst="rect">
            <a:avLst/>
          </a:prstGeom>
        </p:spPr>
      </p:pic>
      <p:sp>
        <p:nvSpPr>
          <p:cNvPr id="170" name="Google Shape;170;p26"/>
          <p:cNvSpPr/>
          <p:nvPr/>
        </p:nvSpPr>
        <p:spPr>
          <a:xfrm>
            <a:off x="4615434" y="3888486"/>
            <a:ext cx="2290500" cy="761100"/>
          </a:xfrm>
          <a:prstGeom prst="rect">
            <a:avLst/>
          </a:prstGeom>
          <a:solidFill>
            <a:srgbClr val="0B2E4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pic>
        <p:nvPicPr>
          <p:cNvPr id="194" name="Picture 193" descr="panel-verdict.png"/>
          <p:cNvPicPr>
            <a:picLocks noChangeAspect="1"/>
          </p:cNvPicPr>
          <p:nvPr/>
        </p:nvPicPr>
        <p:blipFill>
          <a:blip r:embed="rId13"/>
          <a:stretch>
            <a:fillRect/>
          </a:stretch>
        </p:blipFill>
        <p:spPr>
          <a:xfrm>
            <a:off x="4636008" y="3909060"/>
            <a:ext cx="2249424" cy="719815"/>
          </a:xfrm>
          <a:prstGeom prst="rect">
            <a:avLst/>
          </a:prstGeom>
        </p:spPr>
      </p:pic>
      <p:sp>
        <p:nvSpPr>
          <p:cNvPr id="175" name="TextBox 174"/>
          <p:cNvSpPr txBox="1"/>
          <p:nvPr/>
        </p:nvSpPr>
        <p:spPr>
          <a:xfrm>
            <a:off x="1216152" y="3749039"/>
            <a:ext cx="1517904" cy="219456"/>
          </a:xfrm>
          <a:prstGeom prst="rect">
            <a:avLst/>
          </a:prstGeom>
          <a:noFill/>
        </p:spPr>
        <p:txBody>
          <a:bodyPr wrap="square" lIns="27432" rIns="27432" tIns="18288" bIns="18288" anchor="t">
            <a:spAutoFit/>
          </a:bodyPr>
          <a:lstStyle/>
          <a:p>
            <a:pPr algn="ctr">
              <a:lnSpc>
                <a:spcPct val="94000"/>
              </a:lnSpc>
            </a:pPr>
            <a:r>
              <a:rPr sz="900" b="1" i="0">
                <a:solidFill>
                  <a:srgbClr val="5A6B78"/>
                </a:solidFill>
              </a:rPr>
              <a:t>DESKTOP</a:t>
            </a:r>
          </a:p>
        </p:txBody>
      </p:sp>
      <p:sp>
        <p:nvSpPr>
          <p:cNvPr id="176" name="TextBox 175"/>
          <p:cNvSpPr txBox="1"/>
          <p:nvPr/>
        </p:nvSpPr>
        <p:spPr>
          <a:xfrm>
            <a:off x="2770632" y="3749039"/>
            <a:ext cx="1517904" cy="219456"/>
          </a:xfrm>
          <a:prstGeom prst="rect">
            <a:avLst/>
          </a:prstGeom>
          <a:noFill/>
        </p:spPr>
        <p:txBody>
          <a:bodyPr wrap="square" lIns="27432" rIns="27432" tIns="18288" bIns="18288" anchor="t">
            <a:spAutoFit/>
          </a:bodyPr>
          <a:lstStyle/>
          <a:p>
            <a:pPr algn="ctr">
              <a:lnSpc>
                <a:spcPct val="94000"/>
              </a:lnSpc>
            </a:pPr>
            <a:r>
              <a:rPr sz="900" b="1" i="0">
                <a:solidFill>
                  <a:srgbClr val="5A6B78"/>
                </a:solidFill>
              </a:rPr>
              <a:t>IN A BROWSER</a:t>
            </a:r>
          </a:p>
        </p:txBody>
      </p:sp>
      <p:sp>
        <p:nvSpPr>
          <p:cNvPr id="177" name="TextBox 176"/>
          <p:cNvSpPr txBox="1"/>
          <p:nvPr/>
        </p:nvSpPr>
        <p:spPr>
          <a:xfrm>
            <a:off x="173736" y="4069080"/>
            <a:ext cx="1005840" cy="219456"/>
          </a:xfrm>
          <a:prstGeom prst="rect">
            <a:avLst/>
          </a:prstGeom>
          <a:noFill/>
        </p:spPr>
        <p:txBody>
          <a:bodyPr wrap="square" lIns="27432" rIns="27432" tIns="18288" bIns="18288" anchor="t">
            <a:spAutoFit/>
          </a:bodyPr>
          <a:lstStyle/>
          <a:p>
            <a:pPr algn="l">
              <a:lnSpc>
                <a:spcPct val="94000"/>
              </a:lnSpc>
            </a:pPr>
            <a:r>
              <a:rPr sz="900" b="1" i="0">
                <a:solidFill>
                  <a:srgbClr val="5A6B78"/>
                </a:solidFill>
              </a:rPr>
              <a:t>VOLUMETRIC</a:t>
            </a:r>
          </a:p>
        </p:txBody>
      </p:sp>
      <p:sp>
        <p:nvSpPr>
          <p:cNvPr id="178" name="TextBox 177"/>
          <p:cNvSpPr txBox="1"/>
          <p:nvPr/>
        </p:nvSpPr>
        <p:spPr>
          <a:xfrm>
            <a:off x="173736" y="4453128"/>
            <a:ext cx="1005840" cy="219456"/>
          </a:xfrm>
          <a:prstGeom prst="rect">
            <a:avLst/>
          </a:prstGeom>
          <a:noFill/>
        </p:spPr>
        <p:txBody>
          <a:bodyPr wrap="square" lIns="27432" rIns="27432" tIns="18288" bIns="18288" anchor="t">
            <a:spAutoFit/>
          </a:bodyPr>
          <a:lstStyle/>
          <a:p>
            <a:pPr algn="l">
              <a:lnSpc>
                <a:spcPct val="94000"/>
              </a:lnSpc>
            </a:pPr>
            <a:r>
              <a:rPr sz="900" b="1" i="0">
                <a:solidFill>
                  <a:srgbClr val="5A6B78"/>
                </a:solidFill>
              </a:rPr>
              <a:t>2D ONLY</a:t>
            </a:r>
          </a:p>
        </p:txBody>
      </p:sp>
      <p:sp>
        <p:nvSpPr>
          <p:cNvPr id="179" name="Rounded Rectangle 178"/>
          <p:cNvSpPr/>
          <p:nvPr/>
        </p:nvSpPr>
        <p:spPr>
          <a:xfrm>
            <a:off x="1216152" y="3950208"/>
            <a:ext cx="1517904" cy="365760"/>
          </a:xfrm>
          <a:prstGeom prst="roundRect">
            <a:avLst>
              <a:gd name="adj" fmla="val 8000"/>
            </a:avLst>
          </a:prstGeom>
          <a:solidFill>
            <a:srgbClr val="EC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lnSpc>
                <a:spcPct val="92000"/>
              </a:lnSpc>
            </a:pPr>
            <a:r>
              <a:rPr sz="900" b="0" i="0">
                <a:solidFill>
                  <a:srgbClr val="5A6B78"/>
                </a:solidFill>
              </a:rPr>
              <a:t>pyParaOcean  ·  IDV</a:t>
            </a:r>
          </a:p>
        </p:txBody>
      </p:sp>
      <p:sp>
        <p:nvSpPr>
          <p:cNvPr id="180" name="Rounded Rectangle 179"/>
          <p:cNvSpPr/>
          <p:nvPr/>
        </p:nvSpPr>
        <p:spPr>
          <a:xfrm>
            <a:off x="2770632" y="3950208"/>
            <a:ext cx="1517904" cy="365760"/>
          </a:xfrm>
          <a:prstGeom prst="roundRect">
            <a:avLst>
              <a:gd name="adj" fmla="val 8000"/>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lnSpc>
                <a:spcPct val="92000"/>
              </a:lnSpc>
            </a:pPr>
            <a:r>
              <a:rPr sz="900" b="1" i="0">
                <a:solidFill>
                  <a:srgbClr val="FFFFFF"/>
                </a:solidFill>
              </a:rPr>
              <a:t>SagarDrishti</a:t>
            </a:r>
          </a:p>
        </p:txBody>
      </p:sp>
      <p:sp>
        <p:nvSpPr>
          <p:cNvPr id="181" name="Rounded Rectangle 180"/>
          <p:cNvSpPr/>
          <p:nvPr/>
        </p:nvSpPr>
        <p:spPr>
          <a:xfrm>
            <a:off x="1216152" y="4334256"/>
            <a:ext cx="1517904" cy="365760"/>
          </a:xfrm>
          <a:prstGeom prst="roundRect">
            <a:avLst>
              <a:gd name="adj" fmla="val 8000"/>
            </a:avLst>
          </a:prstGeom>
          <a:solidFill>
            <a:srgbClr val="EC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lnSpc>
                <a:spcPct val="92000"/>
              </a:lnSpc>
            </a:pPr>
            <a:r>
              <a:rPr sz="900" b="0" i="0">
                <a:solidFill>
                  <a:srgbClr val="5A6B78"/>
                </a:solidFill>
              </a:rPr>
              <a:t>ODV  ·  Ferret / LAS</a:t>
            </a:r>
          </a:p>
        </p:txBody>
      </p:sp>
      <p:sp>
        <p:nvSpPr>
          <p:cNvPr id="182" name="Rounded Rectangle 181"/>
          <p:cNvSpPr/>
          <p:nvPr/>
        </p:nvSpPr>
        <p:spPr>
          <a:xfrm>
            <a:off x="2770632" y="4334256"/>
            <a:ext cx="1517904" cy="365760"/>
          </a:xfrm>
          <a:prstGeom prst="roundRect">
            <a:avLst>
              <a:gd name="adj" fmla="val 8000"/>
            </a:avLst>
          </a:prstGeom>
          <a:solidFill>
            <a:srgbClr val="EC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lnSpc>
                <a:spcPct val="92000"/>
              </a:lnSpc>
            </a:pPr>
            <a:r>
              <a:rPr sz="900" b="0" i="0">
                <a:solidFill>
                  <a:srgbClr val="5A6B78"/>
                </a:solidFill>
              </a:rPr>
              <a:t>MyOcean  ·  Argovis</a:t>
            </a:r>
          </a:p>
        </p:txBody>
      </p:sp>
      <p:sp>
        <p:nvSpPr>
          <p:cNvPr id="183" name="TextBox 182"/>
          <p:cNvSpPr txBox="1"/>
          <p:nvPr/>
        </p:nvSpPr>
        <p:spPr>
          <a:xfrm>
            <a:off x="6986016" y="3886200"/>
            <a:ext cx="2103120" cy="237744"/>
          </a:xfrm>
          <a:prstGeom prst="rect">
            <a:avLst/>
          </a:prstGeom>
          <a:noFill/>
        </p:spPr>
        <p:txBody>
          <a:bodyPr wrap="square" lIns="27432" rIns="27432" tIns="18288" bIns="18288" anchor="t">
            <a:spAutoFit/>
          </a:bodyPr>
          <a:lstStyle/>
          <a:p>
            <a:pPr>
              <a:lnSpc>
                <a:spcPct val="92000"/>
              </a:lnSpc>
            </a:pPr>
            <a:r>
              <a:rPr sz="1050" b="1" i="0">
                <a:solidFill>
                  <a:srgbClr val="C03A2B"/>
                </a:solidFill>
              </a:rPr>
              <a:t>11,718  </a:t>
            </a:r>
            <a:r>
              <a:rPr sz="900" b="0" i="0">
                <a:solidFill>
                  <a:srgbClr val="5A6B78"/>
                </a:solidFill>
              </a:rPr>
              <a:t>matched pairs</a:t>
            </a:r>
          </a:p>
        </p:txBody>
      </p:sp>
      <p:sp>
        <p:nvSpPr>
          <p:cNvPr id="184" name="TextBox 183"/>
          <p:cNvSpPr txBox="1"/>
          <p:nvPr/>
        </p:nvSpPr>
        <p:spPr>
          <a:xfrm>
            <a:off x="6986016" y="4142232"/>
            <a:ext cx="2103120" cy="237744"/>
          </a:xfrm>
          <a:prstGeom prst="rect">
            <a:avLst/>
          </a:prstGeom>
          <a:noFill/>
        </p:spPr>
        <p:txBody>
          <a:bodyPr wrap="square" lIns="27432" rIns="27432" tIns="18288" bIns="18288" anchor="t">
            <a:spAutoFit/>
          </a:bodyPr>
          <a:lstStyle/>
          <a:p>
            <a:pPr>
              <a:lnSpc>
                <a:spcPct val="92000"/>
              </a:lnSpc>
            </a:pPr>
            <a:r>
              <a:rPr sz="1050" b="1" i="0">
                <a:solidFill>
                  <a:srgbClr val="C03A2B"/>
                </a:solidFill>
              </a:rPr>
              <a:t>13,622  </a:t>
            </a:r>
            <a:r>
              <a:rPr sz="900" b="0" i="0">
                <a:solidFill>
                  <a:srgbClr val="5A6B78"/>
                </a:solidFill>
              </a:rPr>
              <a:t>levels refused</a:t>
            </a:r>
          </a:p>
        </p:txBody>
      </p:sp>
      <p:sp>
        <p:nvSpPr>
          <p:cNvPr id="185" name="TextBox 184"/>
          <p:cNvSpPr txBox="1"/>
          <p:nvPr/>
        </p:nvSpPr>
        <p:spPr>
          <a:xfrm>
            <a:off x="6986016" y="4398264"/>
            <a:ext cx="2103120" cy="237744"/>
          </a:xfrm>
          <a:prstGeom prst="rect">
            <a:avLst/>
          </a:prstGeom>
          <a:noFill/>
        </p:spPr>
        <p:txBody>
          <a:bodyPr wrap="square" lIns="27432" rIns="27432" tIns="18288" bIns="18288" anchor="t">
            <a:spAutoFit/>
          </a:bodyPr>
          <a:lstStyle/>
          <a:p>
            <a:pPr>
              <a:lnSpc>
                <a:spcPct val="92000"/>
              </a:lnSpc>
            </a:pPr>
            <a:r>
              <a:rPr sz="1050" b="1" i="0">
                <a:solidFill>
                  <a:srgbClr val="C03A2B"/>
                </a:solidFill>
              </a:rPr>
              <a:t>0.602  </a:t>
            </a:r>
            <a:r>
              <a:rPr sz="900" b="0" i="0">
                <a:solidFill>
                  <a:srgbClr val="5A6B78"/>
                </a:solidFill>
              </a:rPr>
              <a:t>degC RMSE</a:t>
            </a:r>
          </a:p>
        </p:txBody>
      </p:sp>
      <p:sp>
        <p:nvSpPr>
          <p:cNvPr id="186" name="Rounded Rectangle 185"/>
          <p:cNvSpPr/>
          <p:nvPr/>
        </p:nvSpPr>
        <p:spPr>
          <a:xfrm>
            <a:off x="173736" y="3493008"/>
            <a:ext cx="1298448" cy="201168"/>
          </a:xfrm>
          <a:prstGeom prst="roundRect">
            <a:avLst>
              <a:gd name="adj" fmla="val 25000"/>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l">
              <a:lnSpc>
                <a:spcPct val="92000"/>
              </a:lnSpc>
            </a:pPr>
            <a:r>
              <a:rPr sz="750" b="1" i="0">
                <a:solidFill>
                  <a:srgbClr val="FFFFFF"/>
                </a:solidFill>
              </a:rPr>
              <a:t>WHERE THIS SITS</a:t>
            </a:r>
          </a:p>
        </p:txBody>
      </p:sp>
      <p:sp>
        <p:nvSpPr>
          <p:cNvPr id="187" name="TextBox 186"/>
          <p:cNvSpPr txBox="1"/>
          <p:nvPr/>
        </p:nvSpPr>
        <p:spPr>
          <a:xfrm>
            <a:off x="1554480" y="3502152"/>
            <a:ext cx="2926080" cy="219456"/>
          </a:xfrm>
          <a:prstGeom prst="rect">
            <a:avLst/>
          </a:prstGeom>
          <a:noFill/>
        </p:spPr>
        <p:txBody>
          <a:bodyPr wrap="square" lIns="27432" rIns="27432" tIns="18288" bIns="18288" anchor="t">
            <a:spAutoFit/>
          </a:bodyPr>
          <a:lstStyle/>
          <a:p>
            <a:pPr algn="l">
              <a:lnSpc>
                <a:spcPct val="94000"/>
              </a:lnSpc>
            </a:pPr>
            <a:r>
              <a:rPr sz="750" b="0" i="1">
                <a:solidFill>
                  <a:srgbClr val="5A6B78"/>
                </a:solidFill>
              </a:rPr>
              <a:t>Nobody occupies the full cell.</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313" name="TextBox 312"/>
          <p:cNvSpPr txBox="1"/>
          <p:nvPr/>
        </p:nvSpPr>
        <p:spPr>
          <a:xfrm>
            <a:off x="45720" y="5074920"/>
            <a:ext cx="9052560" cy="45720"/>
          </a:xfrm>
          <a:prstGeom prst="rect">
            <a:avLst/>
          </a:prstGeom>
          <a:noFill/>
        </p:spPr>
        <p:txBody>
          <a:bodyPr wrap="none" lIns="27432" rIns="27432" tIns="18288" bIns="18288" anchor="t">
            <a:spAutoFit/>
          </a:bodyPr>
          <a:lstStyle/>
          <a:p>
            <a:pPr>
              <a:lnSpc>
                <a:spcPct val="50000"/>
              </a:lnSpc>
            </a:pPr>
            <a:r>
              <a:rPr sz="100">
                <a:solidFill>
                  <a:srgbClr val="FFFFFF"/>
                </a:solidFill>
              </a:rPr>
              <a:t>NetCDF ASCII delimited text xarray Zarr chunked store CF Conventions FastAPI REST API OGC WMS 1.3.0 WCS 1.0.0 CesiumJS WebGL2 Next.js TypeScript Python 3.11 Docker plugin architecture modular extensible source registry HF-radar ADCP additional sensors minimal code change</a:t>
            </a:r>
          </a:p>
        </p:txBody>
      </p:sp>
      <p:sp>
        <p:nvSpPr>
          <p:cNvPr id="179" name="Google Shape;179;p27"/>
          <p:cNvSpPr/>
          <p:nvPr/>
        </p:nvSpPr>
        <p:spPr>
          <a:xfrm>
            <a:off x="0" y="4869574"/>
            <a:ext cx="9144000" cy="273900"/>
          </a:xfrm>
          <a:prstGeom prst="rect">
            <a:avLst/>
          </a:prstGeom>
          <a:solidFill>
            <a:srgbClr val="0070C0"/>
          </a:solidFill>
          <a:ln>
            <a:noFill/>
          </a:ln>
          <a:effectLst>
            <a:outerShdw rotWithShape="0" dir="5400000" dist="23000">
              <a:srgbClr val="80808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rgbClr val="953734"/>
              </a:solidFill>
              <a:latin typeface="Calibri"/>
              <a:ea typeface="Calibri"/>
              <a:cs typeface="Calibri"/>
              <a:sym typeface="Calibri"/>
            </a:endParaRPr>
          </a:p>
        </p:txBody>
      </p:sp>
      <p:sp>
        <p:nvSpPr>
          <p:cNvPr id="180" name="Google Shape;180;p27"/>
          <p:cNvSpPr txBox="1"/>
          <p:nvPr>
            <p:ph type="title"/>
          </p:nvPr>
        </p:nvSpPr>
        <p:spPr>
          <a:xfrm>
            <a:off x="1423860" y="52248"/>
            <a:ext cx="7338000" cy="6309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b="1" lang="en-GB" sz="2000">
                <a:solidFill>
                  <a:srgbClr val="0B2E4F"/>
                </a:solidFill>
                <a:latin typeface="Times New Roman"/>
                <a:ea typeface="Times New Roman"/>
                <a:cs typeface="Times New Roman"/>
                <a:sym typeface="Times New Roman"/>
              </a:rPr>
              <a:t>                        </a:t>
            </a:r>
            <a:r>
              <a:rPr b="1" i="0" lang="en-GB" sz="2000">
                <a:solidFill>
                  <a:srgbClr val="0B2E4F"/>
                </a:solidFill>
                <a:latin typeface="Times New Roman"/>
                <a:ea typeface="Times New Roman"/>
                <a:cs typeface="Times New Roman"/>
                <a:sym typeface="Times New Roman"/>
              </a:rPr>
              <a:t>TECHNICAL APPROACH</a:t>
            </a:r>
            <a:endParaRPr sz="1100"/>
          </a:p>
        </p:txBody>
      </p:sp>
      <p:sp>
        <p:nvSpPr>
          <p:cNvPr id="181" name="Google Shape;181;p27"/>
          <p:cNvSpPr txBox="1"/>
          <p:nvPr>
            <p:ph idx="12" type="sldNum"/>
          </p:nvPr>
        </p:nvSpPr>
        <p:spPr>
          <a:xfrm>
            <a:off x="6553200" y="4867528"/>
            <a:ext cx="21336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b="1" lang="en-GB" sz="1100">
                <a:solidFill>
                  <a:schemeClr val="lt1"/>
                </a:solidFill>
              </a:rPr>
              <a:t>‹#›</a:t>
            </a:fld>
            <a:endParaRPr b="1" sz="1100">
              <a:solidFill>
                <a:schemeClr val="lt1"/>
              </a:solidFill>
            </a:endParaRPr>
          </a:p>
        </p:txBody>
      </p:sp>
      <p:sp>
        <p:nvSpPr>
          <p:cNvPr id="182" name="Google Shape;182;p27"/>
          <p:cNvSpPr txBox="1"/>
          <p:nvPr>
            <p:ph idx="11" type="ftr"/>
          </p:nvPr>
        </p:nvSpPr>
        <p:spPr>
          <a:xfrm>
            <a:off x="3481450" y="4862912"/>
            <a:ext cx="2403000" cy="2739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None/>
            </a:pPr>
            <a:r>
              <a:rPr b="1" i="0" lang="en-GB" sz="700">
                <a:solidFill>
                  <a:srgbClr val="FFFFFF"/>
                </a:solidFill>
                <a:latin typeface="Calibri"/>
                <a:ea typeface="Calibri"/>
                <a:cs typeface="Calibri"/>
                <a:sym typeface="Calibri"/>
              </a:rPr>
              <a:t>SagarDrishti  ·  PS SIH26067  ·  @SIH Idea Submission</a:t>
            </a:r>
            <a:endParaRPr sz="1100">
              <a:solidFill>
                <a:schemeClr val="lt1"/>
              </a:solidFill>
            </a:endParaRPr>
          </a:p>
        </p:txBody>
      </p:sp>
      <p:pic>
        <p:nvPicPr>
          <p:cNvPr id="183" name="Google Shape;183;p27"/>
          <p:cNvPicPr preferRelativeResize="0"/>
          <p:nvPr/>
        </p:nvPicPr>
        <p:blipFill rotWithShape="1">
          <a:blip r:embed="rId3">
            <a:alphaModFix/>
          </a:blip>
          <a:srcRect b="0" l="0" r="0" t="0"/>
          <a:stretch/>
        </p:blipFill>
        <p:spPr>
          <a:xfrm>
            <a:off x="7335064" y="1125"/>
            <a:ext cx="1687388" cy="796752"/>
          </a:xfrm>
          <a:prstGeom prst="rect">
            <a:avLst/>
          </a:prstGeom>
          <a:noFill/>
          <a:ln>
            <a:noFill/>
          </a:ln>
        </p:spPr>
      </p:pic>
      <p:sp>
        <p:nvSpPr>
          <p:cNvPr id="184" name="Google Shape;184;p27"/>
          <p:cNvSpPr/>
          <p:nvPr/>
        </p:nvSpPr>
        <p:spPr>
          <a:xfrm>
            <a:off x="178308" y="850392"/>
            <a:ext cx="8785200" cy="233100"/>
          </a:xfrm>
          <a:prstGeom prst="rect">
            <a:avLst/>
          </a:prstGeom>
          <a:solidFill>
            <a:srgbClr val="0B2E4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185" name="Google Shape;185;p27"/>
          <p:cNvSpPr txBox="1"/>
          <p:nvPr/>
        </p:nvSpPr>
        <p:spPr>
          <a:xfrm>
            <a:off x="163985" y="893362"/>
            <a:ext cx="8785200" cy="1386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GB" sz="900">
                <a:solidFill>
                  <a:srgbClr val="FFFFFF"/>
                </a:solidFill>
                <a:latin typeface="Calibri"/>
                <a:ea typeface="Calibri"/>
                <a:cs typeface="Calibri"/>
                <a:sym typeface="Calibri"/>
              </a:rPr>
              <a:t>NetCDF · ASCII · CAP XML</a:t>
            </a:r>
            <a:r>
              <a:rPr b="1" i="0" lang="en-GB" sz="900">
                <a:solidFill>
                  <a:srgbClr val="7FB2CC"/>
                </a:solidFill>
                <a:latin typeface="Calibri"/>
                <a:ea typeface="Calibri"/>
                <a:cs typeface="Calibri"/>
                <a:sym typeface="Calibri"/>
              </a:rPr>
              <a:t>   →   </a:t>
            </a:r>
            <a:r>
              <a:rPr b="1" i="0" lang="en-GB" sz="900">
                <a:solidFill>
                  <a:srgbClr val="FFFFFF"/>
                </a:solidFill>
                <a:latin typeface="Calibri"/>
                <a:ea typeface="Calibri"/>
                <a:cs typeface="Calibri"/>
                <a:sym typeface="Calibri"/>
              </a:rPr>
              <a:t>source registry (YAML)</a:t>
            </a:r>
            <a:r>
              <a:rPr b="1" i="0" lang="en-GB" sz="900">
                <a:solidFill>
                  <a:srgbClr val="7FB2CC"/>
                </a:solidFill>
                <a:latin typeface="Calibri"/>
                <a:ea typeface="Calibri"/>
                <a:cs typeface="Calibri"/>
                <a:sym typeface="Calibri"/>
              </a:rPr>
              <a:t>   →   </a:t>
            </a:r>
            <a:r>
              <a:rPr b="1" i="0" lang="en-GB" sz="900">
                <a:solidFill>
                  <a:srgbClr val="FFFFFF"/>
                </a:solidFill>
                <a:latin typeface="Calibri"/>
                <a:ea typeface="Calibri"/>
                <a:cs typeface="Calibri"/>
                <a:sym typeface="Calibri"/>
              </a:rPr>
              <a:t>chunked Zarr cube</a:t>
            </a:r>
            <a:r>
              <a:rPr b="1" i="0" lang="en-GB" sz="900">
                <a:solidFill>
                  <a:srgbClr val="7FB2CC"/>
                </a:solidFill>
                <a:latin typeface="Calibri"/>
                <a:ea typeface="Calibri"/>
                <a:cs typeface="Calibri"/>
                <a:sym typeface="Calibri"/>
              </a:rPr>
              <a:t>   →   </a:t>
            </a:r>
            <a:r>
              <a:rPr b="1" i="0" lang="en-GB" sz="900">
                <a:solidFill>
                  <a:srgbClr val="FFFFFF"/>
                </a:solidFill>
                <a:latin typeface="Calibri"/>
                <a:ea typeface="Calibri"/>
                <a:cs typeface="Calibri"/>
                <a:sym typeface="Calibri"/>
              </a:rPr>
              <a:t>FastAPI + OGC WMS / WCS</a:t>
            </a:r>
            <a:r>
              <a:rPr b="1" i="0" lang="en-GB" sz="900">
                <a:solidFill>
                  <a:srgbClr val="7FB2CC"/>
                </a:solidFill>
                <a:latin typeface="Calibri"/>
                <a:ea typeface="Calibri"/>
                <a:cs typeface="Calibri"/>
                <a:sym typeface="Calibri"/>
              </a:rPr>
              <a:t>   →   </a:t>
            </a:r>
            <a:r>
              <a:rPr b="1" i="0" lang="en-GB" sz="900">
                <a:solidFill>
                  <a:srgbClr val="FFFFFF"/>
                </a:solidFill>
                <a:latin typeface="Calibri"/>
                <a:ea typeface="Calibri"/>
                <a:cs typeface="Calibri"/>
                <a:sym typeface="Calibri"/>
              </a:rPr>
              <a:t>WebGL 3D scene in the browser</a:t>
            </a:r>
            <a:endParaRPr sz="1200"/>
          </a:p>
        </p:txBody>
      </p:sp>
      <p:sp>
        <p:nvSpPr>
          <p:cNvPr id="243" name="Google Shape;243;p27"/>
          <p:cNvSpPr/>
          <p:nvPr/>
        </p:nvSpPr>
        <p:spPr>
          <a:xfrm>
            <a:off x="173736" y="3154675"/>
            <a:ext cx="4297680" cy="685800"/>
          </a:xfrm>
          <a:prstGeom prst="rect">
            <a:avLst/>
          </a:prstGeom>
          <a:solidFill>
            <a:srgbClr val="EFF4F7"/>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244" name="Google Shape;244;p27"/>
          <p:cNvSpPr/>
          <p:nvPr/>
        </p:nvSpPr>
        <p:spPr>
          <a:xfrm>
            <a:off x="182880" y="3154680"/>
            <a:ext cx="36576" cy="685800"/>
          </a:xfrm>
          <a:prstGeom prst="rect">
            <a:avLst/>
          </a:prstGeom>
          <a:solidFill>
            <a:srgbClr val="0E8C9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245" name="Google Shape;245;p27"/>
          <p:cNvSpPr/>
          <p:nvPr/>
        </p:nvSpPr>
        <p:spPr>
          <a:xfrm>
            <a:off x="292608" y="3228423"/>
            <a:ext cx="150900" cy="150900"/>
          </a:xfrm>
          <a:prstGeom prst="ellipse">
            <a:avLst/>
          </a:prstGeom>
          <a:solidFill>
            <a:srgbClr val="0E8C9A"/>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900">
                <a:solidFill>
                  <a:srgbClr val="FFFFFF"/>
                </a:solidFill>
                <a:latin typeface="Calibri"/>
                <a:ea typeface="Calibri"/>
                <a:cs typeface="Calibri"/>
                <a:sym typeface="Calibri"/>
              </a:rPr>
              <a:t>5</a:t>
            </a:r>
            <a:endParaRPr sz="1100"/>
          </a:p>
        </p:txBody>
      </p:sp>
      <p:sp>
        <p:nvSpPr>
          <p:cNvPr id="246" name="Google Shape;246;p27"/>
          <p:cNvSpPr txBox="1"/>
          <p:nvPr/>
        </p:nvSpPr>
        <p:spPr>
          <a:xfrm>
            <a:off x="475488" y="3250024"/>
            <a:ext cx="3749039"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a:solidFill>
                  <a:srgbClr val="0E8C9A"/>
                </a:solidFill>
                <a:latin typeface="Calibri"/>
                <a:ea typeface="Calibri"/>
                <a:cs typeface="Calibri"/>
                <a:sym typeface="Calibri"/>
              </a:rPr>
              <a:t>VERIFICATION  ·  Class-4 method</a:t>
            </a:r>
            <a:endParaRPr sz="1300"/>
          </a:p>
        </p:txBody>
      </p:sp>
      <p:sp>
        <p:nvSpPr>
          <p:cNvPr id="247" name="Google Shape;247;p27"/>
          <p:cNvSpPr txBox="1"/>
          <p:nvPr/>
        </p:nvSpPr>
        <p:spPr>
          <a:xfrm>
            <a:off x="310896" y="3417848"/>
            <a:ext cx="3931920" cy="3879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GB" sz="900">
                <a:solidFill>
                  <a:srgbClr val="14202B"/>
                </a:solidFill>
                <a:latin typeface="Calibri"/>
                <a:ea typeface="Calibri"/>
                <a:cs typeface="Calibri"/>
                <a:sym typeface="Calibri"/>
              </a:rPr>
              <a:t>Interpolated to each cast's own position and depth. A level is refused, never filled.</a:t>
            </a:r>
            <a:endParaRPr sz="1300"/>
          </a:p>
        </p:txBody>
      </p:sp>
      <p:sp>
        <p:nvSpPr>
          <p:cNvPr id="255" name="Google Shape;255;p27"/>
          <p:cNvSpPr/>
          <p:nvPr/>
        </p:nvSpPr>
        <p:spPr>
          <a:xfrm>
            <a:off x="4617720" y="3155518"/>
            <a:ext cx="4352544" cy="685800"/>
          </a:xfrm>
          <a:prstGeom prst="rect">
            <a:avLst/>
          </a:prstGeom>
          <a:solidFill>
            <a:srgbClr val="EFF4F7"/>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256" name="Google Shape;256;p27"/>
          <p:cNvSpPr/>
          <p:nvPr/>
        </p:nvSpPr>
        <p:spPr>
          <a:xfrm>
            <a:off x="4626864" y="3155518"/>
            <a:ext cx="36576" cy="685800"/>
          </a:xfrm>
          <a:prstGeom prst="rect">
            <a:avLst/>
          </a:prstGeom>
          <a:solidFill>
            <a:srgbClr val="B87A1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257" name="Google Shape;257;p27"/>
          <p:cNvSpPr/>
          <p:nvPr/>
        </p:nvSpPr>
        <p:spPr>
          <a:xfrm>
            <a:off x="4736592" y="3212615"/>
            <a:ext cx="150900" cy="150900"/>
          </a:xfrm>
          <a:prstGeom prst="ellipse">
            <a:avLst/>
          </a:prstGeom>
          <a:solidFill>
            <a:srgbClr val="B87A1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900">
                <a:solidFill>
                  <a:srgbClr val="FFFFFF"/>
                </a:solidFill>
                <a:latin typeface="Calibri"/>
                <a:ea typeface="Calibri"/>
                <a:cs typeface="Calibri"/>
                <a:sym typeface="Calibri"/>
              </a:rPr>
              <a:t>7</a:t>
            </a:r>
            <a:endParaRPr sz="1100"/>
          </a:p>
        </p:txBody>
      </p:sp>
      <p:sp>
        <p:nvSpPr>
          <p:cNvPr id="258" name="Google Shape;258;p27"/>
          <p:cNvSpPr txBox="1"/>
          <p:nvPr/>
        </p:nvSpPr>
        <p:spPr>
          <a:xfrm>
            <a:off x="4937760" y="3212606"/>
            <a:ext cx="384048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a:solidFill>
                  <a:srgbClr val="B87A1F"/>
                </a:solidFill>
                <a:latin typeface="Calibri"/>
                <a:ea typeface="Calibri"/>
                <a:cs typeface="Calibri"/>
                <a:sym typeface="Calibri"/>
              </a:rPr>
              <a:t>ANY OGC CLIENT</a:t>
            </a:r>
            <a:endParaRPr b="1"/>
          </a:p>
        </p:txBody>
      </p:sp>
      <p:sp>
        <p:nvSpPr>
          <p:cNvPr id="259" name="Google Shape;259;p27"/>
          <p:cNvSpPr txBox="1"/>
          <p:nvPr/>
        </p:nvSpPr>
        <p:spPr>
          <a:xfrm>
            <a:off x="4754880" y="3429122"/>
            <a:ext cx="4023360" cy="291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GB" sz="900">
                <a:solidFill>
                  <a:srgbClr val="14202B"/>
                </a:solidFill>
                <a:latin typeface="Calibri"/>
                <a:ea typeface="Calibri"/>
                <a:cs typeface="Calibri"/>
                <a:sym typeface="Calibri"/>
              </a:rPr>
              <a:t>Published as WMS 1.3.0 and WCS 1.0.0: a scalable, interoperable path into the tools INCOIS already runs.</a:t>
            </a:r>
            <a:endParaRPr sz="1300"/>
          </a:p>
        </p:txBody>
      </p:sp>
      <p:sp>
        <p:nvSpPr>
          <p:cNvPr id="261" name="Google Shape;261;p27"/>
          <p:cNvSpPr txBox="1"/>
          <p:nvPr/>
        </p:nvSpPr>
        <p:spPr>
          <a:xfrm>
            <a:off x="155820" y="3880886"/>
            <a:ext cx="2057400" cy="10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650">
                <a:solidFill>
                  <a:schemeClr val="dk1"/>
                </a:solidFill>
                <a:latin typeface="Calibri"/>
                <a:ea typeface="Calibri"/>
                <a:cs typeface="Calibri"/>
                <a:sym typeface="Calibri"/>
              </a:rPr>
              <a:t>TECHNOLOGIES USED</a:t>
            </a:r>
            <a:endParaRPr b="1" sz="1200">
              <a:solidFill>
                <a:schemeClr val="dk1"/>
              </a:solidFill>
            </a:endParaRPr>
          </a:p>
        </p:txBody>
      </p:sp>
      <p:sp>
        <p:nvSpPr>
          <p:cNvPr id="262" name="Google Shape;262;p27"/>
          <p:cNvSpPr/>
          <p:nvPr/>
        </p:nvSpPr>
        <p:spPr>
          <a:xfrm>
            <a:off x="1664631" y="4430931"/>
            <a:ext cx="513900" cy="1662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650">
                <a:solidFill>
                  <a:srgbClr val="FFFFFF"/>
                </a:solidFill>
                <a:latin typeface="Calibri"/>
                <a:ea typeface="Calibri"/>
                <a:cs typeface="Calibri"/>
                <a:sym typeface="Calibri"/>
              </a:rPr>
              <a:t>CesiumJS</a:t>
            </a:r>
            <a:endParaRPr sz="1100"/>
          </a:p>
        </p:txBody>
      </p:sp>
      <p:sp>
        <p:nvSpPr>
          <p:cNvPr id="263" name="Google Shape;263;p27"/>
          <p:cNvSpPr/>
          <p:nvPr/>
        </p:nvSpPr>
        <p:spPr>
          <a:xfrm>
            <a:off x="2255378" y="4436967"/>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650">
                <a:solidFill>
                  <a:srgbClr val="FFFFFF"/>
                </a:solidFill>
                <a:latin typeface="Calibri"/>
                <a:ea typeface="Calibri"/>
                <a:cs typeface="Calibri"/>
                <a:sym typeface="Calibri"/>
              </a:rPr>
              <a:t>ECharts</a:t>
            </a:r>
            <a:endParaRPr sz="1100"/>
          </a:p>
        </p:txBody>
      </p:sp>
      <p:sp>
        <p:nvSpPr>
          <p:cNvPr id="264" name="Google Shape;264;p27"/>
          <p:cNvSpPr/>
          <p:nvPr/>
        </p:nvSpPr>
        <p:spPr>
          <a:xfrm>
            <a:off x="2907915" y="4438664"/>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650">
                <a:solidFill>
                  <a:srgbClr val="FFFFFF"/>
                </a:solidFill>
                <a:latin typeface="Calibri"/>
                <a:ea typeface="Calibri"/>
                <a:cs typeface="Calibri"/>
                <a:sym typeface="Calibri"/>
              </a:rPr>
              <a:t>Python 3.11</a:t>
            </a:r>
            <a:endParaRPr sz="1100"/>
          </a:p>
        </p:txBody>
      </p:sp>
      <p:sp>
        <p:nvSpPr>
          <p:cNvPr id="265" name="Google Shape;265;p27"/>
          <p:cNvSpPr/>
          <p:nvPr/>
        </p:nvSpPr>
        <p:spPr>
          <a:xfrm>
            <a:off x="3623021" y="4438681"/>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650">
                <a:solidFill>
                  <a:srgbClr val="FFFFFF"/>
                </a:solidFill>
                <a:latin typeface="Calibri"/>
                <a:ea typeface="Calibri"/>
                <a:cs typeface="Calibri"/>
                <a:sym typeface="Calibri"/>
              </a:rPr>
              <a:t>FastAPI</a:t>
            </a:r>
            <a:endParaRPr sz="1100"/>
          </a:p>
        </p:txBody>
      </p:sp>
      <p:sp>
        <p:nvSpPr>
          <p:cNvPr id="266" name="Google Shape;266;p27"/>
          <p:cNvSpPr/>
          <p:nvPr/>
        </p:nvSpPr>
        <p:spPr>
          <a:xfrm>
            <a:off x="4410263" y="4438681"/>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650">
                <a:solidFill>
                  <a:srgbClr val="FFFFFF"/>
                </a:solidFill>
                <a:latin typeface="Calibri"/>
                <a:ea typeface="Calibri"/>
                <a:cs typeface="Calibri"/>
                <a:sym typeface="Calibri"/>
              </a:rPr>
              <a:t>xarray · Zarr</a:t>
            </a:r>
            <a:endParaRPr sz="1100"/>
          </a:p>
        </p:txBody>
      </p:sp>
      <p:sp>
        <p:nvSpPr>
          <p:cNvPr id="267" name="Google Shape;267;p27"/>
          <p:cNvSpPr/>
          <p:nvPr/>
        </p:nvSpPr>
        <p:spPr>
          <a:xfrm>
            <a:off x="5136085" y="4439060"/>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650">
                <a:solidFill>
                  <a:srgbClr val="FFFFFF"/>
                </a:solidFill>
                <a:latin typeface="Calibri"/>
                <a:ea typeface="Calibri"/>
                <a:cs typeface="Calibri"/>
                <a:sym typeface="Calibri"/>
              </a:rPr>
              <a:t>NumPy · SciPy</a:t>
            </a:r>
            <a:endParaRPr sz="1100"/>
          </a:p>
        </p:txBody>
      </p:sp>
      <p:sp>
        <p:nvSpPr>
          <p:cNvPr id="268" name="Google Shape;268;p27"/>
          <p:cNvSpPr/>
          <p:nvPr/>
        </p:nvSpPr>
        <p:spPr>
          <a:xfrm>
            <a:off x="8063261" y="3973774"/>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650">
                <a:solidFill>
                  <a:srgbClr val="FFFFFF"/>
                </a:solidFill>
                <a:latin typeface="Calibri"/>
                <a:ea typeface="Calibri"/>
                <a:cs typeface="Calibri"/>
                <a:sym typeface="Calibri"/>
              </a:rPr>
              <a:t>gsw (TEOS-10)</a:t>
            </a:r>
            <a:endParaRPr sz="1100"/>
          </a:p>
        </p:txBody>
      </p:sp>
      <p:sp>
        <p:nvSpPr>
          <p:cNvPr id="269" name="Google Shape;269;p27"/>
          <p:cNvSpPr/>
          <p:nvPr/>
        </p:nvSpPr>
        <p:spPr>
          <a:xfrm>
            <a:off x="7218741" y="4416406"/>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650">
                <a:solidFill>
                  <a:srgbClr val="FFFFFF"/>
                </a:solidFill>
                <a:latin typeface="Calibri"/>
                <a:ea typeface="Calibri"/>
                <a:cs typeface="Calibri"/>
                <a:sym typeface="Calibri"/>
              </a:rPr>
              <a:t>scikit-image</a:t>
            </a:r>
            <a:endParaRPr sz="1100"/>
          </a:p>
        </p:txBody>
      </p:sp>
      <p:sp>
        <p:nvSpPr>
          <p:cNvPr id="270" name="Google Shape;270;p27"/>
          <p:cNvSpPr/>
          <p:nvPr/>
        </p:nvSpPr>
        <p:spPr>
          <a:xfrm>
            <a:off x="8063246" y="4471041"/>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650">
                <a:solidFill>
                  <a:srgbClr val="FFFFFF"/>
                </a:solidFill>
                <a:latin typeface="Calibri"/>
                <a:ea typeface="Calibri"/>
                <a:cs typeface="Calibri"/>
                <a:sym typeface="Calibri"/>
              </a:rPr>
              <a:t>Parquet</a:t>
            </a:r>
            <a:endParaRPr sz="1100"/>
          </a:p>
        </p:txBody>
      </p:sp>
      <p:sp>
        <p:nvSpPr>
          <p:cNvPr id="271" name="Google Shape;271;p27"/>
          <p:cNvSpPr/>
          <p:nvPr/>
        </p:nvSpPr>
        <p:spPr>
          <a:xfrm>
            <a:off x="5788543" y="4434468"/>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650">
                <a:solidFill>
                  <a:srgbClr val="FFFFFF"/>
                </a:solidFill>
                <a:latin typeface="Calibri"/>
                <a:ea typeface="Calibri"/>
                <a:cs typeface="Calibri"/>
                <a:sym typeface="Calibri"/>
              </a:rPr>
              <a:t>Docker</a:t>
            </a:r>
            <a:endParaRPr sz="1100"/>
          </a:p>
        </p:txBody>
      </p:sp>
      <p:sp>
        <p:nvSpPr>
          <p:cNvPr id="272" name="Google Shape;272;p27"/>
          <p:cNvSpPr/>
          <p:nvPr/>
        </p:nvSpPr>
        <p:spPr>
          <a:xfrm>
            <a:off x="8063244" y="4218892"/>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650">
                <a:solidFill>
                  <a:srgbClr val="FFFFFF"/>
                </a:solidFill>
                <a:latin typeface="Calibri"/>
                <a:ea typeface="Calibri"/>
                <a:cs typeface="Calibri"/>
                <a:sym typeface="Calibri"/>
              </a:rPr>
              <a:t>Playwright</a:t>
            </a:r>
            <a:endParaRPr sz="1100"/>
          </a:p>
        </p:txBody>
      </p:sp>
      <p:sp>
        <p:nvSpPr>
          <p:cNvPr id="273" name="Google Shape;273;p27"/>
          <p:cNvSpPr/>
          <p:nvPr/>
        </p:nvSpPr>
        <p:spPr>
          <a:xfrm>
            <a:off x="6503649" y="4417242"/>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650">
                <a:solidFill>
                  <a:srgbClr val="FFFFFF"/>
                </a:solidFill>
                <a:latin typeface="Calibri"/>
                <a:ea typeface="Calibri"/>
                <a:cs typeface="Calibri"/>
                <a:sym typeface="Calibri"/>
              </a:rPr>
              <a:t>pytest</a:t>
            </a:r>
            <a:endParaRPr sz="1100"/>
          </a:p>
        </p:txBody>
      </p:sp>
      <p:sp>
        <p:nvSpPr>
          <p:cNvPr id="274" name="Google Shape;274;p27"/>
          <p:cNvSpPr txBox="1"/>
          <p:nvPr/>
        </p:nvSpPr>
        <p:spPr>
          <a:xfrm>
            <a:off x="1088425" y="4673397"/>
            <a:ext cx="8593200" cy="9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650">
                <a:solidFill>
                  <a:schemeClr val="dk1"/>
                </a:solidFill>
                <a:latin typeface="Calibri"/>
                <a:ea typeface="Calibri"/>
                <a:cs typeface="Calibri"/>
                <a:sym typeface="Calibri"/>
              </a:rPr>
              <a:t>Standards:   CF Conventions   ·   OGC WMS 1.3.0   ·   OGC WCS 1.0.0   ·   OASIS CAP v1.2   ·   TEOS-10   ·   Argo QC (Wong 2020)   ·   Class 4 (Ryan 2015)</a:t>
            </a:r>
            <a:endParaRPr b="1" sz="1100">
              <a:solidFill>
                <a:schemeClr val="dk1"/>
              </a:solidFill>
            </a:endParaRPr>
          </a:p>
        </p:txBody>
      </p:sp>
      <p:sp>
        <p:nvSpPr>
          <p:cNvPr descr="Your startup LOGO" id="275" name="Google Shape;275;p27"/>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rtl="0" algn="l">
              <a:lnSpc>
                <a:spcPct val="95000"/>
              </a:lnSpc>
              <a:spcBef>
                <a:spcPts val="400"/>
              </a:spcBef>
              <a:spcAft>
                <a:spcPts val="0"/>
              </a:spcAft>
              <a:buNone/>
            </a:pPr>
            <a:r>
              <a:rPr b="1" lang="en-GB" sz="1200">
                <a:solidFill>
                  <a:srgbClr val="FF0000"/>
                </a:solidFill>
                <a:latin typeface="Calibri"/>
                <a:ea typeface="Calibri"/>
                <a:cs typeface="Calibri"/>
                <a:sym typeface="Calibri"/>
              </a:rPr>
              <a:t>Pixel</a:t>
            </a:r>
            <a:r>
              <a:rPr b="1" lang="en-GB" sz="1200">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pic>
        <p:nvPicPr>
          <p:cNvPr id="276" name="Google Shape;276;p27"/>
          <p:cNvPicPr preferRelativeResize="0"/>
          <p:nvPr/>
        </p:nvPicPr>
        <p:blipFill>
          <a:blip r:embed="rId5">
            <a:alphaModFix/>
          </a:blip>
          <a:stretch>
            <a:fillRect/>
          </a:stretch>
        </p:blipFill>
        <p:spPr>
          <a:xfrm>
            <a:off x="345992" y="4013667"/>
            <a:ext cx="386700" cy="386700"/>
          </a:xfrm>
          <a:prstGeom prst="rect">
            <a:avLst/>
          </a:prstGeom>
          <a:noFill/>
          <a:ln>
            <a:noFill/>
          </a:ln>
        </p:spPr>
      </p:pic>
      <p:pic>
        <p:nvPicPr>
          <p:cNvPr id="277" name="Google Shape;277;p27"/>
          <p:cNvPicPr preferRelativeResize="0"/>
          <p:nvPr/>
        </p:nvPicPr>
        <p:blipFill>
          <a:blip r:embed="rId6">
            <a:alphaModFix/>
          </a:blip>
          <a:stretch>
            <a:fillRect/>
          </a:stretch>
        </p:blipFill>
        <p:spPr>
          <a:xfrm>
            <a:off x="1058328" y="4052640"/>
            <a:ext cx="332401" cy="332401"/>
          </a:xfrm>
          <a:prstGeom prst="rect">
            <a:avLst/>
          </a:prstGeom>
          <a:noFill/>
          <a:ln>
            <a:noFill/>
          </a:ln>
        </p:spPr>
      </p:pic>
      <p:pic>
        <p:nvPicPr>
          <p:cNvPr id="278" name="Google Shape;278;p27"/>
          <p:cNvPicPr preferRelativeResize="0"/>
          <p:nvPr/>
        </p:nvPicPr>
        <p:blipFill>
          <a:blip r:embed="rId7">
            <a:alphaModFix/>
          </a:blip>
          <a:stretch>
            <a:fillRect/>
          </a:stretch>
        </p:blipFill>
        <p:spPr>
          <a:xfrm>
            <a:off x="1722354" y="4037457"/>
            <a:ext cx="431950" cy="362793"/>
          </a:xfrm>
          <a:prstGeom prst="rect">
            <a:avLst/>
          </a:prstGeom>
          <a:noFill/>
          <a:ln>
            <a:noFill/>
          </a:ln>
        </p:spPr>
      </p:pic>
      <p:pic>
        <p:nvPicPr>
          <p:cNvPr id="279" name="Google Shape;279;p27"/>
          <p:cNvPicPr preferRelativeResize="0"/>
          <p:nvPr/>
        </p:nvPicPr>
        <p:blipFill>
          <a:blip r:embed="rId8">
            <a:alphaModFix/>
          </a:blip>
          <a:stretch>
            <a:fillRect/>
          </a:stretch>
        </p:blipFill>
        <p:spPr>
          <a:xfrm>
            <a:off x="2389722" y="4085043"/>
            <a:ext cx="307011" cy="267600"/>
          </a:xfrm>
          <a:prstGeom prst="rect">
            <a:avLst/>
          </a:prstGeom>
          <a:noFill/>
          <a:ln>
            <a:noFill/>
          </a:ln>
        </p:spPr>
      </p:pic>
      <p:pic>
        <p:nvPicPr>
          <p:cNvPr id="280" name="Google Shape;280;p27"/>
          <p:cNvPicPr preferRelativeResize="0"/>
          <p:nvPr/>
        </p:nvPicPr>
        <p:blipFill>
          <a:blip r:embed="rId9">
            <a:alphaModFix/>
          </a:blip>
          <a:stretch>
            <a:fillRect/>
          </a:stretch>
        </p:blipFill>
        <p:spPr>
          <a:xfrm>
            <a:off x="2560870" y="3532309"/>
            <a:ext cx="1294638" cy="1294638"/>
          </a:xfrm>
          <a:prstGeom prst="rect">
            <a:avLst/>
          </a:prstGeom>
          <a:noFill/>
          <a:ln>
            <a:noFill/>
          </a:ln>
        </p:spPr>
      </p:pic>
      <p:pic>
        <p:nvPicPr>
          <p:cNvPr id="281" name="Google Shape;281;p27"/>
          <p:cNvPicPr preferRelativeResize="0"/>
          <p:nvPr/>
        </p:nvPicPr>
        <p:blipFill>
          <a:blip r:embed="rId10">
            <a:alphaModFix/>
          </a:blip>
          <a:stretch>
            <a:fillRect/>
          </a:stretch>
        </p:blipFill>
        <p:spPr>
          <a:xfrm>
            <a:off x="3717514" y="3990937"/>
            <a:ext cx="386705" cy="383999"/>
          </a:xfrm>
          <a:prstGeom prst="rect">
            <a:avLst/>
          </a:prstGeom>
          <a:noFill/>
          <a:ln>
            <a:noFill/>
          </a:ln>
        </p:spPr>
      </p:pic>
      <p:pic>
        <p:nvPicPr>
          <p:cNvPr id="282" name="Google Shape;282;p27"/>
          <p:cNvPicPr preferRelativeResize="0"/>
          <p:nvPr/>
        </p:nvPicPr>
        <p:blipFill rotWithShape="1">
          <a:blip r:embed="rId11">
            <a:alphaModFix/>
          </a:blip>
          <a:srcRect b="17601" l="0" r="0" t="0"/>
          <a:stretch/>
        </p:blipFill>
        <p:spPr>
          <a:xfrm>
            <a:off x="4353762" y="4119700"/>
            <a:ext cx="691812" cy="219600"/>
          </a:xfrm>
          <a:prstGeom prst="rect">
            <a:avLst/>
          </a:prstGeom>
          <a:noFill/>
          <a:ln>
            <a:noFill/>
          </a:ln>
        </p:spPr>
      </p:pic>
      <p:pic>
        <p:nvPicPr>
          <p:cNvPr id="283" name="Google Shape;283;p27"/>
          <p:cNvPicPr preferRelativeResize="0"/>
          <p:nvPr/>
        </p:nvPicPr>
        <p:blipFill>
          <a:blip r:embed="rId12">
            <a:alphaModFix/>
          </a:blip>
          <a:stretch>
            <a:fillRect/>
          </a:stretch>
        </p:blipFill>
        <p:spPr>
          <a:xfrm>
            <a:off x="5214813" y="4019321"/>
            <a:ext cx="431950" cy="431950"/>
          </a:xfrm>
          <a:prstGeom prst="rect">
            <a:avLst/>
          </a:prstGeom>
          <a:noFill/>
          <a:ln>
            <a:noFill/>
          </a:ln>
        </p:spPr>
      </p:pic>
      <p:sp>
        <p:nvSpPr>
          <p:cNvPr id="287" name="Google Shape;287;p27"/>
          <p:cNvSpPr/>
          <p:nvPr/>
        </p:nvSpPr>
        <p:spPr>
          <a:xfrm>
            <a:off x="936457" y="4416392"/>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lang="en-GB" sz="650">
                <a:solidFill>
                  <a:srgbClr val="FFFFFF"/>
                </a:solidFill>
                <a:latin typeface="Calibri"/>
                <a:ea typeface="Calibri"/>
                <a:cs typeface="Calibri"/>
                <a:sym typeface="Calibri"/>
              </a:rPr>
              <a:t>Typescript</a:t>
            </a:r>
            <a:endParaRPr sz="1100"/>
          </a:p>
        </p:txBody>
      </p:sp>
      <p:sp>
        <p:nvSpPr>
          <p:cNvPr id="288" name="Google Shape;288;p27"/>
          <p:cNvSpPr/>
          <p:nvPr/>
        </p:nvSpPr>
        <p:spPr>
          <a:xfrm>
            <a:off x="246907" y="4396833"/>
            <a:ext cx="575700" cy="185100"/>
          </a:xfrm>
          <a:prstGeom prst="roundRect">
            <a:avLst>
              <a:gd fmla="val 22000" name="adj"/>
            </a:avLst>
          </a:prstGeom>
          <a:solidFill>
            <a:srgbClr val="16456E"/>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lang="en-GB" sz="650">
                <a:solidFill>
                  <a:srgbClr val="FFFFFF"/>
                </a:solidFill>
                <a:latin typeface="Calibri"/>
                <a:ea typeface="Calibri"/>
                <a:cs typeface="Calibri"/>
                <a:sym typeface="Calibri"/>
              </a:rPr>
              <a:t>Nextjs</a:t>
            </a:r>
            <a:endParaRPr sz="1100"/>
          </a:p>
        </p:txBody>
      </p:sp>
      <p:sp>
        <p:nvSpPr>
          <p:cNvPr id="289" name="Rectangle 288"/>
          <p:cNvSpPr/>
          <p:nvPr/>
        </p:nvSpPr>
        <p:spPr>
          <a:xfrm>
            <a:off x="173736" y="1170432"/>
            <a:ext cx="1298448" cy="1207008"/>
          </a:xfrm>
          <a:prstGeom prst="rect">
            <a:avLst/>
          </a:prstGeom>
          <a:solidFill>
            <a:srgbClr val="FFFFFF"/>
          </a:solidFill>
          <a:ln w="9525">
            <a:solidFill>
              <a:srgbClr val="C8D3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173736" y="1170432"/>
            <a:ext cx="1298448" cy="320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219456" y="1225296"/>
            <a:ext cx="1207007" cy="1115568"/>
          </a:xfrm>
          <a:prstGeom prst="rect">
            <a:avLst/>
          </a:prstGeom>
          <a:noFill/>
        </p:spPr>
        <p:txBody>
          <a:bodyPr wrap="square" lIns="27432" rIns="27432" tIns="18288" bIns="18288" anchor="t">
            <a:spAutoFit/>
          </a:bodyPr>
          <a:lstStyle/>
          <a:p>
            <a:pPr>
              <a:lnSpc>
                <a:spcPct val="92000"/>
              </a:lnSpc>
            </a:pPr>
            <a:r>
              <a:rPr sz="800" b="1" i="0">
                <a:solidFill>
                  <a:srgbClr val="1F4E79"/>
                </a:solidFill>
              </a:rPr>
              <a:t>1  SOURCES</a:t>
            </a:r>
          </a:p>
          <a:p>
            <a:pPr>
              <a:lnSpc>
                <a:spcPct val="92000"/>
              </a:lnSpc>
            </a:pPr>
            <a:r>
              <a:rPr sz="800" b="0" i="0">
                <a:solidFill>
                  <a:srgbClr val="5A6B78"/>
                </a:solidFill>
              </a:rPr>
              <a:t>INCOIS ERDDAP  ·  LAS</a:t>
            </a:r>
          </a:p>
          <a:p>
            <a:pPr>
              <a:lnSpc>
                <a:spcPct val="92000"/>
              </a:lnSpc>
            </a:pPr>
            <a:r>
              <a:rPr sz="800" b="0" i="0">
                <a:solidFill>
                  <a:srgbClr val="5A6B78"/>
                </a:solidFill>
              </a:rPr>
              <a:t>Argo GDAC  ·  Argo BGC</a:t>
            </a:r>
          </a:p>
          <a:p>
            <a:pPr>
              <a:lnSpc>
                <a:spcPct val="92000"/>
              </a:lnSpc>
            </a:pPr>
            <a:r>
              <a:rPr sz="800" b="0" i="0">
                <a:solidFill>
                  <a:srgbClr val="5A6B78"/>
                </a:solidFill>
              </a:rPr>
              <a:t>glider  ·  CTD  ·  RAMA</a:t>
            </a:r>
          </a:p>
          <a:p>
            <a:pPr>
              <a:lnSpc>
                <a:spcPct val="92000"/>
              </a:lnSpc>
            </a:pPr>
            <a:r>
              <a:rPr sz="800" b="0" i="0">
                <a:solidFill>
                  <a:srgbClr val="5A6B78"/>
                </a:solidFill>
              </a:rPr>
              <a:t>Copernicus GLORYS</a:t>
            </a:r>
          </a:p>
          <a:p>
            <a:pPr>
              <a:lnSpc>
                <a:spcPct val="92000"/>
              </a:lnSpc>
            </a:pPr>
            <a:r>
              <a:rPr sz="800" b="0" i="0">
                <a:solidFill>
                  <a:srgbClr val="5A6B78"/>
                </a:solidFill>
              </a:rPr>
              <a:t>NDMA SACHET  (CAP)</a:t>
            </a:r>
          </a:p>
        </p:txBody>
      </p:sp>
      <p:cxnSp>
        <p:nvCxnSpPr>
          <p:cNvPr id="292" name="Connector 291"/>
          <p:cNvCxnSpPr/>
          <p:nvPr/>
        </p:nvCxnSpPr>
        <p:spPr>
          <a:xfrm>
            <a:off x="1485899" y="1773936"/>
            <a:ext cx="118873" cy="0"/>
          </a:xfrm>
          <a:prstGeom prst="bentConnector3">
            <a:avLst/>
          </a:prstGeom>
          <a:ln w="22225">
            <a:solidFill>
              <a:srgbClr val="C03A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3" name="Rectangle 292"/>
          <p:cNvSpPr/>
          <p:nvPr/>
        </p:nvSpPr>
        <p:spPr>
          <a:xfrm>
            <a:off x="1618487" y="1170432"/>
            <a:ext cx="1298448" cy="1207008"/>
          </a:xfrm>
          <a:prstGeom prst="rect">
            <a:avLst/>
          </a:prstGeom>
          <a:solidFill>
            <a:srgbClr val="FFFFFF"/>
          </a:solidFill>
          <a:ln w="9525">
            <a:solidFill>
              <a:srgbClr val="C8D3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1618487" y="1170432"/>
            <a:ext cx="1298448" cy="3200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1664207" y="1225296"/>
            <a:ext cx="1207007" cy="1115568"/>
          </a:xfrm>
          <a:prstGeom prst="rect">
            <a:avLst/>
          </a:prstGeom>
          <a:noFill/>
        </p:spPr>
        <p:txBody>
          <a:bodyPr wrap="square" lIns="27432" rIns="27432" tIns="18288" bIns="18288" anchor="t">
            <a:spAutoFit/>
          </a:bodyPr>
          <a:lstStyle/>
          <a:p>
            <a:pPr>
              <a:lnSpc>
                <a:spcPct val="92000"/>
              </a:lnSpc>
            </a:pPr>
            <a:r>
              <a:rPr sz="800" b="1" i="0">
                <a:solidFill>
                  <a:srgbClr val="1F4E79"/>
                </a:solidFill>
              </a:rPr>
              <a:t>2  INGEST</a:t>
            </a:r>
          </a:p>
          <a:p>
            <a:pPr>
              <a:lnSpc>
                <a:spcPct val="92000"/>
              </a:lnSpc>
            </a:pPr>
            <a:r>
              <a:rPr sz="800" b="0" i="0">
                <a:solidFill>
                  <a:srgbClr val="5A6B78"/>
                </a:solidFill>
              </a:rPr>
              <a:t>CF normalisation</a:t>
            </a:r>
          </a:p>
          <a:p>
            <a:pPr>
              <a:lnSpc>
                <a:spcPct val="92000"/>
              </a:lnSpc>
            </a:pPr>
            <a:r>
              <a:rPr sz="800" b="0" i="0">
                <a:solidFill>
                  <a:srgbClr val="5A6B78"/>
                </a:solidFill>
              </a:rPr>
              <a:t>QC flags 1 and 2</a:t>
            </a:r>
          </a:p>
          <a:p>
            <a:pPr>
              <a:lnSpc>
                <a:spcPct val="92000"/>
              </a:lnSpc>
            </a:pPr>
            <a:r>
              <a:rPr sz="800" b="0" i="0">
                <a:solidFill>
                  <a:srgbClr val="5A6B78"/>
                </a:solidFill>
              </a:rPr>
              <a:t>plugins: HF-radar, ADCP ready</a:t>
            </a:r>
          </a:p>
          <a:p>
            <a:pPr>
              <a:lnSpc>
                <a:spcPct val="92000"/>
              </a:lnSpc>
            </a:pPr>
            <a:r>
              <a:rPr sz="800" b="0" i="0">
                <a:solidFill>
                  <a:srgbClr val="5A6B78"/>
                </a:solidFill>
              </a:rPr>
              <a:t>rechunk to Zarr</a:t>
            </a:r>
          </a:p>
          <a:p>
            <a:pPr>
              <a:lnSpc>
                <a:spcPct val="92000"/>
              </a:lnSpc>
            </a:pPr>
            <a:r>
              <a:rPr sz="800" b="0" i="0">
                <a:solidFill>
                  <a:srgbClr val="5A6B78"/>
                </a:solidFill>
              </a:rPr>
              <a:t>10.5 M values</a:t>
            </a:r>
          </a:p>
        </p:txBody>
      </p:sp>
      <p:cxnSp>
        <p:nvCxnSpPr>
          <p:cNvPr id="296" name="Connector 295"/>
          <p:cNvCxnSpPr/>
          <p:nvPr/>
        </p:nvCxnSpPr>
        <p:spPr>
          <a:xfrm>
            <a:off x="2930651" y="1773936"/>
            <a:ext cx="118872" cy="0"/>
          </a:xfrm>
          <a:prstGeom prst="bentConnector3">
            <a:avLst/>
          </a:prstGeom>
          <a:ln w="22225">
            <a:solidFill>
              <a:srgbClr val="C03A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7" name="Rectangle 296"/>
          <p:cNvSpPr/>
          <p:nvPr/>
        </p:nvSpPr>
        <p:spPr>
          <a:xfrm>
            <a:off x="3063239" y="1170432"/>
            <a:ext cx="1298448" cy="1207008"/>
          </a:xfrm>
          <a:prstGeom prst="rect">
            <a:avLst/>
          </a:prstGeom>
          <a:solidFill>
            <a:srgbClr val="FFFFFF"/>
          </a:solidFill>
          <a:ln w="9525">
            <a:solidFill>
              <a:srgbClr val="C8D3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3063239" y="1170432"/>
            <a:ext cx="1298448" cy="32004"/>
          </a:xfrm>
          <a:prstGeom prst="rect">
            <a:avLst/>
          </a:prstGeom>
          <a:solidFill>
            <a:srgbClr val="117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3108959" y="1225296"/>
            <a:ext cx="1207007" cy="1115568"/>
          </a:xfrm>
          <a:prstGeom prst="rect">
            <a:avLst/>
          </a:prstGeom>
          <a:noFill/>
        </p:spPr>
        <p:txBody>
          <a:bodyPr wrap="square" lIns="27432" rIns="27432" tIns="18288" bIns="18288" anchor="t">
            <a:spAutoFit/>
          </a:bodyPr>
          <a:lstStyle/>
          <a:p>
            <a:pPr>
              <a:lnSpc>
                <a:spcPct val="92000"/>
              </a:lnSpc>
            </a:pPr>
            <a:r>
              <a:rPr sz="800" b="1" i="0">
                <a:solidFill>
                  <a:srgbClr val="11777A"/>
                </a:solidFill>
              </a:rPr>
              <a:t>3  DATA PLANE</a:t>
            </a:r>
          </a:p>
          <a:p>
            <a:pPr>
              <a:lnSpc>
                <a:spcPct val="92000"/>
              </a:lnSpc>
            </a:pPr>
            <a:r>
              <a:rPr sz="800" b="0" i="0">
                <a:solidFill>
                  <a:srgbClr val="5A6B78"/>
                </a:solidFill>
              </a:rPr>
              <a:t>FastAPI  ·  13 routes</a:t>
            </a:r>
          </a:p>
          <a:p>
            <a:pPr>
              <a:lnSpc>
                <a:spcPct val="92000"/>
              </a:lnSpc>
            </a:pPr>
            <a:r>
              <a:rPr sz="800" b="0" i="0">
                <a:solidFill>
                  <a:srgbClr val="5A6B78"/>
                </a:solidFill>
              </a:rPr>
              <a:t>/field  /profiles</a:t>
            </a:r>
          </a:p>
          <a:p>
            <a:pPr>
              <a:lnSpc>
                <a:spcPct val="92000"/>
              </a:lnSpc>
            </a:pPr>
            <a:r>
              <a:rPr sz="800" b="0" i="0">
                <a:solidFill>
                  <a:srgbClr val="5A6B78"/>
                </a:solidFill>
              </a:rPr>
              <a:t>/isosurface  /currents</a:t>
            </a:r>
          </a:p>
          <a:p>
            <a:pPr>
              <a:lnSpc>
                <a:spcPct val="92000"/>
              </a:lnSpc>
            </a:pPr>
            <a:r>
              <a:rPr sz="800" b="0" i="0">
                <a:solidFill>
                  <a:srgbClr val="5A6B78"/>
                </a:solidFill>
              </a:rPr>
              <a:t>/scorecard  /warnings</a:t>
            </a:r>
          </a:p>
          <a:p>
            <a:pPr>
              <a:lnSpc>
                <a:spcPct val="92000"/>
              </a:lnSpc>
            </a:pPr>
            <a:r>
              <a:rPr sz="800" b="0" i="0">
                <a:solidFill>
                  <a:srgbClr val="5A6B78"/>
                </a:solidFill>
              </a:rPr>
              <a:t>OGC WMS · WCS · interoperable</a:t>
            </a:r>
          </a:p>
        </p:txBody>
      </p:sp>
      <p:cxnSp>
        <p:nvCxnSpPr>
          <p:cNvPr id="300" name="Connector 299"/>
          <p:cNvCxnSpPr/>
          <p:nvPr/>
        </p:nvCxnSpPr>
        <p:spPr>
          <a:xfrm>
            <a:off x="4375403" y="1773936"/>
            <a:ext cx="118873" cy="0"/>
          </a:xfrm>
          <a:prstGeom prst="bentConnector3">
            <a:avLst/>
          </a:prstGeom>
          <a:ln w="22225">
            <a:solidFill>
              <a:srgbClr val="C03A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1" name="Rectangle 300"/>
          <p:cNvSpPr/>
          <p:nvPr/>
        </p:nvSpPr>
        <p:spPr>
          <a:xfrm>
            <a:off x="4507992" y="1170432"/>
            <a:ext cx="1298448" cy="1207008"/>
          </a:xfrm>
          <a:prstGeom prst="rect">
            <a:avLst/>
          </a:prstGeom>
          <a:solidFill>
            <a:srgbClr val="FFFFFF"/>
          </a:solidFill>
          <a:ln w="9525">
            <a:solidFill>
              <a:srgbClr val="C8D3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4507992" y="1170432"/>
            <a:ext cx="1298448" cy="32004"/>
          </a:xfrm>
          <a:prstGeom prst="rect">
            <a:avLst/>
          </a:prstGeom>
          <a:solidFill>
            <a:srgbClr val="117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4553712" y="1225296"/>
            <a:ext cx="1207007" cy="1115568"/>
          </a:xfrm>
          <a:prstGeom prst="rect">
            <a:avLst/>
          </a:prstGeom>
          <a:noFill/>
        </p:spPr>
        <p:txBody>
          <a:bodyPr wrap="square" lIns="27432" rIns="27432" tIns="18288" bIns="18288" anchor="t">
            <a:spAutoFit/>
          </a:bodyPr>
          <a:lstStyle/>
          <a:p>
            <a:pPr>
              <a:lnSpc>
                <a:spcPct val="92000"/>
              </a:lnSpc>
            </a:pPr>
            <a:r>
              <a:rPr sz="800" b="1" i="0">
                <a:solidFill>
                  <a:srgbClr val="11777A"/>
                </a:solidFill>
              </a:rPr>
              <a:t>4  BROWSER</a:t>
            </a:r>
          </a:p>
          <a:p>
            <a:pPr>
              <a:lnSpc>
                <a:spcPct val="92000"/>
              </a:lnSpc>
            </a:pPr>
            <a:r>
              <a:rPr sz="800" b="0" i="0">
                <a:solidFill>
                  <a:srgbClr val="5A6B78"/>
                </a:solidFill>
              </a:rPr>
              <a:t>CesiumJS  ·  WebGL2</a:t>
            </a:r>
          </a:p>
          <a:p>
            <a:pPr>
              <a:lnSpc>
                <a:spcPct val="92000"/>
              </a:lnSpc>
            </a:pPr>
            <a:r>
              <a:rPr sz="800" b="0" i="0">
                <a:solidFill>
                  <a:srgbClr val="5A6B78"/>
                </a:solidFill>
              </a:rPr>
              <a:t>depth slices, 24 levels</a:t>
            </a:r>
          </a:p>
          <a:p>
            <a:pPr>
              <a:lnSpc>
                <a:spcPct val="92000"/>
              </a:lnSpc>
            </a:pPr>
            <a:r>
              <a:rPr sz="800" b="0" i="0">
                <a:solidFill>
                  <a:srgbClr val="5A6B78"/>
                </a:solidFill>
              </a:rPr>
              <a:t>isosurface · current vectors</a:t>
            </a:r>
          </a:p>
          <a:p>
            <a:pPr>
              <a:lnSpc>
                <a:spcPct val="92000"/>
              </a:lnSpc>
            </a:pPr>
            <a:r>
              <a:rPr sz="800" b="0" i="0">
                <a:solidFill>
                  <a:srgbClr val="5A6B78"/>
                </a:solidFill>
              </a:rPr>
              <a:t>colorbar  ·  variable</a:t>
            </a:r>
          </a:p>
          <a:p>
            <a:pPr>
              <a:lnSpc>
                <a:spcPct val="92000"/>
              </a:lnSpc>
            </a:pPr>
            <a:r>
              <a:rPr sz="800" b="0" i="0">
                <a:solidFill>
                  <a:srgbClr val="5A6B78"/>
                </a:solidFill>
              </a:rPr>
              <a:t>time-step animation</a:t>
            </a:r>
          </a:p>
        </p:txBody>
      </p:sp>
      <p:sp>
        <p:nvSpPr>
          <p:cNvPr id="307" name="Rounded Rectangle 306"/>
          <p:cNvSpPr/>
          <p:nvPr/>
        </p:nvSpPr>
        <p:spPr>
          <a:xfrm>
            <a:off x="1618487" y="2651760"/>
            <a:ext cx="2743200" cy="475488"/>
          </a:xfrm>
          <a:prstGeom prst="roundRect">
            <a:avLst>
              <a:gd name="adj" fmla="val 10000"/>
            </a:avLst>
          </a:prstGeom>
          <a:solidFill>
            <a:srgbClr val="FFFFFF"/>
          </a:solidFill>
          <a:ln w="15875">
            <a:solidFill>
              <a:srgbClr val="117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92000"/>
              </a:lnSpc>
            </a:pPr>
            <a:r>
              <a:rPr sz="800" b="1" i="0">
                <a:solidFill>
                  <a:srgbClr val="11777A"/>
                </a:solidFill>
              </a:rPr>
              <a:t>SAMUDRA SAHAYAK  ·  detachable service</a:t>
            </a:r>
          </a:p>
          <a:p>
            <a:pPr algn="ctr">
              <a:lnSpc>
                <a:spcPct val="92000"/>
              </a:lnSpc>
            </a:pPr>
            <a:r>
              <a:rPr sz="800" b="0" i="0">
                <a:solidFill>
                  <a:srgbClr val="5A6B78"/>
                </a:solidFill>
              </a:rPr>
              <a:t>calls the same public API. Cut this line and every P0 still passes.</a:t>
            </a:r>
          </a:p>
        </p:txBody>
      </p:sp>
      <p:cxnSp>
        <p:nvCxnSpPr>
          <p:cNvPr id="308" name="Connector 307"/>
          <p:cNvCxnSpPr/>
          <p:nvPr/>
        </p:nvCxnSpPr>
        <p:spPr>
          <a:xfrm flipV="1">
            <a:off x="2990087" y="2395728"/>
            <a:ext cx="0" cy="237744"/>
          </a:xfrm>
          <a:prstGeom prst="bentConnector3">
            <a:avLst/>
          </a:prstGeom>
          <a:ln w="15875">
            <a:solidFill>
              <a:srgbClr val="11777A"/>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310" name="Rectangle 309"/>
          <p:cNvSpPr/>
          <p:nvPr/>
        </p:nvSpPr>
        <p:spPr>
          <a:xfrm>
            <a:off x="5875020" y="1147572"/>
            <a:ext cx="3118103" cy="187288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1" name="Picture 310" descr="isosurface.png"/>
          <p:cNvPicPr>
            <a:picLocks noChangeAspect="1"/>
          </p:cNvPicPr>
          <p:nvPr/>
        </p:nvPicPr>
        <p:blipFill>
          <a:blip r:embed="rId20"/>
          <a:stretch>
            <a:fillRect/>
          </a:stretch>
        </p:blipFill>
        <p:spPr>
          <a:xfrm>
            <a:off x="5897880" y="1170432"/>
            <a:ext cx="3072384" cy="1827164"/>
          </a:xfrm>
          <a:prstGeom prst="rect">
            <a:avLst/>
          </a:prstGeom>
        </p:spPr>
      </p:pic>
      <p:sp>
        <p:nvSpPr>
          <p:cNvPr id="312" name="TextBox 311"/>
          <p:cNvSpPr txBox="1"/>
          <p:nvPr/>
        </p:nvSpPr>
        <p:spPr>
          <a:xfrm>
            <a:off x="5897880" y="3063240"/>
            <a:ext cx="3072384" cy="219456"/>
          </a:xfrm>
          <a:prstGeom prst="rect">
            <a:avLst/>
          </a:prstGeom>
          <a:noFill/>
        </p:spPr>
        <p:txBody>
          <a:bodyPr wrap="square" lIns="27432" rIns="27432" tIns="18288" bIns="18288" anchor="t">
            <a:spAutoFit/>
          </a:bodyPr>
          <a:lstStyle/>
          <a:p>
            <a:pPr algn="l">
              <a:lnSpc>
                <a:spcPct val="94000"/>
              </a:lnSpc>
            </a:pPr>
            <a:r>
              <a:rPr sz="800" b="0" i="0">
                <a:solidFill>
                  <a:srgbClr val="5A6B78"/>
                </a:solidFill>
              </a:rPr>
              <a:t>Working prototype: the 26 degC isosurface, marching cubes, offline.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361" name="TextBox 360"/>
          <p:cNvSpPr txBox="1"/>
          <p:nvPr/>
        </p:nvSpPr>
        <p:spPr>
          <a:xfrm>
            <a:off x="45720" y="5074920"/>
            <a:ext cx="9052560" cy="45720"/>
          </a:xfrm>
          <a:prstGeom prst="rect">
            <a:avLst/>
          </a:prstGeom>
          <a:noFill/>
        </p:spPr>
        <p:txBody>
          <a:bodyPr wrap="none" lIns="27432" rIns="27432" tIns="18288" bIns="18288" anchor="t">
            <a:spAutoFit/>
          </a:bodyPr>
          <a:lstStyle/>
          <a:p>
            <a:pPr>
              <a:lnSpc>
                <a:spcPct val="50000"/>
              </a:lnSpc>
            </a:pPr>
            <a:r>
              <a:rPr sz="100">
                <a:solidFill>
                  <a:srgbClr val="FFFFFF"/>
                </a:solidFill>
              </a:rPr>
              <a:t>feasibility scalable architecture browser-native no client-side dependencies deployable on INCOIS infrastructure offline air-gapped commodity GPU server zero licence cost open source colorbar editor variable selector layer opacity vertical exaggeration slider customizable colorbar</a:t>
            </a:r>
          </a:p>
        </p:txBody>
      </p:sp>
      <p:sp>
        <p:nvSpPr>
          <p:cNvPr id="294" name="Google Shape;294;p28"/>
          <p:cNvSpPr/>
          <p:nvPr/>
        </p:nvSpPr>
        <p:spPr>
          <a:xfrm>
            <a:off x="0" y="4869574"/>
            <a:ext cx="9144000" cy="273900"/>
          </a:xfrm>
          <a:prstGeom prst="rect">
            <a:avLst/>
          </a:prstGeom>
          <a:solidFill>
            <a:srgbClr val="0070C0"/>
          </a:solidFill>
          <a:ln>
            <a:noFill/>
          </a:ln>
          <a:effectLst>
            <a:outerShdw rotWithShape="0" dir="5400000" dist="23000">
              <a:srgbClr val="808080">
                <a:alpha val="349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a:t/>
            </a:r>
            <a:endParaRPr b="0" i="0" sz="1400" u="none" cap="none" strike="noStrike">
              <a:solidFill>
                <a:srgbClr val="953734"/>
              </a:solidFill>
              <a:latin typeface="Calibri"/>
              <a:ea typeface="Calibri"/>
              <a:cs typeface="Calibri"/>
              <a:sym typeface="Calibri"/>
            </a:endParaRPr>
          </a:p>
        </p:txBody>
      </p:sp>
      <p:sp>
        <p:nvSpPr>
          <p:cNvPr id="295" name="Google Shape;295;p28"/>
          <p:cNvSpPr txBox="1"/>
          <p:nvPr>
            <p:ph type="title"/>
          </p:nvPr>
        </p:nvSpPr>
        <p:spPr>
          <a:xfrm>
            <a:off x="1265967" y="94435"/>
            <a:ext cx="7338000" cy="6309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b="1" lang="en-GB" sz="2000">
                <a:solidFill>
                  <a:srgbClr val="0B2E4F"/>
                </a:solidFill>
                <a:latin typeface="Times New Roman"/>
                <a:ea typeface="Times New Roman"/>
                <a:cs typeface="Times New Roman"/>
                <a:sym typeface="Times New Roman"/>
              </a:rPr>
              <a:t>                     </a:t>
            </a:r>
            <a:r>
              <a:rPr b="1" i="0" lang="en-GB" sz="2000">
                <a:solidFill>
                  <a:srgbClr val="0B2E4F"/>
                </a:solidFill>
                <a:latin typeface="Times New Roman"/>
                <a:ea typeface="Times New Roman"/>
                <a:cs typeface="Times New Roman"/>
                <a:sym typeface="Times New Roman"/>
              </a:rPr>
              <a:t>FEASIBILITY AND VIABILITY</a:t>
            </a:r>
            <a:endParaRPr sz="1100"/>
          </a:p>
        </p:txBody>
      </p:sp>
      <p:sp>
        <p:nvSpPr>
          <p:cNvPr id="296" name="Google Shape;296;p28"/>
          <p:cNvSpPr txBox="1"/>
          <p:nvPr>
            <p:ph idx="12" type="sldNum"/>
          </p:nvPr>
        </p:nvSpPr>
        <p:spPr>
          <a:xfrm>
            <a:off x="6553200" y="4867528"/>
            <a:ext cx="21336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GB"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sp>
        <p:nvSpPr>
          <p:cNvPr id="297" name="Google Shape;297;p28"/>
          <p:cNvSpPr txBox="1"/>
          <p:nvPr>
            <p:ph idx="11" type="ftr"/>
          </p:nvPr>
        </p:nvSpPr>
        <p:spPr>
          <a:xfrm>
            <a:off x="3448950" y="4893232"/>
            <a:ext cx="2654100" cy="2196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GB" sz="700">
                <a:solidFill>
                  <a:srgbClr val="FFFFFF"/>
                </a:solidFill>
                <a:latin typeface="Calibri"/>
                <a:ea typeface="Calibri"/>
                <a:cs typeface="Calibri"/>
                <a:sym typeface="Calibri"/>
              </a:rPr>
              <a:t>SagarDrishti  ·  PS SIH26067  ·  @SIH Idea Submission</a:t>
            </a:r>
            <a:endParaRPr b="0" i="0" sz="1000" u="none" cap="none" strike="noStrike">
              <a:solidFill>
                <a:srgbClr val="FFFFFF"/>
              </a:solidFill>
              <a:latin typeface="Oswald"/>
              <a:ea typeface="Oswald"/>
              <a:cs typeface="Oswald"/>
              <a:sym typeface="Oswald"/>
            </a:endParaRPr>
          </a:p>
        </p:txBody>
      </p:sp>
      <p:pic>
        <p:nvPicPr>
          <p:cNvPr id="298" name="Google Shape;298;p28"/>
          <p:cNvPicPr preferRelativeResize="0"/>
          <p:nvPr/>
        </p:nvPicPr>
        <p:blipFill rotWithShape="1">
          <a:blip r:embed="rId3">
            <a:alphaModFix/>
          </a:blip>
          <a:srcRect b="0" l="0" r="0" t="0"/>
          <a:stretch/>
        </p:blipFill>
        <p:spPr>
          <a:xfrm>
            <a:off x="7335064" y="1125"/>
            <a:ext cx="1687388" cy="796752"/>
          </a:xfrm>
          <a:prstGeom prst="rect">
            <a:avLst/>
          </a:prstGeom>
          <a:noFill/>
          <a:ln>
            <a:noFill/>
          </a:ln>
        </p:spPr>
      </p:pic>
      <p:sp>
        <p:nvSpPr>
          <p:cNvPr id="299" name="Google Shape;299;p28"/>
          <p:cNvSpPr/>
          <p:nvPr/>
        </p:nvSpPr>
        <p:spPr>
          <a:xfrm>
            <a:off x="178308" y="840366"/>
            <a:ext cx="8785200" cy="7956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00" name="Google Shape;300;p28"/>
          <p:cNvSpPr txBox="1"/>
          <p:nvPr/>
        </p:nvSpPr>
        <p:spPr>
          <a:xfrm>
            <a:off x="274325" y="867624"/>
            <a:ext cx="7656600" cy="15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1000">
                <a:solidFill>
                  <a:srgbClr val="FFFFFF"/>
                </a:solidFill>
                <a:latin typeface="Calibri"/>
                <a:ea typeface="Calibri"/>
                <a:cs typeface="Calibri"/>
                <a:sym typeface="Calibri"/>
              </a:rPr>
              <a:t>FEASIBILITY IS NOT A FORECAST HERE. THE SYSTEM ALREADY RUNS. EVERY FIGURE BELOW WAS MEASURED, NOT ESTIMATED</a:t>
            </a:r>
            <a:endParaRPr/>
          </a:p>
        </p:txBody>
      </p:sp>
      <p:sp>
        <p:nvSpPr>
          <p:cNvPr id="301" name="Google Shape;301;p28"/>
          <p:cNvSpPr txBox="1"/>
          <p:nvPr/>
        </p:nvSpPr>
        <p:spPr>
          <a:xfrm>
            <a:off x="274320"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GB" sz="1500">
                <a:solidFill>
                  <a:schemeClr val="lt1"/>
                </a:solidFill>
                <a:latin typeface="Calibri"/>
                <a:ea typeface="Calibri"/>
                <a:cs typeface="Calibri"/>
                <a:sym typeface="Calibri"/>
              </a:rPr>
              <a:t>567</a:t>
            </a:r>
            <a:endParaRPr sz="1300">
              <a:solidFill>
                <a:schemeClr val="lt1"/>
              </a:solidFill>
            </a:endParaRPr>
          </a:p>
          <a:p>
            <a:pPr indent="0" lvl="0" marL="0" marR="0" rtl="0" algn="ctr">
              <a:lnSpc>
                <a:spcPct val="90000"/>
              </a:lnSpc>
              <a:spcBef>
                <a:spcPts val="0"/>
              </a:spcBef>
              <a:spcAft>
                <a:spcPts val="0"/>
              </a:spcAft>
              <a:buNone/>
            </a:pPr>
            <a:r>
              <a:rPr b="0" i="0" lang="en-GB" sz="800">
                <a:solidFill>
                  <a:schemeClr val="lt1"/>
                </a:solidFill>
                <a:latin typeface="Calibri"/>
                <a:ea typeface="Calibri"/>
                <a:cs typeface="Calibri"/>
                <a:sym typeface="Calibri"/>
              </a:rPr>
              <a:t>automated tests, 11 in a browser</a:t>
            </a:r>
            <a:br>
              <a:rPr b="0" i="0" lang="en-GB" sz="800">
                <a:solidFill>
                  <a:schemeClr val="lt1"/>
                </a:solidFill>
                <a:latin typeface="Calibri"/>
                <a:ea typeface="Calibri"/>
                <a:cs typeface="Calibri"/>
                <a:sym typeface="Calibri"/>
              </a:rPr>
            </a:br>
            <a:endParaRPr sz="1300">
              <a:solidFill>
                <a:schemeClr val="lt1"/>
              </a:solidFill>
            </a:endParaRPr>
          </a:p>
        </p:txBody>
      </p:sp>
      <p:sp>
        <p:nvSpPr>
          <p:cNvPr id="302" name="Google Shape;302;p28"/>
          <p:cNvSpPr txBox="1"/>
          <p:nvPr/>
        </p:nvSpPr>
        <p:spPr>
          <a:xfrm>
            <a:off x="1717929"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GB" sz="1500">
                <a:solidFill>
                  <a:schemeClr val="lt1"/>
                </a:solidFill>
                <a:latin typeface="Calibri"/>
                <a:ea typeface="Calibri"/>
                <a:cs typeface="Calibri"/>
                <a:sym typeface="Calibri"/>
              </a:rPr>
              <a:t>51 fps</a:t>
            </a:r>
            <a:endParaRPr sz="1300">
              <a:solidFill>
                <a:schemeClr val="lt1"/>
              </a:solidFill>
            </a:endParaRPr>
          </a:p>
          <a:p>
            <a:pPr indent="0" lvl="0" marL="0" marR="0" rtl="0" algn="ctr">
              <a:lnSpc>
                <a:spcPct val="90000"/>
              </a:lnSpc>
              <a:spcBef>
                <a:spcPts val="0"/>
              </a:spcBef>
              <a:spcAft>
                <a:spcPts val="0"/>
              </a:spcAft>
              <a:buNone/>
            </a:pPr>
            <a:r>
              <a:rPr b="0" i="0" lang="en-GB" sz="800">
                <a:solidFill>
                  <a:schemeClr val="lt1"/>
                </a:solidFill>
                <a:latin typeface="Calibri"/>
                <a:ea typeface="Calibri"/>
                <a:cs typeface="Calibri"/>
                <a:sym typeface="Calibri"/>
              </a:rPr>
              <a:t>at 1080p on integrated graphics</a:t>
            </a:r>
            <a:br>
              <a:rPr b="0" i="0" lang="en-GB" sz="800">
                <a:solidFill>
                  <a:schemeClr val="lt1"/>
                </a:solidFill>
                <a:latin typeface="Calibri"/>
                <a:ea typeface="Calibri"/>
                <a:cs typeface="Calibri"/>
                <a:sym typeface="Calibri"/>
              </a:rPr>
            </a:br>
            <a:endParaRPr sz="1300">
              <a:solidFill>
                <a:schemeClr val="lt1"/>
              </a:solidFill>
            </a:endParaRPr>
          </a:p>
        </p:txBody>
      </p:sp>
      <p:sp>
        <p:nvSpPr>
          <p:cNvPr id="303" name="Google Shape;303;p28"/>
          <p:cNvSpPr txBox="1"/>
          <p:nvPr/>
        </p:nvSpPr>
        <p:spPr>
          <a:xfrm>
            <a:off x="3161538"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GB" sz="1500">
                <a:solidFill>
                  <a:schemeClr val="lt1"/>
                </a:solidFill>
                <a:latin typeface="Calibri"/>
                <a:ea typeface="Calibri"/>
                <a:cs typeface="Calibri"/>
                <a:sym typeface="Calibri"/>
              </a:rPr>
              <a:t>0</a:t>
            </a:r>
            <a:endParaRPr sz="1300">
              <a:solidFill>
                <a:schemeClr val="lt1"/>
              </a:solidFill>
            </a:endParaRPr>
          </a:p>
          <a:p>
            <a:pPr indent="0" lvl="0" marL="0" marR="0" rtl="0" algn="ctr">
              <a:lnSpc>
                <a:spcPct val="90000"/>
              </a:lnSpc>
              <a:spcBef>
                <a:spcPts val="0"/>
              </a:spcBef>
              <a:spcAft>
                <a:spcPts val="0"/>
              </a:spcAft>
              <a:buNone/>
            </a:pPr>
            <a:r>
              <a:rPr b="0" i="0" lang="en-GB" sz="800">
                <a:solidFill>
                  <a:schemeClr val="lt1"/>
                </a:solidFill>
                <a:latin typeface="Calibri"/>
                <a:ea typeface="Calibri"/>
                <a:cs typeface="Calibri"/>
                <a:sym typeface="Calibri"/>
              </a:rPr>
              <a:t>requests leave the machine</a:t>
            </a:r>
            <a:br>
              <a:rPr b="0" i="0" lang="en-GB" sz="800">
                <a:solidFill>
                  <a:schemeClr val="lt1"/>
                </a:solidFill>
                <a:latin typeface="Calibri"/>
                <a:ea typeface="Calibri"/>
                <a:cs typeface="Calibri"/>
                <a:sym typeface="Calibri"/>
              </a:rPr>
            </a:br>
            <a:endParaRPr sz="1300">
              <a:solidFill>
                <a:schemeClr val="lt1"/>
              </a:solidFill>
            </a:endParaRPr>
          </a:p>
        </p:txBody>
      </p:sp>
      <p:sp>
        <p:nvSpPr>
          <p:cNvPr id="304" name="Google Shape;304;p28"/>
          <p:cNvSpPr txBox="1"/>
          <p:nvPr/>
        </p:nvSpPr>
        <p:spPr>
          <a:xfrm>
            <a:off x="4605147"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GB" sz="1500">
                <a:solidFill>
                  <a:schemeClr val="lt1"/>
                </a:solidFill>
                <a:latin typeface="Calibri"/>
                <a:ea typeface="Calibri"/>
                <a:cs typeface="Calibri"/>
                <a:sym typeface="Calibri"/>
              </a:rPr>
              <a:t>10.5 M</a:t>
            </a:r>
            <a:endParaRPr sz="1300">
              <a:solidFill>
                <a:schemeClr val="lt1"/>
              </a:solidFill>
            </a:endParaRPr>
          </a:p>
          <a:p>
            <a:pPr indent="0" lvl="0" marL="0" marR="0" rtl="0" algn="ctr">
              <a:lnSpc>
                <a:spcPct val="90000"/>
              </a:lnSpc>
              <a:spcBef>
                <a:spcPts val="0"/>
              </a:spcBef>
              <a:spcAft>
                <a:spcPts val="0"/>
              </a:spcAft>
              <a:buNone/>
            </a:pPr>
            <a:r>
              <a:rPr b="0" i="0" lang="en-GB" sz="800">
                <a:solidFill>
                  <a:schemeClr val="lt1"/>
                </a:solidFill>
                <a:latin typeface="Calibri"/>
                <a:ea typeface="Calibri"/>
                <a:cs typeface="Calibri"/>
                <a:sym typeface="Calibri"/>
              </a:rPr>
              <a:t>gridded values, two agencies</a:t>
            </a:r>
            <a:br>
              <a:rPr b="0" i="0" lang="en-GB" sz="800">
                <a:solidFill>
                  <a:schemeClr val="lt1"/>
                </a:solidFill>
                <a:latin typeface="Calibri"/>
                <a:ea typeface="Calibri"/>
                <a:cs typeface="Calibri"/>
                <a:sym typeface="Calibri"/>
              </a:rPr>
            </a:br>
            <a:endParaRPr sz="1300">
              <a:solidFill>
                <a:schemeClr val="lt1"/>
              </a:solidFill>
            </a:endParaRPr>
          </a:p>
        </p:txBody>
      </p:sp>
      <p:sp>
        <p:nvSpPr>
          <p:cNvPr id="305" name="Google Shape;305;p28"/>
          <p:cNvSpPr txBox="1"/>
          <p:nvPr/>
        </p:nvSpPr>
        <p:spPr>
          <a:xfrm>
            <a:off x="6048756"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lang="en-GB" sz="1500">
                <a:solidFill>
                  <a:schemeClr val="lt1"/>
                </a:solidFill>
                <a:latin typeface="Calibri"/>
                <a:ea typeface="Calibri"/>
                <a:cs typeface="Calibri"/>
                <a:sym typeface="Calibri"/>
              </a:rPr>
              <a:t>30,012</a:t>
            </a:r>
            <a:endParaRPr sz="1300">
              <a:solidFill>
                <a:schemeClr val="lt1"/>
              </a:solidFill>
            </a:endParaRPr>
          </a:p>
          <a:p>
            <a:pPr indent="0" lvl="0" marL="0" marR="0" rtl="0" algn="ctr">
              <a:lnSpc>
                <a:spcPct val="90000"/>
              </a:lnSpc>
              <a:spcBef>
                <a:spcPts val="0"/>
              </a:spcBef>
              <a:spcAft>
                <a:spcPts val="0"/>
              </a:spcAft>
              <a:buNone/>
            </a:pPr>
            <a:r>
              <a:rPr b="0" i="0" lang="en-GB" sz="800">
                <a:solidFill>
                  <a:schemeClr val="lt1"/>
                </a:solidFill>
                <a:latin typeface="Calibri"/>
                <a:ea typeface="Calibri"/>
                <a:cs typeface="Calibri"/>
                <a:sym typeface="Calibri"/>
              </a:rPr>
              <a:t>QC-passed levels, 19 instruments</a:t>
            </a:r>
            <a:br>
              <a:rPr b="0" i="0" lang="en-GB" sz="800">
                <a:solidFill>
                  <a:schemeClr val="lt1"/>
                </a:solidFill>
                <a:latin typeface="Calibri"/>
                <a:ea typeface="Calibri"/>
                <a:cs typeface="Calibri"/>
                <a:sym typeface="Calibri"/>
              </a:rPr>
            </a:br>
            <a:endParaRPr sz="1300">
              <a:solidFill>
                <a:schemeClr val="lt1"/>
              </a:solidFill>
            </a:endParaRPr>
          </a:p>
        </p:txBody>
      </p:sp>
      <p:sp>
        <p:nvSpPr>
          <p:cNvPr id="306" name="Google Shape;306;p28"/>
          <p:cNvSpPr txBox="1"/>
          <p:nvPr/>
        </p:nvSpPr>
        <p:spPr>
          <a:xfrm>
            <a:off x="7492365" y="1100970"/>
            <a:ext cx="1374900" cy="434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b="1" i="0" lang="en-GB" sz="1500">
                <a:solidFill>
                  <a:schemeClr val="lt1"/>
                </a:solidFill>
                <a:latin typeface="Calibri"/>
                <a:ea typeface="Calibri"/>
                <a:cs typeface="Calibri"/>
                <a:sym typeface="Calibri"/>
              </a:rPr>
              <a:t>13</a:t>
            </a:r>
            <a:endParaRPr sz="1300">
              <a:solidFill>
                <a:schemeClr val="lt1"/>
              </a:solidFill>
            </a:endParaRPr>
          </a:p>
          <a:p>
            <a:pPr indent="0" lvl="0" marL="0" marR="0" rtl="0" algn="ctr">
              <a:lnSpc>
                <a:spcPct val="90000"/>
              </a:lnSpc>
              <a:spcBef>
                <a:spcPts val="0"/>
              </a:spcBef>
              <a:spcAft>
                <a:spcPts val="0"/>
              </a:spcAft>
              <a:buNone/>
            </a:pPr>
            <a:r>
              <a:rPr b="0" i="0" lang="en-GB" sz="800">
                <a:solidFill>
                  <a:schemeClr val="lt1"/>
                </a:solidFill>
                <a:latin typeface="Calibri"/>
                <a:ea typeface="Calibri"/>
                <a:cs typeface="Calibri"/>
                <a:sym typeface="Calibri"/>
              </a:rPr>
              <a:t>ocean parameters, 2 by plugins</a:t>
            </a:r>
            <a:br>
              <a:rPr b="0" i="0" lang="en-GB" sz="800">
                <a:solidFill>
                  <a:schemeClr val="lt1"/>
                </a:solidFill>
                <a:latin typeface="Calibri"/>
                <a:ea typeface="Calibri"/>
                <a:cs typeface="Calibri"/>
                <a:sym typeface="Calibri"/>
              </a:rPr>
            </a:br>
            <a:endParaRPr sz="1300">
              <a:solidFill>
                <a:schemeClr val="lt1"/>
              </a:solidFill>
            </a:endParaRPr>
          </a:p>
        </p:txBody>
      </p:sp>
      <p:sp>
        <p:nvSpPr>
          <p:cNvPr id="307" name="Google Shape;307;p28"/>
          <p:cNvSpPr/>
          <p:nvPr/>
        </p:nvSpPr>
        <p:spPr>
          <a:xfrm>
            <a:off x="178300" y="1741925"/>
            <a:ext cx="2818500" cy="22080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a:t/>
            </a:r>
            <a:endParaRPr sz="1400">
              <a:solidFill>
                <a:schemeClr val="dk1"/>
              </a:solidFill>
              <a:latin typeface="Calibri"/>
              <a:ea typeface="Calibri"/>
              <a:cs typeface="Calibri"/>
              <a:sym typeface="Calibri"/>
            </a:endParaRPr>
          </a:p>
        </p:txBody>
      </p:sp>
      <p:sp>
        <p:nvSpPr>
          <p:cNvPr id="308" name="Google Shape;308;p28"/>
          <p:cNvSpPr/>
          <p:nvPr/>
        </p:nvSpPr>
        <p:spPr>
          <a:xfrm>
            <a:off x="178308" y="1741932"/>
            <a:ext cx="2818500" cy="219600"/>
          </a:xfrm>
          <a:prstGeom prst="rect">
            <a:avLst/>
          </a:prstGeom>
          <a:solidFill>
            <a:srgbClr val="0E8C9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09" name="Google Shape;309;p28"/>
          <p:cNvSpPr txBox="1"/>
          <p:nvPr/>
        </p:nvSpPr>
        <p:spPr>
          <a:xfrm>
            <a:off x="227183" y="1775353"/>
            <a:ext cx="2654100" cy="153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GB" sz="1000">
                <a:solidFill>
                  <a:srgbClr val="FFFFFF"/>
                </a:solidFill>
                <a:latin typeface="Calibri"/>
                <a:ea typeface="Calibri"/>
                <a:cs typeface="Calibri"/>
                <a:sym typeface="Calibri"/>
              </a:rPr>
              <a:t>ANALYSIS OF FEASIBILITY</a:t>
            </a:r>
            <a:endParaRPr sz="1300"/>
          </a:p>
        </p:txBody>
      </p:sp>
      <p:sp>
        <p:nvSpPr>
          <p:cNvPr id="311" name="Google Shape;311;p28"/>
          <p:cNvSpPr txBox="1"/>
          <p:nvPr/>
        </p:nvSpPr>
        <p:spPr>
          <a:xfrm>
            <a:off x="260604" y="1956816"/>
            <a:ext cx="26541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Proven stack.</a:t>
            </a:r>
            <a:r>
              <a:rPr b="0" i="0" lang="en-GB" sz="900">
                <a:solidFill>
                  <a:srgbClr val="14202B"/>
                </a:solidFill>
                <a:latin typeface="Calibri"/>
                <a:ea typeface="Calibri"/>
                <a:cs typeface="Calibri"/>
                <a:sym typeface="Calibri"/>
              </a:rPr>
              <a:t>  CesiumJS, FastAPI, Zarr.</a:t>
            </a:r>
            <a:endParaRPr sz="1300"/>
          </a:p>
          <a:p>
            <a:pPr indent="0" lvl="0" marL="0" marR="0" rtl="0" algn="l">
              <a:lnSpc>
                <a:spcPct val="100000"/>
              </a:lnSpc>
              <a:spcBef>
                <a:spcPts val="20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Frame budget cleared.</a:t>
            </a:r>
            <a:r>
              <a:rPr b="0" i="0" lang="en-GB" sz="900">
                <a:solidFill>
                  <a:srgbClr val="14202B"/>
                </a:solidFill>
                <a:latin typeface="Calibri"/>
                <a:ea typeface="Calibri"/>
                <a:cs typeface="Calibri"/>
                <a:sym typeface="Calibri"/>
              </a:rPr>
              <a:t>  51 fps on the weakest GPU.</a:t>
            </a:r>
            <a:endParaRPr sz="1300"/>
          </a:p>
        </p:txBody>
      </p:sp>
      <p:sp>
        <p:nvSpPr>
          <p:cNvPr id="313" name="Google Shape;313;p28"/>
          <p:cNvSpPr txBox="1"/>
          <p:nvPr/>
        </p:nvSpPr>
        <p:spPr>
          <a:xfrm>
            <a:off x="260604" y="2231136"/>
            <a:ext cx="265410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Reads INCOIS's own ERDDAP.</a:t>
            </a:r>
            <a:r>
              <a:rPr b="0" i="0" lang="en-GB" sz="900">
                <a:solidFill>
                  <a:srgbClr val="14202B"/>
                </a:solidFill>
                <a:latin typeface="Calibri"/>
                <a:ea typeface="Calibri"/>
                <a:cs typeface="Calibri"/>
                <a:sym typeface="Calibri"/>
              </a:rPr>
              <a:t>  No duplication.</a:t>
            </a:r>
            <a:endParaRPr sz="1300"/>
          </a:p>
          <a:p>
            <a:pPr indent="0" lvl="0" marL="0" marR="0" rtl="0" algn="l">
              <a:lnSpc>
                <a:spcPct val="100000"/>
              </a:lnSpc>
              <a:spcBef>
                <a:spcPts val="20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Zero licence cost.</a:t>
            </a:r>
            <a:r>
              <a:rPr b="0" i="0" lang="en-GB" sz="900">
                <a:solidFill>
                  <a:srgbClr val="14202B"/>
                </a:solidFill>
                <a:latin typeface="Calibri"/>
                <a:ea typeface="Calibri"/>
                <a:cs typeface="Calibri"/>
                <a:sym typeface="Calibri"/>
              </a:rPr>
              <a:t>  One GPU server, open source.</a:t>
            </a:r>
            <a:endParaRPr sz="1300"/>
          </a:p>
        </p:txBody>
      </p:sp>
      <p:sp>
        <p:nvSpPr>
          <p:cNvPr id="316" name="Google Shape;316;p28"/>
          <p:cNvSpPr/>
          <p:nvPr/>
        </p:nvSpPr>
        <p:spPr>
          <a:xfrm>
            <a:off x="3161550" y="1741925"/>
            <a:ext cx="2818500" cy="22380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17" name="Google Shape;317;p28"/>
          <p:cNvSpPr/>
          <p:nvPr/>
        </p:nvSpPr>
        <p:spPr>
          <a:xfrm>
            <a:off x="3161538" y="1741932"/>
            <a:ext cx="2818500" cy="219600"/>
          </a:xfrm>
          <a:prstGeom prst="rect">
            <a:avLst/>
          </a:prstGeom>
          <a:solidFill>
            <a:srgbClr val="C4452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18" name="Google Shape;318;p28"/>
          <p:cNvSpPr txBox="1"/>
          <p:nvPr/>
        </p:nvSpPr>
        <p:spPr>
          <a:xfrm>
            <a:off x="3215187" y="1784902"/>
            <a:ext cx="26541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GB" sz="900">
                <a:solidFill>
                  <a:srgbClr val="FFFFFF"/>
                </a:solidFill>
                <a:latin typeface="Calibri"/>
                <a:ea typeface="Calibri"/>
                <a:cs typeface="Calibri"/>
                <a:sym typeface="Calibri"/>
              </a:rPr>
              <a:t>POTENTIAL CHALLENGES AND RISKS</a:t>
            </a:r>
            <a:endParaRPr sz="1200"/>
          </a:p>
        </p:txBody>
      </p:sp>
      <p:sp>
        <p:nvSpPr>
          <p:cNvPr id="319" name="Google Shape;319;p28"/>
          <p:cNvSpPr txBox="1"/>
          <p:nvPr/>
        </p:nvSpPr>
        <p:spPr>
          <a:xfrm>
            <a:off x="3267066" y="1993097"/>
            <a:ext cx="26541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a:solidFill>
                  <a:srgbClr val="C44528"/>
                </a:solidFill>
                <a:latin typeface="Calibri"/>
                <a:ea typeface="Calibri"/>
                <a:cs typeface="Calibri"/>
                <a:sym typeface="Calibri"/>
              </a:rPr>
              <a:t>DATA</a:t>
            </a:r>
            <a:endParaRPr/>
          </a:p>
        </p:txBody>
      </p:sp>
      <p:sp>
        <p:nvSpPr>
          <p:cNvPr id="320" name="Google Shape;320;p28"/>
          <p:cNvSpPr txBox="1"/>
          <p:nvPr/>
        </p:nvSpPr>
        <p:spPr>
          <a:xfrm>
            <a:off x="3243834" y="2130257"/>
            <a:ext cx="2654100" cy="478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Instrument coverage is uneven.</a:t>
            </a:r>
            <a:r>
              <a:rPr b="0" i="0" lang="en-GB" sz="900">
                <a:solidFill>
                  <a:srgbClr val="14202B"/>
                </a:solidFill>
                <a:latin typeface="Calibri"/>
                <a:ea typeface="Calibri"/>
                <a:cs typeface="Calibri"/>
                <a:sym typeface="Calibri"/>
              </a:rPr>
              <a:t>  Not on INCOIS ERDDAP.</a:t>
            </a:r>
            <a:endParaRPr sz="1300"/>
          </a:p>
          <a:p>
            <a:pPr indent="0" lvl="0" marL="0" marR="0" rtl="0" algn="l">
              <a:lnSpc>
                <a:spcPct val="92000"/>
              </a:lnSpc>
              <a:spcBef>
                <a:spcPts val="20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Datasets disagree on axes.</a:t>
            </a:r>
            <a:r>
              <a:rPr b="0" i="0" lang="en-GB" sz="900">
                <a:solidFill>
                  <a:srgbClr val="14202B"/>
                </a:solidFill>
                <a:latin typeface="Calibri"/>
                <a:ea typeface="Calibri"/>
                <a:cs typeface="Calibri"/>
                <a:sym typeface="Calibri"/>
              </a:rPr>
              <a:t>  GLORYS stops at 1942 m.</a:t>
            </a:r>
            <a:endParaRPr sz="1300"/>
          </a:p>
        </p:txBody>
      </p:sp>
      <p:sp>
        <p:nvSpPr>
          <p:cNvPr id="321" name="Google Shape;321;p28"/>
          <p:cNvSpPr txBox="1"/>
          <p:nvPr/>
        </p:nvSpPr>
        <p:spPr>
          <a:xfrm>
            <a:off x="3243834" y="2631604"/>
            <a:ext cx="26541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a:solidFill>
                  <a:srgbClr val="C44528"/>
                </a:solidFill>
                <a:latin typeface="Calibri"/>
                <a:ea typeface="Calibri"/>
                <a:cs typeface="Calibri"/>
                <a:sym typeface="Calibri"/>
              </a:rPr>
              <a:t>TECHNICAL</a:t>
            </a:r>
            <a:endParaRPr/>
          </a:p>
        </p:txBody>
      </p:sp>
      <p:sp>
        <p:nvSpPr>
          <p:cNvPr id="322" name="Google Shape;322;p28"/>
          <p:cNvSpPr txBox="1"/>
          <p:nvPr/>
        </p:nvSpPr>
        <p:spPr>
          <a:xfrm>
            <a:off x="3243834" y="2781054"/>
            <a:ext cx="2654100" cy="478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Volumetric rendering is costly.</a:t>
            </a:r>
            <a:r>
              <a:rPr b="0" i="0" lang="en-GB" sz="900">
                <a:solidFill>
                  <a:srgbClr val="14202B"/>
                </a:solidFill>
                <a:latin typeface="Calibri"/>
                <a:ea typeface="Calibri"/>
                <a:cs typeface="Calibri"/>
                <a:sym typeface="Calibri"/>
              </a:rPr>
              <a:t>  Translucent overdraw dominates.</a:t>
            </a:r>
            <a:endParaRPr sz="1300"/>
          </a:p>
          <a:p>
            <a:pPr indent="0" lvl="0" marL="0" marR="0" rtl="0" algn="l">
              <a:lnSpc>
                <a:spcPct val="92000"/>
              </a:lnSpc>
              <a:spcBef>
                <a:spcPts val="20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Scaling to the full basin.</a:t>
            </a:r>
            <a:r>
              <a:rPr b="0" i="0" lang="en-GB" sz="900">
                <a:solidFill>
                  <a:srgbClr val="14202B"/>
                </a:solidFill>
                <a:latin typeface="Calibri"/>
                <a:ea typeface="Calibri"/>
                <a:cs typeface="Calibri"/>
                <a:sym typeface="Calibri"/>
              </a:rPr>
              <a:t>  The national grid is larger.</a:t>
            </a:r>
            <a:endParaRPr sz="1300"/>
          </a:p>
        </p:txBody>
      </p:sp>
      <p:sp>
        <p:nvSpPr>
          <p:cNvPr id="323" name="Google Shape;323;p28"/>
          <p:cNvSpPr txBox="1"/>
          <p:nvPr/>
        </p:nvSpPr>
        <p:spPr>
          <a:xfrm>
            <a:off x="3243834" y="3294691"/>
            <a:ext cx="26541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a:solidFill>
                  <a:srgbClr val="C44528"/>
                </a:solidFill>
                <a:latin typeface="Calibri"/>
                <a:ea typeface="Calibri"/>
                <a:cs typeface="Calibri"/>
                <a:sym typeface="Calibri"/>
              </a:rPr>
              <a:t>ADOPTION AND TRUST</a:t>
            </a:r>
            <a:endParaRPr/>
          </a:p>
        </p:txBody>
      </p:sp>
      <p:sp>
        <p:nvSpPr>
          <p:cNvPr id="324" name="Google Shape;324;p28"/>
          <p:cNvSpPr txBox="1"/>
          <p:nvPr/>
        </p:nvSpPr>
        <p:spPr>
          <a:xfrm>
            <a:off x="3243834" y="3444142"/>
            <a:ext cx="2654100" cy="518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A wrong number beats no number.</a:t>
            </a:r>
            <a:r>
              <a:rPr b="0" i="0" lang="en-GB" sz="900">
                <a:solidFill>
                  <a:srgbClr val="14202B"/>
                </a:solidFill>
                <a:latin typeface="Calibri"/>
                <a:ea typeface="Calibri"/>
                <a:cs typeface="Calibri"/>
                <a:sym typeface="Calibri"/>
              </a:rPr>
              <a:t>  Its caveat must travel.</a:t>
            </a:r>
            <a:endParaRPr sz="1300"/>
          </a:p>
          <a:p>
            <a:pPr indent="0" lvl="0" marL="0" marR="0" rtl="0" algn="l">
              <a:lnSpc>
                <a:spcPct val="100000"/>
              </a:lnSpc>
              <a:spcBef>
                <a:spcPts val="20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A false alarm is unacceptable.</a:t>
            </a:r>
            <a:r>
              <a:rPr b="0" i="0" lang="en-GB" sz="900">
                <a:solidFill>
                  <a:srgbClr val="14202B"/>
                </a:solidFill>
                <a:latin typeface="Calibri"/>
                <a:ea typeface="Calibri"/>
                <a:cs typeface="Calibri"/>
                <a:sym typeface="Calibri"/>
              </a:rPr>
              <a:t>  Drills are dashed.</a:t>
            </a:r>
            <a:endParaRPr sz="1300"/>
          </a:p>
        </p:txBody>
      </p:sp>
      <p:sp>
        <p:nvSpPr>
          <p:cNvPr id="325" name="Google Shape;325;p28"/>
          <p:cNvSpPr/>
          <p:nvPr/>
        </p:nvSpPr>
        <p:spPr>
          <a:xfrm>
            <a:off x="6144775" y="1741925"/>
            <a:ext cx="2818500" cy="22380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26" name="Google Shape;326;p28"/>
          <p:cNvSpPr/>
          <p:nvPr/>
        </p:nvSpPr>
        <p:spPr>
          <a:xfrm>
            <a:off x="6144768" y="1741932"/>
            <a:ext cx="2818500" cy="219600"/>
          </a:xfrm>
          <a:prstGeom prst="rect">
            <a:avLst/>
          </a:prstGeom>
          <a:solidFill>
            <a:srgbClr val="009C4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27" name="Google Shape;327;p28"/>
          <p:cNvSpPr txBox="1"/>
          <p:nvPr/>
        </p:nvSpPr>
        <p:spPr>
          <a:xfrm>
            <a:off x="6205579" y="1770579"/>
            <a:ext cx="2654100" cy="1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GB" sz="900">
                <a:solidFill>
                  <a:srgbClr val="FFFFFF"/>
                </a:solidFill>
                <a:latin typeface="Calibri"/>
                <a:ea typeface="Calibri"/>
                <a:cs typeface="Calibri"/>
                <a:sym typeface="Calibri"/>
              </a:rPr>
              <a:t>STRATEGIES TO OVERCOME THEM</a:t>
            </a:r>
            <a:endParaRPr sz="1200"/>
          </a:p>
        </p:txBody>
      </p:sp>
      <p:sp>
        <p:nvSpPr>
          <p:cNvPr id="328" name="Google Shape;328;p28"/>
          <p:cNvSpPr txBox="1"/>
          <p:nvPr/>
        </p:nvSpPr>
        <p:spPr>
          <a:xfrm>
            <a:off x="6227064" y="1980557"/>
            <a:ext cx="26541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a:solidFill>
                  <a:schemeClr val="dk2"/>
                </a:solidFill>
                <a:latin typeface="Calibri"/>
                <a:ea typeface="Calibri"/>
                <a:cs typeface="Calibri"/>
                <a:sym typeface="Calibri"/>
              </a:rPr>
              <a:t>DATA</a:t>
            </a:r>
            <a:endParaRPr b="1">
              <a:solidFill>
                <a:schemeClr val="dk2"/>
              </a:solidFill>
            </a:endParaRPr>
          </a:p>
        </p:txBody>
      </p:sp>
      <p:sp>
        <p:nvSpPr>
          <p:cNvPr id="329" name="Google Shape;329;p28"/>
          <p:cNvSpPr txBox="1"/>
          <p:nvPr/>
        </p:nvSpPr>
        <p:spPr>
          <a:xfrm>
            <a:off x="6227064" y="2105676"/>
            <a:ext cx="2654100" cy="478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Parsers already written.</a:t>
            </a:r>
            <a:r>
              <a:rPr b="0" i="0" lang="en-GB" sz="900">
                <a:solidFill>
                  <a:srgbClr val="14202B"/>
                </a:solidFill>
                <a:latin typeface="Calibri"/>
                <a:ea typeface="Calibri"/>
                <a:cs typeface="Calibri"/>
                <a:sym typeface="Calibri"/>
              </a:rPr>
              <a:t>  A file, not new code.</a:t>
            </a:r>
            <a:endParaRPr sz="1300"/>
          </a:p>
          <a:p>
            <a:pPr indent="0" lvl="0" marL="0" marR="0" rtl="0" algn="l">
              <a:lnSpc>
                <a:spcPct val="92000"/>
              </a:lnSpc>
              <a:spcBef>
                <a:spcPts val="20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Never stretch one grid onto another.</a:t>
            </a:r>
            <a:r>
              <a:rPr b="0" i="0" lang="en-GB" sz="900">
                <a:solidFill>
                  <a:srgbClr val="14202B"/>
                </a:solidFill>
                <a:latin typeface="Calibri"/>
                <a:ea typeface="Calibri"/>
                <a:cs typeface="Calibri"/>
                <a:sym typeface="Calibri"/>
              </a:rPr>
              <a:t>  The served depth is printed.</a:t>
            </a:r>
            <a:endParaRPr sz="1300"/>
          </a:p>
        </p:txBody>
      </p:sp>
      <p:sp>
        <p:nvSpPr>
          <p:cNvPr id="330" name="Google Shape;330;p28"/>
          <p:cNvSpPr txBox="1"/>
          <p:nvPr/>
        </p:nvSpPr>
        <p:spPr>
          <a:xfrm>
            <a:off x="6227064" y="2619314"/>
            <a:ext cx="26541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a:solidFill>
                  <a:schemeClr val="dk2"/>
                </a:solidFill>
                <a:latin typeface="Calibri"/>
                <a:ea typeface="Calibri"/>
                <a:cs typeface="Calibri"/>
                <a:sym typeface="Calibri"/>
              </a:rPr>
              <a:t>TECHNICAL</a:t>
            </a:r>
            <a:endParaRPr b="1" sz="1300">
              <a:solidFill>
                <a:schemeClr val="dk2"/>
              </a:solidFill>
            </a:endParaRPr>
          </a:p>
        </p:txBody>
      </p:sp>
      <p:sp>
        <p:nvSpPr>
          <p:cNvPr id="331" name="Google Shape;331;p28"/>
          <p:cNvSpPr txBox="1"/>
          <p:nvPr/>
        </p:nvSpPr>
        <p:spPr>
          <a:xfrm>
            <a:off x="6227064" y="2756474"/>
            <a:ext cx="2654100" cy="478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Depth-space level of detail.</a:t>
            </a:r>
            <a:r>
              <a:rPr b="0" i="0" lang="en-GB" sz="900">
                <a:solidFill>
                  <a:srgbClr val="14202B"/>
                </a:solidFill>
                <a:latin typeface="Calibri"/>
                <a:ea typeface="Calibri"/>
                <a:cs typeface="Calibri"/>
                <a:sym typeface="Calibri"/>
              </a:rPr>
              <a:t>  At most 10 of 24 slices at once.</a:t>
            </a:r>
            <a:endParaRPr sz="1300"/>
          </a:p>
          <a:p>
            <a:pPr indent="0" lvl="0" marL="0" marR="0" rtl="0" algn="l">
              <a:lnSpc>
                <a:spcPct val="92000"/>
              </a:lnSpc>
              <a:spcBef>
                <a:spcPts val="20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Chunked Zarr over range requests.</a:t>
            </a:r>
            <a:r>
              <a:rPr b="0" i="0" lang="en-GB" sz="900">
                <a:solidFill>
                  <a:srgbClr val="14202B"/>
                </a:solidFill>
                <a:latin typeface="Calibri"/>
                <a:ea typeface="Calibri"/>
                <a:cs typeface="Calibri"/>
                <a:sym typeface="Calibri"/>
              </a:rPr>
              <a:t>  Cost is view-dependent.</a:t>
            </a:r>
            <a:endParaRPr sz="1300"/>
          </a:p>
        </p:txBody>
      </p:sp>
      <p:sp>
        <p:nvSpPr>
          <p:cNvPr id="332" name="Google Shape;332;p28"/>
          <p:cNvSpPr txBox="1"/>
          <p:nvPr/>
        </p:nvSpPr>
        <p:spPr>
          <a:xfrm>
            <a:off x="6227064" y="3263966"/>
            <a:ext cx="26541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a:solidFill>
                  <a:schemeClr val="dk2"/>
                </a:solidFill>
                <a:latin typeface="Calibri"/>
                <a:ea typeface="Calibri"/>
                <a:cs typeface="Calibri"/>
                <a:sym typeface="Calibri"/>
              </a:rPr>
              <a:t>ADOPTION AND TRUST</a:t>
            </a:r>
            <a:endParaRPr b="1" sz="1300">
              <a:solidFill>
                <a:schemeClr val="dk2"/>
              </a:solidFill>
            </a:endParaRPr>
          </a:p>
        </p:txBody>
      </p:sp>
      <p:sp>
        <p:nvSpPr>
          <p:cNvPr id="333" name="Google Shape;333;p28"/>
          <p:cNvSpPr txBox="1"/>
          <p:nvPr/>
        </p:nvSpPr>
        <p:spPr>
          <a:xfrm>
            <a:off x="6227064" y="3407271"/>
            <a:ext cx="2654100" cy="518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The caveat travels with the number.</a:t>
            </a:r>
            <a:r>
              <a:rPr b="0" i="0" lang="en-GB" sz="900">
                <a:solidFill>
                  <a:srgbClr val="14202B"/>
                </a:solidFill>
                <a:latin typeface="Calibri"/>
                <a:ea typeface="Calibri"/>
                <a:cs typeface="Calibri"/>
                <a:sym typeface="Calibri"/>
              </a:rPr>
              <a:t>  On screen and in the API.</a:t>
            </a:r>
            <a:endParaRPr sz="1300"/>
          </a:p>
          <a:p>
            <a:pPr indent="0" lvl="0" marL="0" marR="0" rtl="0" algn="l">
              <a:lnSpc>
                <a:spcPct val="100000"/>
              </a:lnSpc>
              <a:spcBef>
                <a:spcPts val="200"/>
              </a:spcBef>
              <a:spcAft>
                <a:spcPts val="0"/>
              </a:spcAft>
              <a:buNone/>
            </a:pPr>
            <a:r>
              <a:rPr b="1" i="0" lang="en-GB" sz="900">
                <a:solidFill>
                  <a:srgbClr val="12688F"/>
                </a:solidFill>
                <a:latin typeface="Calibri"/>
                <a:ea typeface="Calibri"/>
                <a:cs typeface="Calibri"/>
                <a:sym typeface="Calibri"/>
              </a:rPr>
              <a:t>▪  </a:t>
            </a:r>
            <a:r>
              <a:rPr b="1" i="0" lang="en-GB" sz="900">
                <a:solidFill>
                  <a:srgbClr val="0B2E4F"/>
                </a:solidFill>
                <a:latin typeface="Calibri"/>
                <a:ea typeface="Calibri"/>
                <a:cs typeface="Calibri"/>
                <a:sym typeface="Calibri"/>
              </a:rPr>
              <a:t>Four independent drill guards.</a:t>
            </a:r>
            <a:r>
              <a:rPr b="0" i="0" lang="en-GB" sz="900">
                <a:solidFill>
                  <a:srgbClr val="14202B"/>
                </a:solidFill>
                <a:latin typeface="Calibri"/>
                <a:ea typeface="Calibri"/>
                <a:cs typeface="Calibri"/>
                <a:sym typeface="Calibri"/>
              </a:rPr>
              <a:t>  Exercise is refused.</a:t>
            </a:r>
            <a:endParaRPr sz="1300"/>
          </a:p>
        </p:txBody>
      </p:sp>
      <p:sp>
        <p:nvSpPr>
          <p:cNvPr id="334" name="Google Shape;334;p28"/>
          <p:cNvSpPr/>
          <p:nvPr/>
        </p:nvSpPr>
        <p:spPr>
          <a:xfrm>
            <a:off x="178300" y="4053475"/>
            <a:ext cx="8785200" cy="745800"/>
          </a:xfrm>
          <a:prstGeom prst="rect">
            <a:avLst/>
          </a:prstGeom>
          <a:solidFill>
            <a:srgbClr val="D3E3E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35" name="Google Shape;335;p28"/>
          <p:cNvSpPr txBox="1"/>
          <p:nvPr/>
        </p:nvSpPr>
        <p:spPr>
          <a:xfrm>
            <a:off x="253739" y="4107813"/>
            <a:ext cx="3017400" cy="1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a:solidFill>
                  <a:schemeClr val="dk1"/>
                </a:solidFill>
                <a:latin typeface="Calibri"/>
                <a:ea typeface="Calibri"/>
                <a:cs typeface="Calibri"/>
                <a:sym typeface="Calibri"/>
              </a:rPr>
              <a:t>VIABILITY  ·  WHY THIS SURVIVES AFTER THE HACKATHON</a:t>
            </a:r>
            <a:endParaRPr sz="1300">
              <a:solidFill>
                <a:schemeClr val="dk1"/>
              </a:solidFill>
            </a:endParaRPr>
          </a:p>
        </p:txBody>
      </p:sp>
      <p:sp>
        <p:nvSpPr>
          <p:cNvPr id="336" name="Google Shape;336;p28"/>
          <p:cNvSpPr txBox="1"/>
          <p:nvPr/>
        </p:nvSpPr>
        <p:spPr>
          <a:xfrm>
            <a:off x="205117" y="4303258"/>
            <a:ext cx="2324100" cy="4080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1" i="0" lang="en-GB" sz="900">
                <a:solidFill>
                  <a:schemeClr val="dk1"/>
                </a:solidFill>
                <a:latin typeface="Calibri"/>
                <a:ea typeface="Calibri"/>
                <a:cs typeface="Calibri"/>
                <a:sym typeface="Calibri"/>
              </a:rPr>
              <a:t>Native deployment path</a:t>
            </a:r>
            <a:endParaRPr>
              <a:solidFill>
                <a:schemeClr val="dk1"/>
              </a:solidFill>
            </a:endParaRPr>
          </a:p>
          <a:p>
            <a:pPr indent="0" lvl="0" marL="0" marR="0" rtl="0" algn="l">
              <a:lnSpc>
                <a:spcPct val="92000"/>
              </a:lnSpc>
              <a:spcBef>
                <a:spcPts val="200"/>
              </a:spcBef>
              <a:spcAft>
                <a:spcPts val="0"/>
              </a:spcAft>
              <a:buNone/>
            </a:pPr>
            <a:r>
              <a:rPr b="0" i="0" lang="en-GB" sz="900">
                <a:solidFill>
                  <a:schemeClr val="dk1"/>
                </a:solidFill>
                <a:latin typeface="Calibri"/>
                <a:ea typeface="Calibri"/>
                <a:cs typeface="Calibri"/>
                <a:sym typeface="Calibri"/>
              </a:rPr>
              <a:t>INCOIS's own request. No data migrates.</a:t>
            </a:r>
            <a:endParaRPr>
              <a:solidFill>
                <a:schemeClr val="dk1"/>
              </a:solidFill>
            </a:endParaRPr>
          </a:p>
        </p:txBody>
      </p:sp>
      <p:sp>
        <p:nvSpPr>
          <p:cNvPr id="337" name="Google Shape;337;p28"/>
          <p:cNvSpPr txBox="1"/>
          <p:nvPr/>
        </p:nvSpPr>
        <p:spPr>
          <a:xfrm>
            <a:off x="2477376" y="4288338"/>
            <a:ext cx="2066100" cy="478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1" i="0" lang="en-GB" sz="900">
                <a:solidFill>
                  <a:schemeClr val="dk1"/>
                </a:solidFill>
                <a:latin typeface="Calibri"/>
                <a:ea typeface="Calibri"/>
                <a:cs typeface="Calibri"/>
                <a:sym typeface="Calibri"/>
              </a:rPr>
              <a:t>Standards, not a silo</a:t>
            </a:r>
            <a:endParaRPr sz="1300">
              <a:solidFill>
                <a:schemeClr val="dk1"/>
              </a:solidFill>
            </a:endParaRPr>
          </a:p>
          <a:p>
            <a:pPr indent="0" lvl="0" marL="0" marR="0" rtl="0" algn="l">
              <a:lnSpc>
                <a:spcPct val="92000"/>
              </a:lnSpc>
              <a:spcBef>
                <a:spcPts val="200"/>
              </a:spcBef>
              <a:spcAft>
                <a:spcPts val="0"/>
              </a:spcAft>
              <a:buNone/>
            </a:pPr>
            <a:r>
              <a:rPr b="0" i="0" lang="en-GB" sz="900">
                <a:solidFill>
                  <a:schemeClr val="dk1"/>
                </a:solidFill>
                <a:latin typeface="Calibri"/>
                <a:ea typeface="Calibri"/>
                <a:cs typeface="Calibri"/>
                <a:sym typeface="Calibri"/>
              </a:rPr>
              <a:t>WMS 1.3.0 and WCS 1.0.0: their tools read it.</a:t>
            </a:r>
            <a:endParaRPr sz="1300">
              <a:solidFill>
                <a:schemeClr val="dk1"/>
              </a:solidFill>
            </a:endParaRPr>
          </a:p>
        </p:txBody>
      </p:sp>
      <p:sp>
        <p:nvSpPr>
          <p:cNvPr id="338" name="Google Shape;338;p28"/>
          <p:cNvSpPr txBox="1"/>
          <p:nvPr/>
        </p:nvSpPr>
        <p:spPr>
          <a:xfrm>
            <a:off x="4635747" y="4255985"/>
            <a:ext cx="2066100" cy="478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1" i="0" lang="en-GB" sz="900">
                <a:solidFill>
                  <a:schemeClr val="dk1"/>
                </a:solidFill>
                <a:latin typeface="Calibri"/>
                <a:ea typeface="Calibri"/>
                <a:cs typeface="Calibri"/>
                <a:sym typeface="Calibri"/>
              </a:rPr>
              <a:t>Maintainable by the owner</a:t>
            </a:r>
            <a:endParaRPr sz="1300">
              <a:solidFill>
                <a:schemeClr val="dk1"/>
              </a:solidFill>
            </a:endParaRPr>
          </a:p>
          <a:p>
            <a:pPr indent="0" lvl="0" marL="0" marR="0" rtl="0" algn="l">
              <a:lnSpc>
                <a:spcPct val="92000"/>
              </a:lnSpc>
              <a:spcBef>
                <a:spcPts val="200"/>
              </a:spcBef>
              <a:spcAft>
                <a:spcPts val="0"/>
              </a:spcAft>
              <a:buNone/>
            </a:pPr>
            <a:r>
              <a:rPr b="0" i="0" lang="en-GB" sz="900">
                <a:solidFill>
                  <a:schemeClr val="dk1"/>
                </a:solidFill>
                <a:latin typeface="Calibri"/>
                <a:ea typeface="Calibri"/>
                <a:cs typeface="Calibri"/>
                <a:sym typeface="Calibri"/>
              </a:rPr>
              <a:t>Standard Python and JavaScript.</a:t>
            </a:r>
            <a:endParaRPr sz="1300">
              <a:solidFill>
                <a:schemeClr val="dk1"/>
              </a:solidFill>
            </a:endParaRPr>
          </a:p>
        </p:txBody>
      </p:sp>
      <p:sp>
        <p:nvSpPr>
          <p:cNvPr id="339" name="Google Shape;339;p28"/>
          <p:cNvSpPr txBox="1"/>
          <p:nvPr/>
        </p:nvSpPr>
        <p:spPr>
          <a:xfrm>
            <a:off x="6752391" y="4243517"/>
            <a:ext cx="2220900" cy="4080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1" i="0" lang="en-GB" sz="900">
                <a:solidFill>
                  <a:schemeClr val="dk1"/>
                </a:solidFill>
                <a:latin typeface="Calibri"/>
                <a:ea typeface="Calibri"/>
                <a:cs typeface="Calibri"/>
                <a:sym typeface="Calibri"/>
              </a:rPr>
              <a:t>Costs nothing to keep</a:t>
            </a:r>
            <a:endParaRPr>
              <a:solidFill>
                <a:schemeClr val="dk1"/>
              </a:solidFill>
            </a:endParaRPr>
          </a:p>
          <a:p>
            <a:pPr indent="0" lvl="0" marL="0" marR="0" rtl="0" algn="l">
              <a:lnSpc>
                <a:spcPct val="92000"/>
              </a:lnSpc>
              <a:spcBef>
                <a:spcPts val="200"/>
              </a:spcBef>
              <a:spcAft>
                <a:spcPts val="0"/>
              </a:spcAft>
              <a:buNone/>
            </a:pPr>
            <a:r>
              <a:rPr b="0" i="0" lang="en-GB" sz="900">
                <a:solidFill>
                  <a:schemeClr val="dk1"/>
                </a:solidFill>
                <a:latin typeface="Calibri"/>
                <a:ea typeface="Calibri"/>
                <a:cs typeface="Calibri"/>
                <a:sym typeface="Calibri"/>
              </a:rPr>
              <a:t>Zero licences, one GPU server.</a:t>
            </a:r>
            <a:endParaRPr>
              <a:solidFill>
                <a:schemeClr val="dk1"/>
              </a:solidFill>
            </a:endParaRPr>
          </a:p>
        </p:txBody>
      </p:sp>
      <p:sp>
        <p:nvSpPr>
          <p:cNvPr descr="Your startup LOGO" id="340" name="Google Shape;340;p28"/>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rtl="0" algn="l">
              <a:lnSpc>
                <a:spcPct val="95000"/>
              </a:lnSpc>
              <a:spcBef>
                <a:spcPts val="400"/>
              </a:spcBef>
              <a:spcAft>
                <a:spcPts val="0"/>
              </a:spcAft>
              <a:buClr>
                <a:schemeClr val="dk1"/>
              </a:buClr>
              <a:buFont typeface="Arial"/>
              <a:buNone/>
            </a:pPr>
            <a:r>
              <a:rPr b="1" lang="en-GB" sz="1200">
                <a:solidFill>
                  <a:srgbClr val="FF0000"/>
                </a:solidFill>
                <a:latin typeface="Calibri"/>
                <a:ea typeface="Calibri"/>
                <a:cs typeface="Calibri"/>
                <a:sym typeface="Calibri"/>
              </a:rPr>
              <a:t>Pixel</a:t>
            </a:r>
            <a:r>
              <a:rPr b="1" lang="en-GB" sz="1200">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sp>
        <p:nvSpPr>
          <p:cNvPr id="341" name="Isosceles Triangle 340"/>
          <p:cNvSpPr/>
          <p:nvPr/>
        </p:nvSpPr>
        <p:spPr>
          <a:xfrm rot="5400000">
            <a:off x="6003036" y="2020824"/>
            <a:ext cx="109728" cy="128016"/>
          </a:xfrm>
          <a:prstGeom prst="triangle">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Isosceles Triangle 341"/>
          <p:cNvSpPr/>
          <p:nvPr/>
        </p:nvSpPr>
        <p:spPr>
          <a:xfrm rot="5400000">
            <a:off x="6003036" y="2670048"/>
            <a:ext cx="109728" cy="128016"/>
          </a:xfrm>
          <a:prstGeom prst="triangle">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Isosceles Triangle 342"/>
          <p:cNvSpPr/>
          <p:nvPr/>
        </p:nvSpPr>
        <p:spPr>
          <a:xfrm rot="5400000">
            <a:off x="6003036" y="3328416"/>
            <a:ext cx="109728" cy="128016"/>
          </a:xfrm>
          <a:prstGeom prst="triangle">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ounded Rectangle 343"/>
          <p:cNvSpPr/>
          <p:nvPr/>
        </p:nvSpPr>
        <p:spPr>
          <a:xfrm>
            <a:off x="7973568" y="868680"/>
            <a:ext cx="932688" cy="192024"/>
          </a:xfrm>
          <a:prstGeom prst="roundRect">
            <a:avLst>
              <a:gd name="adj" fmla="val 25000"/>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ctr">
              <a:lnSpc>
                <a:spcPct val="92000"/>
              </a:lnSpc>
            </a:pPr>
            <a:r>
              <a:rPr sz="900" b="1" i="0">
                <a:solidFill>
                  <a:srgbClr val="FFFFFF"/>
                </a:solidFill>
                <a:hlinkClick r:id="rId4"/>
              </a:rPr>
              <a:t>60-SEC DEMO</a:t>
            </a:r>
          </a:p>
        </p:txBody>
      </p:sp>
      <p:sp>
        <p:nvSpPr>
          <p:cNvPr id="345" name="Rectangle 344"/>
          <p:cNvSpPr/>
          <p:nvPr/>
        </p:nvSpPr>
        <p:spPr>
          <a:xfrm>
            <a:off x="256031" y="2542032"/>
            <a:ext cx="941262" cy="13716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6" name="Picture 345" descr="mobile.png"/>
          <p:cNvPicPr>
            <a:picLocks noChangeAspect="1"/>
          </p:cNvPicPr>
          <p:nvPr/>
        </p:nvPicPr>
        <p:blipFill>
          <a:blip r:embed="rId8"/>
          <a:stretch>
            <a:fillRect/>
          </a:stretch>
        </p:blipFill>
        <p:spPr>
          <a:xfrm>
            <a:off x="274320" y="2560320"/>
            <a:ext cx="904686" cy="1335024"/>
          </a:xfrm>
          <a:prstGeom prst="rect">
            <a:avLst/>
          </a:prstGeom>
        </p:spPr>
      </p:pic>
      <p:sp>
        <p:nvSpPr>
          <p:cNvPr id="347" name="TextBox 346"/>
          <p:cNvSpPr txBox="1"/>
          <p:nvPr/>
        </p:nvSpPr>
        <p:spPr>
          <a:xfrm>
            <a:off x="1297878" y="2551176"/>
            <a:ext cx="1920240" cy="219456"/>
          </a:xfrm>
          <a:prstGeom prst="rect">
            <a:avLst/>
          </a:prstGeom>
          <a:noFill/>
        </p:spPr>
        <p:txBody>
          <a:bodyPr wrap="square" lIns="27432" rIns="27432" tIns="18288" bIns="18288" anchor="t">
            <a:spAutoFit/>
          </a:bodyPr>
          <a:lstStyle/>
          <a:p>
            <a:pPr algn="l">
              <a:lnSpc>
                <a:spcPct val="94000"/>
              </a:lnSpc>
            </a:pPr>
            <a:r>
              <a:rPr sz="800" b="1" i="0">
                <a:solidFill>
                  <a:srgbClr val="1F4E79"/>
                </a:solidFill>
              </a:rPr>
              <a:t>THE SAME BUILD, ON A PHONE</a:t>
            </a:r>
          </a:p>
        </p:txBody>
      </p:sp>
      <p:sp>
        <p:nvSpPr>
          <p:cNvPr id="348" name="Oval 347"/>
          <p:cNvSpPr/>
          <p:nvPr/>
        </p:nvSpPr>
        <p:spPr>
          <a:xfrm>
            <a:off x="1297878" y="2747772"/>
            <a:ext cx="100584" cy="100584"/>
          </a:xfrm>
          <a:prstGeom prst="ellipse">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i="0">
                <a:solidFill>
                  <a:srgbClr val="FFFFFF"/>
                </a:solidFill>
              </a:rPr>
              <a:t>1</a:t>
            </a:r>
          </a:p>
        </p:txBody>
      </p:sp>
      <p:sp>
        <p:nvSpPr>
          <p:cNvPr id="349" name="TextBox 348"/>
          <p:cNvSpPr txBox="1"/>
          <p:nvPr/>
        </p:nvSpPr>
        <p:spPr>
          <a:xfrm>
            <a:off x="1435038" y="2734056"/>
            <a:ext cx="1783080" cy="219456"/>
          </a:xfrm>
          <a:prstGeom prst="rect">
            <a:avLst/>
          </a:prstGeom>
          <a:noFill/>
        </p:spPr>
        <p:txBody>
          <a:bodyPr wrap="square" lIns="27432" rIns="27432" tIns="18288" bIns="18288" anchor="t">
            <a:spAutoFit/>
          </a:bodyPr>
          <a:lstStyle/>
          <a:p>
            <a:pPr algn="l">
              <a:lnSpc>
                <a:spcPct val="94000"/>
              </a:lnSpc>
            </a:pPr>
            <a:r>
              <a:rPr sz="800" b="0" i="0">
                <a:solidFill>
                  <a:srgbClr val="5A6B78"/>
                </a:solidFill>
              </a:rPr>
              <a:t>variable selector</a:t>
            </a:r>
          </a:p>
        </p:txBody>
      </p:sp>
      <p:sp>
        <p:nvSpPr>
          <p:cNvPr id="350" name="Oval 349"/>
          <p:cNvSpPr/>
          <p:nvPr/>
        </p:nvSpPr>
        <p:spPr>
          <a:xfrm>
            <a:off x="1297878" y="2907791"/>
            <a:ext cx="100584" cy="100584"/>
          </a:xfrm>
          <a:prstGeom prst="ellipse">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i="0">
                <a:solidFill>
                  <a:srgbClr val="FFFFFF"/>
                </a:solidFill>
              </a:rPr>
              <a:t>2</a:t>
            </a:r>
          </a:p>
        </p:txBody>
      </p:sp>
      <p:sp>
        <p:nvSpPr>
          <p:cNvPr id="351" name="TextBox 350"/>
          <p:cNvSpPr txBox="1"/>
          <p:nvPr/>
        </p:nvSpPr>
        <p:spPr>
          <a:xfrm>
            <a:off x="1435038" y="2894075"/>
            <a:ext cx="1783080" cy="219456"/>
          </a:xfrm>
          <a:prstGeom prst="rect">
            <a:avLst/>
          </a:prstGeom>
          <a:noFill/>
        </p:spPr>
        <p:txBody>
          <a:bodyPr wrap="square" lIns="27432" rIns="27432" tIns="18288" bIns="18288" anchor="t">
            <a:spAutoFit/>
          </a:bodyPr>
          <a:lstStyle/>
          <a:p>
            <a:pPr algn="l">
              <a:lnSpc>
                <a:spcPct val="94000"/>
              </a:lnSpc>
            </a:pPr>
            <a:r>
              <a:rPr sz="800" b="0" i="0">
                <a:solidFill>
                  <a:srgbClr val="5A6B78"/>
                </a:solidFill>
              </a:rPr>
              <a:t>colorbar, min / max, log</a:t>
            </a:r>
          </a:p>
        </p:txBody>
      </p:sp>
      <p:sp>
        <p:nvSpPr>
          <p:cNvPr id="352" name="Oval 351"/>
          <p:cNvSpPr/>
          <p:nvPr/>
        </p:nvSpPr>
        <p:spPr>
          <a:xfrm>
            <a:off x="1297878" y="3067812"/>
            <a:ext cx="100584" cy="100584"/>
          </a:xfrm>
          <a:prstGeom prst="ellipse">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i="0">
                <a:solidFill>
                  <a:srgbClr val="FFFFFF"/>
                </a:solidFill>
              </a:rPr>
              <a:t>3</a:t>
            </a:r>
          </a:p>
        </p:txBody>
      </p:sp>
      <p:sp>
        <p:nvSpPr>
          <p:cNvPr id="353" name="TextBox 352"/>
          <p:cNvSpPr txBox="1"/>
          <p:nvPr/>
        </p:nvSpPr>
        <p:spPr>
          <a:xfrm>
            <a:off x="1435038" y="3054096"/>
            <a:ext cx="1783080" cy="219456"/>
          </a:xfrm>
          <a:prstGeom prst="rect">
            <a:avLst/>
          </a:prstGeom>
          <a:noFill/>
        </p:spPr>
        <p:txBody>
          <a:bodyPr wrap="square" lIns="27432" rIns="27432" tIns="18288" bIns="18288" anchor="t">
            <a:spAutoFit/>
          </a:bodyPr>
          <a:lstStyle/>
          <a:p>
            <a:pPr algn="l">
              <a:lnSpc>
                <a:spcPct val="94000"/>
              </a:lnSpc>
            </a:pPr>
            <a:r>
              <a:rPr sz="800" b="0" i="0">
                <a:solidFill>
                  <a:srgbClr val="5A6B78"/>
                </a:solidFill>
              </a:rPr>
              <a:t>24 levels, 5 m to 2000 m</a:t>
            </a:r>
          </a:p>
        </p:txBody>
      </p:sp>
      <p:sp>
        <p:nvSpPr>
          <p:cNvPr id="354" name="Oval 353"/>
          <p:cNvSpPr/>
          <p:nvPr/>
        </p:nvSpPr>
        <p:spPr>
          <a:xfrm>
            <a:off x="1297878" y="3227832"/>
            <a:ext cx="100584" cy="100584"/>
          </a:xfrm>
          <a:prstGeom prst="ellipse">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i="0">
                <a:solidFill>
                  <a:srgbClr val="FFFFFF"/>
                </a:solidFill>
              </a:rPr>
              <a:t>4</a:t>
            </a:r>
          </a:p>
        </p:txBody>
      </p:sp>
      <p:sp>
        <p:nvSpPr>
          <p:cNvPr id="355" name="TextBox 354"/>
          <p:cNvSpPr txBox="1"/>
          <p:nvPr/>
        </p:nvSpPr>
        <p:spPr>
          <a:xfrm>
            <a:off x="1435038" y="3214115"/>
            <a:ext cx="1783080" cy="219456"/>
          </a:xfrm>
          <a:prstGeom prst="rect">
            <a:avLst/>
          </a:prstGeom>
          <a:noFill/>
        </p:spPr>
        <p:txBody>
          <a:bodyPr wrap="square" lIns="27432" rIns="27432" tIns="18288" bIns="18288" anchor="t">
            <a:spAutoFit/>
          </a:bodyPr>
          <a:lstStyle/>
          <a:p>
            <a:pPr algn="l">
              <a:lnSpc>
                <a:spcPct val="94000"/>
              </a:lnSpc>
            </a:pPr>
            <a:r>
              <a:rPr sz="800" b="0" i="0">
                <a:solidFill>
                  <a:srgbClr val="5A6B78"/>
                </a:solidFill>
              </a:rPr>
              <a:t>vertical exaggeration</a:t>
            </a:r>
          </a:p>
        </p:txBody>
      </p:sp>
      <p:sp>
        <p:nvSpPr>
          <p:cNvPr id="356" name="Oval 355"/>
          <p:cNvSpPr/>
          <p:nvPr/>
        </p:nvSpPr>
        <p:spPr>
          <a:xfrm>
            <a:off x="1297878" y="3387851"/>
            <a:ext cx="100584" cy="100584"/>
          </a:xfrm>
          <a:prstGeom prst="ellipse">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i="0">
                <a:solidFill>
                  <a:srgbClr val="FFFFFF"/>
                </a:solidFill>
              </a:rPr>
              <a:t>5</a:t>
            </a:r>
          </a:p>
        </p:txBody>
      </p:sp>
      <p:sp>
        <p:nvSpPr>
          <p:cNvPr id="357" name="TextBox 356"/>
          <p:cNvSpPr txBox="1"/>
          <p:nvPr/>
        </p:nvSpPr>
        <p:spPr>
          <a:xfrm>
            <a:off x="1435038" y="3374135"/>
            <a:ext cx="1783080" cy="219456"/>
          </a:xfrm>
          <a:prstGeom prst="rect">
            <a:avLst/>
          </a:prstGeom>
          <a:noFill/>
        </p:spPr>
        <p:txBody>
          <a:bodyPr wrap="square" lIns="27432" rIns="27432" tIns="18288" bIns="18288" anchor="t">
            <a:spAutoFit/>
          </a:bodyPr>
          <a:lstStyle/>
          <a:p>
            <a:pPr algn="l">
              <a:lnSpc>
                <a:spcPct val="94000"/>
              </a:lnSpc>
            </a:pPr>
            <a:r>
              <a:rPr sz="800" b="0" i="0">
                <a:solidFill>
                  <a:srgbClr val="5A6B78"/>
                </a:solidFill>
              </a:rPr>
              <a:t>layer opacity</a:t>
            </a:r>
          </a:p>
        </p:txBody>
      </p:sp>
      <p:sp>
        <p:nvSpPr>
          <p:cNvPr id="358" name="Oval 357"/>
          <p:cNvSpPr/>
          <p:nvPr/>
        </p:nvSpPr>
        <p:spPr>
          <a:xfrm>
            <a:off x="1297878" y="3547872"/>
            <a:ext cx="100584" cy="100584"/>
          </a:xfrm>
          <a:prstGeom prst="ellipse">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600" b="1" i="0">
                <a:solidFill>
                  <a:srgbClr val="FFFFFF"/>
                </a:solidFill>
              </a:rPr>
              <a:t>6</a:t>
            </a:r>
          </a:p>
        </p:txBody>
      </p:sp>
      <p:sp>
        <p:nvSpPr>
          <p:cNvPr id="359" name="TextBox 358"/>
          <p:cNvSpPr txBox="1"/>
          <p:nvPr/>
        </p:nvSpPr>
        <p:spPr>
          <a:xfrm>
            <a:off x="1435038" y="3534156"/>
            <a:ext cx="1783080" cy="219456"/>
          </a:xfrm>
          <a:prstGeom prst="rect">
            <a:avLst/>
          </a:prstGeom>
          <a:noFill/>
        </p:spPr>
        <p:txBody>
          <a:bodyPr wrap="square" lIns="27432" rIns="27432" tIns="18288" bIns="18288" anchor="t">
            <a:spAutoFit/>
          </a:bodyPr>
          <a:lstStyle/>
          <a:p>
            <a:pPr algn="l">
              <a:lnSpc>
                <a:spcPct val="94000"/>
              </a:lnSpc>
            </a:pPr>
            <a:r>
              <a:rPr sz="800" b="0" i="0">
                <a:solidFill>
                  <a:srgbClr val="5A6B78"/>
                </a:solidFill>
              </a:rPr>
              <a:t>time-step animation</a:t>
            </a:r>
          </a:p>
        </p:txBody>
      </p:sp>
      <p:sp>
        <p:nvSpPr>
          <p:cNvPr id="360" name="TextBox 359"/>
          <p:cNvSpPr txBox="1"/>
          <p:nvPr/>
        </p:nvSpPr>
        <p:spPr>
          <a:xfrm>
            <a:off x="274320" y="3941063"/>
            <a:ext cx="2697480" cy="219456"/>
          </a:xfrm>
          <a:prstGeom prst="rect">
            <a:avLst/>
          </a:prstGeom>
          <a:noFill/>
        </p:spPr>
        <p:txBody>
          <a:bodyPr wrap="square" lIns="27432" rIns="27432" tIns="18288" bIns="18288" anchor="t">
            <a:spAutoFit/>
          </a:bodyPr>
          <a:lstStyle/>
          <a:p>
            <a:pPr algn="l">
              <a:lnSpc>
                <a:spcPct val="94000"/>
              </a:lnSpc>
            </a:pPr>
            <a:r>
              <a:rPr sz="800" b="0" i="1">
                <a:solidFill>
                  <a:srgbClr val="11777A"/>
                </a:solidFill>
              </a:rPr>
              <a:t>Every control PS requirement F4 names. No install.</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401" name="TextBox 400"/>
          <p:cNvSpPr txBox="1"/>
          <p:nvPr/>
        </p:nvSpPr>
        <p:spPr>
          <a:xfrm>
            <a:off x="45720" y="5074920"/>
            <a:ext cx="9052560" cy="45720"/>
          </a:xfrm>
          <a:prstGeom prst="rect">
            <a:avLst/>
          </a:prstGeom>
          <a:noFill/>
        </p:spPr>
        <p:txBody>
          <a:bodyPr wrap="none" lIns="27432" rIns="27432" tIns="18288" bIns="18288" anchor="t">
            <a:spAutoFit/>
          </a:bodyPr>
          <a:lstStyle/>
          <a:p>
            <a:pPr>
              <a:lnSpc>
                <a:spcPct val="50000"/>
              </a:lnSpc>
            </a:pPr>
            <a:r>
              <a:rPr sz="100">
                <a:solidFill>
                  <a:srgbClr val="FFFFFF"/>
                </a:solidFill>
              </a:rPr>
              <a:t>operational oceanographers forecasters hazard assessment search-and-rescue fishery advisories climate monitoring tsunami storm surge high wave early warning CAP Common Alerting Protocol NDMA SACHET public outreach science communication e-learning exhibitions students policymakers</a:t>
            </a:r>
          </a:p>
        </p:txBody>
      </p:sp>
      <p:sp>
        <p:nvSpPr>
          <p:cNvPr id="346" name="Google Shape;346;p29"/>
          <p:cNvSpPr/>
          <p:nvPr/>
        </p:nvSpPr>
        <p:spPr>
          <a:xfrm>
            <a:off x="0" y="4820375"/>
            <a:ext cx="9144000" cy="323100"/>
          </a:xfrm>
          <a:prstGeom prst="rect">
            <a:avLst/>
          </a:prstGeom>
          <a:solidFill>
            <a:srgbClr val="0070C0"/>
          </a:solidFill>
          <a:ln>
            <a:noFill/>
          </a:ln>
          <a:effectLst>
            <a:outerShdw rotWithShape="0" dir="5400000" dist="23000">
              <a:srgbClr val="808080">
                <a:alpha val="349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a:t/>
            </a:r>
            <a:endParaRPr b="0" i="0" sz="1400" u="none" cap="none" strike="noStrike">
              <a:solidFill>
                <a:srgbClr val="953734"/>
              </a:solidFill>
              <a:latin typeface="Calibri"/>
              <a:ea typeface="Calibri"/>
              <a:cs typeface="Calibri"/>
              <a:sym typeface="Calibri"/>
            </a:endParaRPr>
          </a:p>
        </p:txBody>
      </p:sp>
      <p:sp>
        <p:nvSpPr>
          <p:cNvPr id="347" name="Google Shape;347;p29"/>
          <p:cNvSpPr txBox="1"/>
          <p:nvPr>
            <p:ph type="title"/>
          </p:nvPr>
        </p:nvSpPr>
        <p:spPr>
          <a:xfrm>
            <a:off x="1221159" y="77434"/>
            <a:ext cx="7338000" cy="6309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b="1" lang="en-GB" sz="2000">
                <a:solidFill>
                  <a:srgbClr val="0B2E4F"/>
                </a:solidFill>
                <a:latin typeface="Times New Roman"/>
                <a:ea typeface="Times New Roman"/>
                <a:cs typeface="Times New Roman"/>
                <a:sym typeface="Times New Roman"/>
              </a:rPr>
              <a:t>                             </a:t>
            </a:r>
            <a:r>
              <a:rPr b="1" i="0" lang="en-GB" sz="2000">
                <a:solidFill>
                  <a:srgbClr val="0B2E4F"/>
                </a:solidFill>
                <a:latin typeface="Times New Roman"/>
                <a:ea typeface="Times New Roman"/>
                <a:cs typeface="Times New Roman"/>
                <a:sym typeface="Times New Roman"/>
              </a:rPr>
              <a:t>IMPACT AND BENEFITS</a:t>
            </a:r>
            <a:endParaRPr sz="1100"/>
          </a:p>
        </p:txBody>
      </p:sp>
      <p:sp>
        <p:nvSpPr>
          <p:cNvPr id="348" name="Google Shape;348;p29"/>
          <p:cNvSpPr txBox="1"/>
          <p:nvPr>
            <p:ph idx="12" type="sldNum"/>
          </p:nvPr>
        </p:nvSpPr>
        <p:spPr>
          <a:xfrm>
            <a:off x="6553200" y="4837449"/>
            <a:ext cx="21336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GB"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sp>
        <p:nvSpPr>
          <p:cNvPr id="349" name="Google Shape;349;p29"/>
          <p:cNvSpPr txBox="1"/>
          <p:nvPr>
            <p:ph idx="11" type="ftr"/>
          </p:nvPr>
        </p:nvSpPr>
        <p:spPr>
          <a:xfrm>
            <a:off x="3343225" y="4827925"/>
            <a:ext cx="2715900" cy="273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GB" sz="800">
                <a:solidFill>
                  <a:srgbClr val="FFFFFF"/>
                </a:solidFill>
                <a:latin typeface="Calibri"/>
                <a:ea typeface="Calibri"/>
                <a:cs typeface="Calibri"/>
                <a:sym typeface="Calibri"/>
              </a:rPr>
              <a:t>SagarDrishti  ·  PS SIH26067  ·  @SIH Idea Submission</a:t>
            </a:r>
            <a:endParaRPr b="0" i="0" u="none" cap="none" strike="noStrike">
              <a:solidFill>
                <a:srgbClr val="FFFFFF"/>
              </a:solidFill>
              <a:latin typeface="Oswald"/>
              <a:ea typeface="Oswald"/>
              <a:cs typeface="Oswald"/>
              <a:sym typeface="Oswald"/>
            </a:endParaRPr>
          </a:p>
        </p:txBody>
      </p:sp>
      <p:pic>
        <p:nvPicPr>
          <p:cNvPr id="350" name="Google Shape;350;p29"/>
          <p:cNvPicPr preferRelativeResize="0"/>
          <p:nvPr/>
        </p:nvPicPr>
        <p:blipFill rotWithShape="1">
          <a:blip r:embed="rId3">
            <a:alphaModFix/>
          </a:blip>
          <a:srcRect b="0" l="0" r="0" t="0"/>
          <a:stretch/>
        </p:blipFill>
        <p:spPr>
          <a:xfrm>
            <a:off x="7335064" y="1125"/>
            <a:ext cx="1687388" cy="796752"/>
          </a:xfrm>
          <a:prstGeom prst="rect">
            <a:avLst/>
          </a:prstGeom>
          <a:noFill/>
          <a:ln>
            <a:noFill/>
          </a:ln>
        </p:spPr>
      </p:pic>
      <p:sp>
        <p:nvSpPr>
          <p:cNvPr id="351" name="Google Shape;351;p29"/>
          <p:cNvSpPr/>
          <p:nvPr/>
        </p:nvSpPr>
        <p:spPr>
          <a:xfrm>
            <a:off x="2305949" y="677871"/>
            <a:ext cx="4413900" cy="2805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spcBef>
                <a:spcPts val="0"/>
              </a:spcBef>
              <a:spcAft>
                <a:spcPts val="0"/>
              </a:spcAft>
              <a:buNone/>
            </a:pPr>
            <a:r>
              <a:rPr b="1" lang="en-GB" sz="900">
                <a:solidFill>
                  <a:srgbClr val="FFFFFF"/>
                </a:solidFill>
                <a:latin typeface="Calibri"/>
                <a:ea typeface="Calibri"/>
                <a:cs typeface="Calibri"/>
                <a:sym typeface="Calibri"/>
              </a:rPr>
              <a:t>                                        </a:t>
            </a:r>
            <a:r>
              <a:rPr b="1" i="0" lang="en-GB" sz="900">
                <a:solidFill>
                  <a:srgbClr val="FFFFFF"/>
                </a:solidFill>
                <a:latin typeface="Calibri"/>
                <a:ea typeface="Calibri"/>
                <a:cs typeface="Calibri"/>
                <a:sym typeface="Calibri"/>
              </a:rPr>
              <a:t>POTENTIAL IMPACT ON THE TARGET AUDIENCE</a:t>
            </a:r>
            <a:endParaRPr sz="1200"/>
          </a:p>
        </p:txBody>
      </p:sp>
      <p:sp>
        <p:nvSpPr>
          <p:cNvPr id="352" name="Google Shape;352;p29"/>
          <p:cNvSpPr/>
          <p:nvPr/>
        </p:nvSpPr>
        <p:spPr>
          <a:xfrm>
            <a:off x="178308"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53" name="Google Shape;353;p29"/>
          <p:cNvSpPr/>
          <p:nvPr/>
        </p:nvSpPr>
        <p:spPr>
          <a:xfrm>
            <a:off x="178308" y="1083564"/>
            <a:ext cx="1680300" cy="41100"/>
          </a:xfrm>
          <a:prstGeom prst="rect">
            <a:avLst/>
          </a:prstGeom>
          <a:solidFill>
            <a:srgbClr val="C4452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54" name="Google Shape;354;p29"/>
          <p:cNvSpPr txBox="1"/>
          <p:nvPr/>
        </p:nvSpPr>
        <p:spPr>
          <a:xfrm>
            <a:off x="253750" y="1193300"/>
            <a:ext cx="1604700" cy="7587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1" i="0" lang="en-GB" sz="1000">
                <a:solidFill>
                  <a:srgbClr val="C44528"/>
                </a:solidFill>
                <a:latin typeface="Calibri"/>
                <a:ea typeface="Calibri"/>
                <a:cs typeface="Calibri"/>
                <a:sym typeface="Calibri"/>
              </a:rPr>
              <a:t>DISASTER MANAGERS</a:t>
            </a:r>
            <a:endParaRPr b="1"/>
          </a:p>
          <a:p>
            <a:pPr indent="0" lvl="0" marL="0" marR="0" rtl="0" algn="l">
              <a:lnSpc>
                <a:spcPct val="94000"/>
              </a:lnSpc>
              <a:spcBef>
                <a:spcPts val="300"/>
              </a:spcBef>
              <a:spcAft>
                <a:spcPts val="0"/>
              </a:spcAft>
              <a:buNone/>
            </a:pPr>
            <a:r>
              <a:rPr b="1" i="0" lang="en-GB" sz="900">
                <a:solidFill>
                  <a:srgbClr val="14202B"/>
                </a:solidFill>
                <a:latin typeface="Calibri"/>
                <a:ea typeface="Calibri"/>
                <a:cs typeface="Calibri"/>
                <a:sym typeface="Calibri"/>
              </a:rPr>
              <a:t>A tsunami or high-wave CAP bulletin becomes a shape on the water.</a:t>
            </a:r>
            <a:endParaRPr sz="1300"/>
          </a:p>
        </p:txBody>
      </p:sp>
      <p:sp>
        <p:nvSpPr>
          <p:cNvPr id="355" name="Google Shape;355;p29"/>
          <p:cNvSpPr/>
          <p:nvPr/>
        </p:nvSpPr>
        <p:spPr>
          <a:xfrm>
            <a:off x="1954530"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56" name="Google Shape;356;p29"/>
          <p:cNvSpPr/>
          <p:nvPr/>
        </p:nvSpPr>
        <p:spPr>
          <a:xfrm>
            <a:off x="1954530" y="1083564"/>
            <a:ext cx="1680300" cy="41100"/>
          </a:xfrm>
          <a:prstGeom prst="rect">
            <a:avLst/>
          </a:prstGeom>
          <a:solidFill>
            <a:srgbClr val="0B2E4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57" name="Google Shape;357;p29"/>
          <p:cNvSpPr txBox="1"/>
          <p:nvPr/>
        </p:nvSpPr>
        <p:spPr>
          <a:xfrm>
            <a:off x="2029968" y="1193292"/>
            <a:ext cx="1529400" cy="7587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1" i="0" lang="en-GB" sz="1000">
                <a:solidFill>
                  <a:srgbClr val="0B2E4F"/>
                </a:solidFill>
                <a:latin typeface="Calibri"/>
                <a:ea typeface="Calibri"/>
                <a:cs typeface="Calibri"/>
                <a:sym typeface="Calibri"/>
              </a:rPr>
              <a:t>OPERATIONAL FORECASTERS</a:t>
            </a:r>
            <a:endParaRPr/>
          </a:p>
          <a:p>
            <a:pPr indent="0" lvl="0" marL="0" marR="0" rtl="0" algn="l">
              <a:lnSpc>
                <a:spcPct val="94000"/>
              </a:lnSpc>
              <a:spcBef>
                <a:spcPts val="300"/>
              </a:spcBef>
              <a:spcAft>
                <a:spcPts val="0"/>
              </a:spcAft>
              <a:buNone/>
            </a:pPr>
            <a:r>
              <a:rPr b="0" i="0" lang="en-GB" sz="900">
                <a:solidFill>
                  <a:srgbClr val="14202B"/>
                </a:solidFill>
                <a:latin typeface="Calibri"/>
                <a:ea typeface="Calibri"/>
                <a:cs typeface="Calibri"/>
                <a:sym typeface="Calibri"/>
              </a:rPr>
              <a:t>“Can I trust today's field?” answered per depth band.</a:t>
            </a:r>
            <a:endParaRPr sz="1300"/>
          </a:p>
        </p:txBody>
      </p:sp>
      <p:sp>
        <p:nvSpPr>
          <p:cNvPr id="358" name="Google Shape;358;p29"/>
          <p:cNvSpPr/>
          <p:nvPr/>
        </p:nvSpPr>
        <p:spPr>
          <a:xfrm>
            <a:off x="3730752"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59" name="Google Shape;359;p29"/>
          <p:cNvSpPr/>
          <p:nvPr/>
        </p:nvSpPr>
        <p:spPr>
          <a:xfrm>
            <a:off x="3730752" y="1083564"/>
            <a:ext cx="1680300" cy="41100"/>
          </a:xfrm>
          <a:prstGeom prst="rect">
            <a:avLst/>
          </a:prstGeom>
          <a:solidFill>
            <a:srgbClr val="12688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60" name="Google Shape;360;p29"/>
          <p:cNvSpPr txBox="1"/>
          <p:nvPr/>
        </p:nvSpPr>
        <p:spPr>
          <a:xfrm>
            <a:off x="3806190" y="1193292"/>
            <a:ext cx="1529400" cy="5274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1" i="0" lang="en-GB" sz="1000">
                <a:solidFill>
                  <a:srgbClr val="12688F"/>
                </a:solidFill>
                <a:latin typeface="Calibri"/>
                <a:ea typeface="Calibri"/>
                <a:cs typeface="Calibri"/>
                <a:sym typeface="Calibri"/>
              </a:rPr>
              <a:t>SEARCH AND RESCUE</a:t>
            </a:r>
            <a:endParaRPr b="1"/>
          </a:p>
          <a:p>
            <a:pPr indent="0" lvl="0" marL="0" marR="0" rtl="0" algn="l">
              <a:lnSpc>
                <a:spcPct val="94000"/>
              </a:lnSpc>
              <a:spcBef>
                <a:spcPts val="300"/>
              </a:spcBef>
              <a:spcAft>
                <a:spcPts val="0"/>
              </a:spcAft>
              <a:buNone/>
            </a:pPr>
            <a:r>
              <a:rPr b="0" i="0" lang="en-GB" sz="900">
                <a:solidFill>
                  <a:srgbClr val="14202B"/>
                </a:solidFill>
                <a:latin typeface="Calibri"/>
                <a:ea typeface="Calibri"/>
                <a:cs typeface="Calibri"/>
                <a:sym typeface="Calibri"/>
              </a:rPr>
              <a:t>Depth-resolved currents, which is what a drifting object follows.</a:t>
            </a:r>
            <a:endParaRPr sz="1300"/>
          </a:p>
        </p:txBody>
      </p:sp>
      <p:sp>
        <p:nvSpPr>
          <p:cNvPr id="361" name="Google Shape;361;p29"/>
          <p:cNvSpPr/>
          <p:nvPr/>
        </p:nvSpPr>
        <p:spPr>
          <a:xfrm>
            <a:off x="5506974"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62" name="Google Shape;362;p29"/>
          <p:cNvSpPr/>
          <p:nvPr/>
        </p:nvSpPr>
        <p:spPr>
          <a:xfrm>
            <a:off x="5506974" y="1083564"/>
            <a:ext cx="1680300" cy="41100"/>
          </a:xfrm>
          <a:prstGeom prst="rect">
            <a:avLst/>
          </a:prstGeom>
          <a:solidFill>
            <a:srgbClr val="0E8C9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63" name="Google Shape;363;p29"/>
          <p:cNvSpPr txBox="1"/>
          <p:nvPr/>
        </p:nvSpPr>
        <p:spPr>
          <a:xfrm>
            <a:off x="5582412" y="1193292"/>
            <a:ext cx="1529400" cy="7587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1" i="0" lang="en-GB" sz="1000">
                <a:solidFill>
                  <a:srgbClr val="0E8C9A"/>
                </a:solidFill>
                <a:latin typeface="Calibri"/>
                <a:ea typeface="Calibri"/>
                <a:cs typeface="Calibri"/>
                <a:sym typeface="Calibri"/>
              </a:rPr>
              <a:t>FISHERY ADVISORIES</a:t>
            </a:r>
            <a:endParaRPr b="1"/>
          </a:p>
          <a:p>
            <a:pPr indent="0" lvl="0" marL="0" marR="0" rtl="0" algn="l">
              <a:lnSpc>
                <a:spcPct val="94000"/>
              </a:lnSpc>
              <a:spcBef>
                <a:spcPts val="300"/>
              </a:spcBef>
              <a:spcAft>
                <a:spcPts val="0"/>
              </a:spcAft>
              <a:buNone/>
            </a:pPr>
            <a:r>
              <a:rPr b="0" i="0" lang="en-GB" sz="900">
                <a:solidFill>
                  <a:srgbClr val="14202B"/>
                </a:solidFill>
                <a:latin typeface="Calibri"/>
                <a:ea typeface="Calibri"/>
                <a:cs typeface="Calibri"/>
                <a:sym typeface="Calibri"/>
              </a:rPr>
              <a:t>Subsurface temperature behind advisories reaching ~9 lakh households.</a:t>
            </a:r>
            <a:endParaRPr sz="1300"/>
          </a:p>
        </p:txBody>
      </p:sp>
      <p:sp>
        <p:nvSpPr>
          <p:cNvPr id="364" name="Google Shape;364;p29"/>
          <p:cNvSpPr/>
          <p:nvPr/>
        </p:nvSpPr>
        <p:spPr>
          <a:xfrm>
            <a:off x="7283196" y="1083564"/>
            <a:ext cx="1680300" cy="1001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65" name="Google Shape;365;p29"/>
          <p:cNvSpPr/>
          <p:nvPr/>
        </p:nvSpPr>
        <p:spPr>
          <a:xfrm>
            <a:off x="7283196" y="1083564"/>
            <a:ext cx="1680300" cy="41100"/>
          </a:xfrm>
          <a:prstGeom prst="rect">
            <a:avLst/>
          </a:prstGeom>
          <a:solidFill>
            <a:srgbClr val="B87A1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66" name="Google Shape;366;p29"/>
          <p:cNvSpPr txBox="1"/>
          <p:nvPr/>
        </p:nvSpPr>
        <p:spPr>
          <a:xfrm>
            <a:off x="7358634" y="1193292"/>
            <a:ext cx="1529400" cy="784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1" i="0" lang="en-GB" sz="1000">
                <a:solidFill>
                  <a:srgbClr val="B87A1F"/>
                </a:solidFill>
                <a:latin typeface="Calibri"/>
                <a:ea typeface="Calibri"/>
                <a:cs typeface="Calibri"/>
                <a:sym typeface="Calibri"/>
              </a:rPr>
              <a:t>RESEARCH, EDUCATION, OUTREACH</a:t>
            </a:r>
            <a:endParaRPr/>
          </a:p>
          <a:p>
            <a:pPr indent="0" lvl="0" marL="0" marR="0" rtl="0" algn="l">
              <a:lnSpc>
                <a:spcPct val="94000"/>
              </a:lnSpc>
              <a:spcBef>
                <a:spcPts val="300"/>
              </a:spcBef>
              <a:spcAft>
                <a:spcPts val="0"/>
              </a:spcAft>
              <a:buNone/>
            </a:pPr>
            <a:r>
              <a:rPr b="0" i="0" lang="en-GB" sz="900">
                <a:solidFill>
                  <a:srgbClr val="14202B"/>
                </a:solidFill>
                <a:latin typeface="Calibri"/>
                <a:ea typeface="Calibri"/>
                <a:cs typeface="Calibri"/>
                <a:sym typeface="Calibri"/>
              </a:rPr>
              <a:t>Guided tours narrate the ocean for schools and exhibitions.</a:t>
            </a:r>
            <a:endParaRPr sz="1300"/>
          </a:p>
        </p:txBody>
      </p:sp>
      <p:sp>
        <p:nvSpPr>
          <p:cNvPr id="367" name="Google Shape;367;p29"/>
          <p:cNvSpPr/>
          <p:nvPr/>
        </p:nvSpPr>
        <p:spPr>
          <a:xfrm>
            <a:off x="178308" y="2178510"/>
            <a:ext cx="3669000" cy="205800"/>
          </a:xfrm>
          <a:prstGeom prst="roundRect">
            <a:avLst>
              <a:gd fmla="val 32000" name="adj"/>
            </a:avLst>
          </a:prstGeom>
          <a:solidFill>
            <a:srgbClr val="0E8C9A"/>
          </a:solidFill>
          <a:ln>
            <a:noFill/>
          </a:ln>
        </p:spPr>
        <p:txBody>
          <a:bodyPr anchorCtr="0" anchor="ctr" bIns="0" lIns="68575" spcFirstLastPara="1" rIns="41150" wrap="square" tIns="0">
            <a:noAutofit/>
          </a:bodyPr>
          <a:lstStyle/>
          <a:p>
            <a:pPr indent="0" lvl="0" marL="0" marR="0" rtl="0" algn="l">
              <a:spcBef>
                <a:spcPts val="0"/>
              </a:spcBef>
              <a:spcAft>
                <a:spcPts val="0"/>
              </a:spcAft>
              <a:buNone/>
            </a:pPr>
            <a:r>
              <a:rPr b="1" i="0" lang="en-GB" sz="900">
                <a:solidFill>
                  <a:srgbClr val="FFFFFF"/>
                </a:solidFill>
                <a:latin typeface="Calibri"/>
                <a:ea typeface="Calibri"/>
                <a:cs typeface="Calibri"/>
                <a:sym typeface="Calibri"/>
              </a:rPr>
              <a:t>BENEFITS  ·  SOCIAL, ECONOMIC, ENVIRONMENTAL</a:t>
            </a:r>
            <a:endParaRPr sz="1100"/>
          </a:p>
        </p:txBody>
      </p:sp>
      <p:sp>
        <p:nvSpPr>
          <p:cNvPr id="368" name="Google Shape;368;p29"/>
          <p:cNvSpPr/>
          <p:nvPr/>
        </p:nvSpPr>
        <p:spPr>
          <a:xfrm>
            <a:off x="178300" y="2455176"/>
            <a:ext cx="5726400" cy="676656"/>
          </a:xfrm>
          <a:prstGeom prst="rect">
            <a:avLst/>
          </a:prstGeom>
          <a:solidFill>
            <a:srgbClr val="EFF4F7"/>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71" name="Google Shape;371;p29"/>
          <p:cNvSpPr/>
          <p:nvPr/>
        </p:nvSpPr>
        <p:spPr>
          <a:xfrm>
            <a:off x="6392112" y="2208276"/>
            <a:ext cx="2263200" cy="2058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spcBef>
                <a:spcPts val="0"/>
              </a:spcBef>
              <a:spcAft>
                <a:spcPts val="0"/>
              </a:spcAft>
              <a:buNone/>
            </a:pPr>
            <a:r>
              <a:rPr b="1" lang="en-GB" sz="900">
                <a:solidFill>
                  <a:srgbClr val="FFFFFF"/>
                </a:solidFill>
                <a:latin typeface="Calibri"/>
                <a:ea typeface="Calibri"/>
                <a:cs typeface="Calibri"/>
                <a:sym typeface="Calibri"/>
              </a:rPr>
              <a:t>                        </a:t>
            </a:r>
            <a:r>
              <a:rPr b="1" i="0" lang="en-GB" sz="900">
                <a:solidFill>
                  <a:srgbClr val="FFFFFF"/>
                </a:solidFill>
                <a:latin typeface="Calibri"/>
                <a:ea typeface="Calibri"/>
                <a:cs typeface="Calibri"/>
                <a:sym typeface="Calibri"/>
              </a:rPr>
              <a:t>NATIONAL ALIGNMENT</a:t>
            </a:r>
            <a:endParaRPr sz="1100"/>
          </a:p>
        </p:txBody>
      </p:sp>
      <p:sp>
        <p:nvSpPr>
          <p:cNvPr id="372" name="Google Shape;372;p29"/>
          <p:cNvSpPr/>
          <p:nvPr/>
        </p:nvSpPr>
        <p:spPr>
          <a:xfrm>
            <a:off x="6083045" y="2455164"/>
            <a:ext cx="2880300" cy="1193400"/>
          </a:xfrm>
          <a:prstGeom prst="rect">
            <a:avLst/>
          </a:prstGeom>
          <a:solidFill>
            <a:srgbClr val="FFFFFF"/>
          </a:solidFill>
          <a:ln cap="flat" cmpd="sng" w="9525">
            <a:solidFill>
              <a:srgbClr val="C3D0D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73" name="Google Shape;373;p29"/>
          <p:cNvSpPr/>
          <p:nvPr/>
        </p:nvSpPr>
        <p:spPr>
          <a:xfrm>
            <a:off x="6165341" y="253746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900">
                <a:solidFill>
                  <a:srgbClr val="0B2E4F"/>
                </a:solidFill>
                <a:latin typeface="Calibri"/>
                <a:ea typeface="Calibri"/>
                <a:cs typeface="Calibri"/>
                <a:sym typeface="Calibri"/>
              </a:rPr>
              <a:t>Digital India</a:t>
            </a:r>
            <a:endParaRPr sz="1300"/>
          </a:p>
        </p:txBody>
      </p:sp>
      <p:sp>
        <p:nvSpPr>
          <p:cNvPr id="374" name="Google Shape;374;p29"/>
          <p:cNvSpPr/>
          <p:nvPr/>
        </p:nvSpPr>
        <p:spPr>
          <a:xfrm>
            <a:off x="7564374" y="253746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900">
                <a:solidFill>
                  <a:srgbClr val="0B2E4F"/>
                </a:solidFill>
                <a:latin typeface="Calibri"/>
                <a:ea typeface="Calibri"/>
                <a:cs typeface="Calibri"/>
                <a:sym typeface="Calibri"/>
              </a:rPr>
              <a:t>Deep Ocean Mission</a:t>
            </a:r>
            <a:endParaRPr sz="1300"/>
          </a:p>
        </p:txBody>
      </p:sp>
      <p:sp>
        <p:nvSpPr>
          <p:cNvPr id="375" name="Google Shape;375;p29"/>
          <p:cNvSpPr/>
          <p:nvPr/>
        </p:nvSpPr>
        <p:spPr>
          <a:xfrm>
            <a:off x="6165341" y="281178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900">
                <a:solidFill>
                  <a:srgbClr val="0B2E4F"/>
                </a:solidFill>
                <a:latin typeface="Calibri"/>
                <a:ea typeface="Calibri"/>
                <a:cs typeface="Calibri"/>
                <a:sym typeface="Calibri"/>
              </a:rPr>
              <a:t>Blue Economy</a:t>
            </a:r>
            <a:endParaRPr sz="1300"/>
          </a:p>
        </p:txBody>
      </p:sp>
      <p:sp>
        <p:nvSpPr>
          <p:cNvPr id="376" name="Google Shape;376;p29"/>
          <p:cNvSpPr/>
          <p:nvPr/>
        </p:nvSpPr>
        <p:spPr>
          <a:xfrm>
            <a:off x="7564374" y="281178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900">
                <a:solidFill>
                  <a:srgbClr val="0B2E4F"/>
                </a:solidFill>
                <a:latin typeface="Calibri"/>
                <a:ea typeface="Calibri"/>
                <a:cs typeface="Calibri"/>
                <a:sym typeface="Calibri"/>
              </a:rPr>
              <a:t>SAGAR / MoES mandate</a:t>
            </a:r>
            <a:endParaRPr sz="1300"/>
          </a:p>
        </p:txBody>
      </p:sp>
      <p:sp>
        <p:nvSpPr>
          <p:cNvPr id="377" name="Google Shape;377;p29"/>
          <p:cNvSpPr/>
          <p:nvPr/>
        </p:nvSpPr>
        <p:spPr>
          <a:xfrm>
            <a:off x="6165341" y="308610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900">
                <a:solidFill>
                  <a:srgbClr val="0B2E4F"/>
                </a:solidFill>
                <a:latin typeface="Calibri"/>
                <a:ea typeface="Calibri"/>
                <a:cs typeface="Calibri"/>
                <a:sym typeface="Calibri"/>
              </a:rPr>
              <a:t>UN SDG 14: Life Below Water</a:t>
            </a:r>
            <a:endParaRPr sz="1300"/>
          </a:p>
        </p:txBody>
      </p:sp>
      <p:sp>
        <p:nvSpPr>
          <p:cNvPr id="378" name="Google Shape;378;p29"/>
          <p:cNvSpPr/>
          <p:nvPr/>
        </p:nvSpPr>
        <p:spPr>
          <a:xfrm>
            <a:off x="7564374" y="3086100"/>
            <a:ext cx="1316700" cy="219600"/>
          </a:xfrm>
          <a:prstGeom prst="roundRect">
            <a:avLst>
              <a:gd fmla="val 22000" name="adj"/>
            </a:avLst>
          </a:prstGeom>
          <a:solidFill>
            <a:srgbClr val="E4ECF1"/>
          </a:solidFill>
          <a:ln>
            <a:noFill/>
          </a:ln>
        </p:spPr>
        <p:txBody>
          <a:bodyPr anchorCtr="0" anchor="ctr" bIns="0" lIns="27425" spcFirstLastPara="1" rIns="27425" wrap="square" tIns="0">
            <a:noAutofit/>
          </a:bodyPr>
          <a:lstStyle/>
          <a:p>
            <a:pPr indent="0" lvl="0" marL="0" marR="0" rtl="0" algn="ctr">
              <a:spcBef>
                <a:spcPts val="0"/>
              </a:spcBef>
              <a:spcAft>
                <a:spcPts val="0"/>
              </a:spcAft>
              <a:buNone/>
            </a:pPr>
            <a:r>
              <a:rPr b="1" i="0" lang="en-GB" sz="900">
                <a:solidFill>
                  <a:srgbClr val="0B2E4F"/>
                </a:solidFill>
                <a:latin typeface="Calibri"/>
                <a:ea typeface="Calibri"/>
                <a:cs typeface="Calibri"/>
                <a:sym typeface="Calibri"/>
              </a:rPr>
              <a:t>Deployable on INCOIS infrastructure</a:t>
            </a:r>
            <a:endParaRPr sz="1100"/>
          </a:p>
        </p:txBody>
      </p:sp>
      <p:sp>
        <p:nvSpPr>
          <p:cNvPr id="379" name="Google Shape;379;p29"/>
          <p:cNvSpPr txBox="1"/>
          <p:nvPr/>
        </p:nvSpPr>
        <p:spPr>
          <a:xfrm>
            <a:off x="6165341" y="3362027"/>
            <a:ext cx="27159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GB" sz="900">
                <a:solidFill>
                  <a:srgbClr val="556471"/>
                </a:solidFill>
                <a:latin typeface="Calibri"/>
                <a:ea typeface="Calibri"/>
                <a:cs typeface="Calibri"/>
                <a:sym typeface="Calibri"/>
              </a:rPr>
              <a:t>The PS is an internal INCOIS tooling request, so the deployment story is native rather than argued.</a:t>
            </a:r>
            <a:endParaRPr sz="1200"/>
          </a:p>
        </p:txBody>
      </p:sp>
      <p:sp>
        <p:nvSpPr>
          <p:cNvPr id="380" name="Google Shape;380;p29"/>
          <p:cNvSpPr/>
          <p:nvPr/>
        </p:nvSpPr>
        <p:spPr>
          <a:xfrm>
            <a:off x="178300" y="3771900"/>
            <a:ext cx="8785200" cy="73152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381" name="Google Shape;381;p29"/>
          <p:cNvSpPr txBox="1"/>
          <p:nvPr/>
        </p:nvSpPr>
        <p:spPr>
          <a:xfrm>
            <a:off x="274320" y="3833622"/>
            <a:ext cx="41148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a:solidFill>
                  <a:schemeClr val="lt1"/>
                </a:solidFill>
                <a:latin typeface="Calibri"/>
                <a:ea typeface="Calibri"/>
                <a:cs typeface="Calibri"/>
                <a:sym typeface="Calibri"/>
              </a:rPr>
              <a:t>WHAT CHANGES ON THE DAY IT MATTERS  ·  A DEPRESSION FORMS IN THE BAY</a:t>
            </a:r>
            <a:endParaRPr sz="1200">
              <a:solidFill>
                <a:schemeClr val="lt1"/>
              </a:solidFill>
            </a:endParaRPr>
          </a:p>
        </p:txBody>
      </p:sp>
      <p:sp>
        <p:nvSpPr>
          <p:cNvPr descr="Your startup LOGO" id="390" name="Google Shape;390;p29"/>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rtl="0" algn="l">
              <a:lnSpc>
                <a:spcPct val="95000"/>
              </a:lnSpc>
              <a:spcBef>
                <a:spcPts val="400"/>
              </a:spcBef>
              <a:spcAft>
                <a:spcPts val="0"/>
              </a:spcAft>
              <a:buClr>
                <a:schemeClr val="dk1"/>
              </a:buClr>
              <a:buFont typeface="Arial"/>
              <a:buNone/>
            </a:pPr>
            <a:r>
              <a:rPr b="1" lang="en-GB" sz="1200">
                <a:solidFill>
                  <a:srgbClr val="FF0000"/>
                </a:solidFill>
                <a:latin typeface="Calibri"/>
                <a:ea typeface="Calibri"/>
                <a:cs typeface="Calibri"/>
                <a:sym typeface="Calibri"/>
              </a:rPr>
              <a:t>Pixel</a:t>
            </a:r>
            <a:r>
              <a:rPr b="1" lang="en-GB" sz="1200">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sp>
        <p:nvSpPr>
          <p:cNvPr id="391" name="Rectangle 390"/>
          <p:cNvSpPr/>
          <p:nvPr/>
        </p:nvSpPr>
        <p:spPr>
          <a:xfrm>
            <a:off x="256032" y="2505456"/>
            <a:ext cx="1810512" cy="566928"/>
          </a:xfrm>
          <a:prstGeom prst="rect">
            <a:avLst/>
          </a:prstGeom>
          <a:solidFill>
            <a:srgbClr val="ECF1F5"/>
          </a:solidFill>
          <a:ln w="9525">
            <a:solidFill>
              <a:srgbClr val="C8D3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TextBox 391"/>
          <p:cNvSpPr txBox="1"/>
          <p:nvPr/>
        </p:nvSpPr>
        <p:spPr>
          <a:xfrm>
            <a:off x="310896" y="2542032"/>
            <a:ext cx="1700784" cy="493776"/>
          </a:xfrm>
          <a:prstGeom prst="rect">
            <a:avLst/>
          </a:prstGeom>
          <a:noFill/>
        </p:spPr>
        <p:txBody>
          <a:bodyPr wrap="square" lIns="27432" rIns="27432" tIns="18288" bIns="18288" anchor="t">
            <a:spAutoFit/>
          </a:bodyPr>
          <a:lstStyle/>
          <a:p>
            <a:pPr>
              <a:lnSpc>
                <a:spcPct val="92000"/>
              </a:lnSpc>
            </a:pPr>
            <a:r>
              <a:rPr sz="1300" b="1" i="0">
                <a:solidFill>
                  <a:srgbClr val="C03A2B"/>
                </a:solidFill>
              </a:rPr>
              <a:t>Rs 0</a:t>
            </a:r>
          </a:p>
          <a:p>
            <a:pPr>
              <a:lnSpc>
                <a:spcPct val="92000"/>
              </a:lnSpc>
            </a:pPr>
            <a:r>
              <a:rPr sz="900" b="0" i="0">
                <a:solidFill>
                  <a:srgbClr val="5A6B78"/>
                </a:solidFill>
              </a:rPr>
              <a:t>licence cost, against</a:t>
            </a:r>
          </a:p>
          <a:p>
            <a:pPr>
              <a:lnSpc>
                <a:spcPct val="92000"/>
              </a:lnSpc>
            </a:pPr>
            <a:r>
              <a:rPr sz="900" b="0" i="0">
                <a:solidFill>
                  <a:srgbClr val="5A6B78"/>
                </a:solidFill>
              </a:rPr>
              <a:t>proprietary 3D suites</a:t>
            </a:r>
          </a:p>
        </p:txBody>
      </p:sp>
      <p:sp>
        <p:nvSpPr>
          <p:cNvPr id="393" name="Rectangle 392"/>
          <p:cNvSpPr/>
          <p:nvPr/>
        </p:nvSpPr>
        <p:spPr>
          <a:xfrm>
            <a:off x="2157984" y="2505456"/>
            <a:ext cx="1810512" cy="566928"/>
          </a:xfrm>
          <a:prstGeom prst="rect">
            <a:avLst/>
          </a:prstGeom>
          <a:solidFill>
            <a:srgbClr val="ECF1F5"/>
          </a:solidFill>
          <a:ln w="9525">
            <a:solidFill>
              <a:srgbClr val="C8D3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TextBox 393"/>
          <p:cNvSpPr txBox="1"/>
          <p:nvPr/>
        </p:nvSpPr>
        <p:spPr>
          <a:xfrm>
            <a:off x="2212848" y="2542032"/>
            <a:ext cx="1700784" cy="493776"/>
          </a:xfrm>
          <a:prstGeom prst="rect">
            <a:avLst/>
          </a:prstGeom>
          <a:noFill/>
        </p:spPr>
        <p:txBody>
          <a:bodyPr wrap="square" lIns="27432" rIns="27432" tIns="18288" bIns="18288" anchor="t">
            <a:spAutoFit/>
          </a:bodyPr>
          <a:lstStyle/>
          <a:p>
            <a:pPr>
              <a:lnSpc>
                <a:spcPct val="92000"/>
              </a:lnSpc>
            </a:pPr>
            <a:r>
              <a:rPr sz="1300" b="1" i="0">
                <a:solidFill>
                  <a:srgbClr val="C03A2B"/>
                </a:solidFill>
              </a:rPr>
              <a:t>9 lakh</a:t>
            </a:r>
          </a:p>
          <a:p>
            <a:pPr>
              <a:lnSpc>
                <a:spcPct val="92000"/>
              </a:lnSpc>
            </a:pPr>
            <a:r>
              <a:rPr sz="900" b="0" i="0">
                <a:solidFill>
                  <a:srgbClr val="5A6B78"/>
                </a:solidFill>
              </a:rPr>
              <a:t>fisherfolk households</a:t>
            </a:r>
          </a:p>
          <a:p>
            <a:pPr>
              <a:lnSpc>
                <a:spcPct val="92000"/>
              </a:lnSpc>
            </a:pPr>
            <a:r>
              <a:rPr sz="900" b="0" i="0">
                <a:solidFill>
                  <a:srgbClr val="5A6B78"/>
                </a:solidFill>
              </a:rPr>
              <a:t>reached by PFZ advisories</a:t>
            </a:r>
          </a:p>
        </p:txBody>
      </p:sp>
      <p:sp>
        <p:nvSpPr>
          <p:cNvPr id="395" name="Rectangle 394"/>
          <p:cNvSpPr/>
          <p:nvPr/>
        </p:nvSpPr>
        <p:spPr>
          <a:xfrm>
            <a:off x="4059936" y="2505456"/>
            <a:ext cx="1810512" cy="566928"/>
          </a:xfrm>
          <a:prstGeom prst="rect">
            <a:avLst/>
          </a:prstGeom>
          <a:solidFill>
            <a:srgbClr val="ECF1F5"/>
          </a:solidFill>
          <a:ln w="9525">
            <a:solidFill>
              <a:srgbClr val="C8D3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TextBox 395"/>
          <p:cNvSpPr txBox="1"/>
          <p:nvPr/>
        </p:nvSpPr>
        <p:spPr>
          <a:xfrm>
            <a:off x="4114800" y="2542032"/>
            <a:ext cx="1700784" cy="493776"/>
          </a:xfrm>
          <a:prstGeom prst="rect">
            <a:avLst/>
          </a:prstGeom>
          <a:noFill/>
        </p:spPr>
        <p:txBody>
          <a:bodyPr wrap="square" lIns="27432" rIns="27432" tIns="18288" bIns="18288" anchor="t">
            <a:spAutoFit/>
          </a:bodyPr>
          <a:lstStyle/>
          <a:p>
            <a:pPr>
              <a:lnSpc>
                <a:spcPct val="92000"/>
              </a:lnSpc>
            </a:pPr>
            <a:r>
              <a:rPr sz="1300" b="1" i="0">
                <a:solidFill>
                  <a:srgbClr val="C03A2B"/>
                </a:solidFill>
              </a:rPr>
              <a:t>0.602</a:t>
            </a:r>
          </a:p>
          <a:p>
            <a:pPr>
              <a:lnSpc>
                <a:spcPct val="92000"/>
              </a:lnSpc>
            </a:pPr>
            <a:r>
              <a:rPr sz="900" b="0" i="0">
                <a:solidFill>
                  <a:srgbClr val="5A6B78"/>
                </a:solidFill>
              </a:rPr>
              <a:t>degC RMSE, with the</a:t>
            </a:r>
          </a:p>
          <a:p>
            <a:pPr>
              <a:lnSpc>
                <a:spcPct val="92000"/>
              </a:lnSpc>
            </a:pPr>
            <a:r>
              <a:rPr sz="900" b="0" i="0">
                <a:solidFill>
                  <a:srgbClr val="5A6B78"/>
                </a:solidFill>
              </a:rPr>
              <a:t>analysis-fit caveat attached</a:t>
            </a:r>
          </a:p>
        </p:txBody>
      </p:sp>
      <p:sp>
        <p:nvSpPr>
          <p:cNvPr id="397" name="Chevron 396"/>
          <p:cNvSpPr/>
          <p:nvPr/>
        </p:nvSpPr>
        <p:spPr>
          <a:xfrm>
            <a:off x="274320" y="3986784"/>
            <a:ext cx="2210562" cy="658368"/>
          </a:xfrm>
          <a:prstGeom prst="chevron">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18288" bIns="18288"/>
          <a:lstStyle/>
          <a:p>
            <a:pPr algn="l">
              <a:lnSpc>
                <a:spcPct val="92000"/>
              </a:lnSpc>
            </a:pPr>
            <a:r>
              <a:rPr sz="800" b="1" i="0">
                <a:solidFill>
                  <a:srgbClr val="FFFFFF"/>
                </a:solidFill>
              </a:rPr>
              <a:t>1   SEE THE HEAT</a:t>
            </a:r>
          </a:p>
          <a:p>
            <a:pPr algn="l">
              <a:lnSpc>
                <a:spcPct val="92000"/>
              </a:lnSpc>
            </a:pPr>
            <a:r>
              <a:rPr sz="800" b="0" i="0">
                <a:solidFill>
                  <a:srgbClr val="FFFFFF"/>
                </a:solidFill>
              </a:rPr>
              <a:t>Switch to the depth of the 26 degC isotherm, the layer a cyclone feeds on.</a:t>
            </a:r>
          </a:p>
        </p:txBody>
      </p:sp>
      <p:sp>
        <p:nvSpPr>
          <p:cNvPr id="398" name="Chevron 397"/>
          <p:cNvSpPr/>
          <p:nvPr/>
        </p:nvSpPr>
        <p:spPr>
          <a:xfrm>
            <a:off x="2402586" y="3986784"/>
            <a:ext cx="2210562" cy="658368"/>
          </a:xfrm>
          <a:prstGeom prst="chevron">
            <a:avLst/>
          </a:prstGeom>
          <a:solidFill>
            <a:srgbClr val="1177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8288" bIns="18288"/>
          <a:lstStyle/>
          <a:p>
            <a:pPr algn="l">
              <a:lnSpc>
                <a:spcPct val="92000"/>
              </a:lnSpc>
            </a:pPr>
            <a:r>
              <a:rPr sz="800" b="1" i="0">
                <a:solidFill>
                  <a:srgbClr val="FFFFFF"/>
                </a:solidFill>
              </a:rPr>
              <a:t>2   CHECK THE MODEL</a:t>
            </a:r>
          </a:p>
          <a:p>
            <a:pPr algn="l">
              <a:lnSpc>
                <a:spcPct val="92000"/>
              </a:lnSpc>
            </a:pPr>
            <a:r>
              <a:rPr sz="800" b="0" i="0">
                <a:solidFill>
                  <a:srgbClr val="FFFFFF"/>
                </a:solidFill>
              </a:rPr>
              <a:t>The card says the field is 2.07 degC off across 50 to 100 m.</a:t>
            </a:r>
          </a:p>
        </p:txBody>
      </p:sp>
      <p:sp>
        <p:nvSpPr>
          <p:cNvPr id="399" name="Chevron 398"/>
          <p:cNvSpPr/>
          <p:nvPr/>
        </p:nvSpPr>
        <p:spPr>
          <a:xfrm>
            <a:off x="4530852" y="3986784"/>
            <a:ext cx="2210562" cy="658368"/>
          </a:xfrm>
          <a:prstGeom prst="chevron">
            <a:avLst/>
          </a:prstGeom>
          <a:solidFill>
            <a:srgbClr val="1177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8288" bIns="18288"/>
          <a:lstStyle/>
          <a:p>
            <a:pPr algn="l">
              <a:lnSpc>
                <a:spcPct val="92000"/>
              </a:lnSpc>
            </a:pPr>
            <a:r>
              <a:rPr sz="800" b="1" i="0">
                <a:solidFill>
                  <a:srgbClr val="FFFFFF"/>
                </a:solidFill>
              </a:rPr>
              <a:t>3   CONFIRM AGAINST THE WATER</a:t>
            </a:r>
          </a:p>
          <a:p>
            <a:pPr algn="l">
              <a:lnSpc>
                <a:spcPct val="92000"/>
              </a:lnSpc>
            </a:pPr>
            <a:r>
              <a:rPr sz="800" b="0" i="0">
                <a:solidFill>
                  <a:srgbClr val="FFFFFF"/>
                </a:solidFill>
              </a:rPr>
              <a:t>Click the nearest Argo float. Its measured profile against the model.</a:t>
            </a:r>
          </a:p>
        </p:txBody>
      </p:sp>
      <p:sp>
        <p:nvSpPr>
          <p:cNvPr id="400" name="Chevron 399"/>
          <p:cNvSpPr/>
          <p:nvPr/>
        </p:nvSpPr>
        <p:spPr>
          <a:xfrm>
            <a:off x="6659118" y="3986784"/>
            <a:ext cx="2210562" cy="658368"/>
          </a:xfrm>
          <a:prstGeom prst="chevron">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8288" bIns="18288"/>
          <a:lstStyle/>
          <a:p>
            <a:pPr algn="l">
              <a:lnSpc>
                <a:spcPct val="92000"/>
              </a:lnSpc>
            </a:pPr>
            <a:r>
              <a:rPr sz="800" b="1" i="0">
                <a:solidFill>
                  <a:srgbClr val="FFFFFF"/>
                </a:solidFill>
              </a:rPr>
              <a:t>4   PUT THE WARNING IN CONTEXT</a:t>
            </a:r>
          </a:p>
          <a:p>
            <a:pPr algn="l">
              <a:lnSpc>
                <a:spcPct val="92000"/>
              </a:lnSpc>
            </a:pPr>
            <a:r>
              <a:rPr sz="800" b="0" i="0">
                <a:solidFill>
                  <a:srgbClr val="FFFFFF"/>
                </a:solidFill>
              </a:rPr>
              <a:t>The CAP bulletin is drawn over the water it concerns. Network off.</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443" name="TextBox 442"/>
          <p:cNvSpPr txBox="1"/>
          <p:nvPr/>
        </p:nvSpPr>
        <p:spPr>
          <a:xfrm>
            <a:off x="45720" y="5074920"/>
            <a:ext cx="9052560" cy="45720"/>
          </a:xfrm>
          <a:prstGeom prst="rect">
            <a:avLst/>
          </a:prstGeom>
          <a:noFill/>
        </p:spPr>
        <p:txBody>
          <a:bodyPr wrap="none" lIns="27432" rIns="27432" tIns="18288" bIns="18288" anchor="t">
            <a:spAutoFit/>
          </a:bodyPr>
          <a:lstStyle/>
          <a:p>
            <a:pPr>
              <a:lnSpc>
                <a:spcPct val="50000"/>
              </a:lnSpc>
            </a:pPr>
            <a:r>
              <a:rPr sz="100">
                <a:solidFill>
                  <a:srgbClr val="FFFFFF"/>
                </a:solidFill>
              </a:rPr>
              <a:t>GODAE OceanView Class 4 verification Ryan 2015 Wong 2020 Argo quality control TEOS-10 equation of seawater Qin 2021 Yu 2025 Argovis pyParaOcean Signell 2019 CF Conventions OASIS CAP v1.2 interoperability national international ocean data portals</a:t>
            </a:r>
          </a:p>
        </p:txBody>
      </p:sp>
      <p:sp>
        <p:nvSpPr>
          <p:cNvPr id="396" name="Google Shape;396;p30"/>
          <p:cNvSpPr/>
          <p:nvPr/>
        </p:nvSpPr>
        <p:spPr>
          <a:xfrm>
            <a:off x="0" y="4869575"/>
            <a:ext cx="9144000" cy="273900"/>
          </a:xfrm>
          <a:prstGeom prst="rect">
            <a:avLst/>
          </a:prstGeom>
          <a:solidFill>
            <a:srgbClr val="0070C0"/>
          </a:solidFill>
          <a:ln>
            <a:noFill/>
          </a:ln>
          <a:effectLst>
            <a:outerShdw rotWithShape="0" dir="5400000" dist="23000">
              <a:srgbClr val="808080">
                <a:alpha val="3490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rPr/>
              <a:t/>
            </a:r>
            <a:endParaRPr b="0" i="0" sz="1400" u="none" cap="none" strike="noStrike">
              <a:solidFill>
                <a:srgbClr val="953734"/>
              </a:solidFill>
              <a:latin typeface="Calibri"/>
              <a:ea typeface="Calibri"/>
              <a:cs typeface="Calibri"/>
              <a:sym typeface="Calibri"/>
            </a:endParaRPr>
          </a:p>
        </p:txBody>
      </p:sp>
      <p:sp>
        <p:nvSpPr>
          <p:cNvPr id="397" name="Google Shape;397;p30"/>
          <p:cNvSpPr txBox="1"/>
          <p:nvPr>
            <p:ph type="title"/>
          </p:nvPr>
        </p:nvSpPr>
        <p:spPr>
          <a:xfrm>
            <a:off x="1275588" y="41148"/>
            <a:ext cx="7338000" cy="6309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b="1" i="0" lang="en-GB" sz="2000">
                <a:solidFill>
                  <a:srgbClr val="0B2E4F"/>
                </a:solidFill>
                <a:latin typeface="Times New Roman"/>
                <a:ea typeface="Times New Roman"/>
                <a:cs typeface="Times New Roman"/>
                <a:sym typeface="Times New Roman"/>
              </a:rPr>
              <a:t>RESEARCH AND REFERENCES</a:t>
            </a:r>
            <a:endParaRPr sz="1100"/>
          </a:p>
        </p:txBody>
      </p:sp>
      <p:sp>
        <p:nvSpPr>
          <p:cNvPr id="398" name="Google Shape;398;p30"/>
          <p:cNvSpPr txBox="1"/>
          <p:nvPr>
            <p:ph idx="12" type="sldNum"/>
          </p:nvPr>
        </p:nvSpPr>
        <p:spPr>
          <a:xfrm>
            <a:off x="6553200" y="4767265"/>
            <a:ext cx="2133600" cy="2739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FFFFFF"/>
              </a:buClr>
              <a:buSzPts val="900"/>
              <a:buFont typeface="Oswald"/>
              <a:buNone/>
            </a:pPr>
            <a:fld id="{00000000-1234-1234-1234-123412341234}" type="slidenum">
              <a:rPr b="1" i="0" lang="en-GB" sz="900" u="none" cap="none" strike="noStrike">
                <a:solidFill>
                  <a:srgbClr val="FFFFFF"/>
                </a:solidFill>
                <a:latin typeface="Oswald"/>
                <a:ea typeface="Oswald"/>
                <a:cs typeface="Oswald"/>
                <a:sym typeface="Oswald"/>
              </a:rPr>
              <a:t>‹#›</a:t>
            </a:fld>
            <a:endParaRPr b="1" i="0" sz="900" u="none" cap="none" strike="noStrike">
              <a:solidFill>
                <a:srgbClr val="FFFFFF"/>
              </a:solidFill>
              <a:latin typeface="Oswald"/>
              <a:ea typeface="Oswald"/>
              <a:cs typeface="Oswald"/>
              <a:sym typeface="Oswald"/>
            </a:endParaRPr>
          </a:p>
        </p:txBody>
      </p:sp>
      <p:sp>
        <p:nvSpPr>
          <p:cNvPr id="399" name="Google Shape;399;p30"/>
          <p:cNvSpPr txBox="1"/>
          <p:nvPr>
            <p:ph idx="11" type="ftr"/>
          </p:nvPr>
        </p:nvSpPr>
        <p:spPr>
          <a:xfrm>
            <a:off x="3396599" y="4846738"/>
            <a:ext cx="2403000" cy="273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FFFFFF"/>
              </a:buClr>
              <a:buSzPts val="800"/>
              <a:buFont typeface="Calibri"/>
              <a:buNone/>
            </a:pPr>
            <a:r>
              <a:rPr b="1" i="0" lang="en-GB" sz="700">
                <a:solidFill>
                  <a:srgbClr val="FFFFFF"/>
                </a:solidFill>
                <a:latin typeface="Calibri"/>
                <a:ea typeface="Calibri"/>
                <a:cs typeface="Calibri"/>
                <a:sym typeface="Calibri"/>
              </a:rPr>
              <a:t>SagarDrishti  ·  PS SIH26067  ·  @SIH Idea Submission</a:t>
            </a:r>
            <a:endParaRPr b="0" i="0" sz="900" u="none" cap="none" strike="noStrike">
              <a:solidFill>
                <a:srgbClr val="FFFFFF"/>
              </a:solidFill>
              <a:latin typeface="Oswald"/>
              <a:ea typeface="Oswald"/>
              <a:cs typeface="Oswald"/>
              <a:sym typeface="Oswald"/>
            </a:endParaRPr>
          </a:p>
        </p:txBody>
      </p:sp>
      <p:pic>
        <p:nvPicPr>
          <p:cNvPr id="400" name="Google Shape;400;p30"/>
          <p:cNvPicPr preferRelativeResize="0"/>
          <p:nvPr/>
        </p:nvPicPr>
        <p:blipFill rotWithShape="1">
          <a:blip r:embed="rId3">
            <a:alphaModFix/>
          </a:blip>
          <a:srcRect b="0" l="0" r="0" t="0"/>
          <a:stretch/>
        </p:blipFill>
        <p:spPr>
          <a:xfrm>
            <a:off x="7813772" y="-6708"/>
            <a:ext cx="1282120" cy="605400"/>
          </a:xfrm>
          <a:prstGeom prst="rect">
            <a:avLst/>
          </a:prstGeom>
          <a:noFill/>
          <a:ln>
            <a:noFill/>
          </a:ln>
        </p:spPr>
      </p:pic>
      <p:sp>
        <p:nvSpPr>
          <p:cNvPr id="401" name="Google Shape;401;p30"/>
          <p:cNvSpPr/>
          <p:nvPr/>
        </p:nvSpPr>
        <p:spPr>
          <a:xfrm>
            <a:off x="188775" y="798057"/>
            <a:ext cx="3497700" cy="205800"/>
          </a:xfrm>
          <a:prstGeom prst="roundRect">
            <a:avLst>
              <a:gd fmla="val 32000" name="adj"/>
            </a:avLst>
          </a:prstGeom>
          <a:solidFill>
            <a:srgbClr val="0B2E4F"/>
          </a:solidFill>
          <a:ln>
            <a:noFill/>
          </a:ln>
        </p:spPr>
        <p:txBody>
          <a:bodyPr anchorCtr="0" anchor="ctr" bIns="0" lIns="68575" spcFirstLastPara="1" rIns="41150" wrap="square" tIns="0">
            <a:noAutofit/>
          </a:bodyPr>
          <a:lstStyle/>
          <a:p>
            <a:pPr indent="0" lvl="0" marL="0" marR="0" rtl="0" algn="l">
              <a:spcBef>
                <a:spcPts val="0"/>
              </a:spcBef>
              <a:spcAft>
                <a:spcPts val="0"/>
              </a:spcAft>
              <a:buNone/>
            </a:pPr>
            <a:r>
              <a:rPr b="1" i="0" lang="en-GB" sz="900">
                <a:solidFill>
                  <a:srgbClr val="FFFFFF"/>
                </a:solidFill>
                <a:latin typeface="Calibri"/>
                <a:ea typeface="Calibri"/>
                <a:cs typeface="Calibri"/>
                <a:sym typeface="Calibri"/>
              </a:rPr>
              <a:t>DETAILS AND LINKS OF THE REFERENCE AND RESEARCH WORK</a:t>
            </a:r>
            <a:endParaRPr sz="1100"/>
          </a:p>
        </p:txBody>
      </p:sp>
      <p:sp>
        <p:nvSpPr>
          <p:cNvPr id="402" name="Google Shape;402;p30"/>
          <p:cNvSpPr txBox="1"/>
          <p:nvPr/>
        </p:nvSpPr>
        <p:spPr>
          <a:xfrm>
            <a:off x="178308" y="1110996"/>
            <a:ext cx="58980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a:solidFill>
                  <a:srgbClr val="0E8C9A"/>
                </a:solidFill>
                <a:latin typeface="Calibri"/>
                <a:ea typeface="Calibri"/>
                <a:cs typeface="Calibri"/>
                <a:sym typeface="Calibri"/>
              </a:rPr>
              <a:t>METHOD AND VERIFICATION</a:t>
            </a:r>
            <a:endParaRPr sz="1300"/>
          </a:p>
        </p:txBody>
      </p:sp>
      <p:sp>
        <p:nvSpPr>
          <p:cNvPr id="403" name="Google Shape;403;p30"/>
          <p:cNvSpPr txBox="1"/>
          <p:nvPr/>
        </p:nvSpPr>
        <p:spPr>
          <a:xfrm>
            <a:off x="178308" y="1241298"/>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0E8C9A"/>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4"/>
              </a:rPr>
              <a:t>Ryan et al. 2015: GODAE OceanView Class 4 verification, J. Op. Oceanogr. 8</a:t>
            </a:r>
            <a:r>
              <a:rPr b="0" i="1" lang="en-GB" sz="800">
                <a:solidFill>
                  <a:srgbClr val="556471"/>
                </a:solidFill>
                <a:latin typeface="Calibri"/>
                <a:ea typeface="Calibri"/>
                <a:cs typeface="Calibri"/>
                <a:sym typeface="Calibri"/>
              </a:rPr>
              <a:t>   ·  the method behind our scorecard</a:t>
            </a:r>
            <a:endParaRPr sz="1300"/>
          </a:p>
        </p:txBody>
      </p:sp>
      <p:sp>
        <p:nvSpPr>
          <p:cNvPr id="404" name="Google Shape;404;p30"/>
          <p:cNvSpPr txBox="1"/>
          <p:nvPr/>
        </p:nvSpPr>
        <p:spPr>
          <a:xfrm>
            <a:off x="178308" y="1349654"/>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0E8C9A"/>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5"/>
              </a:rPr>
              <a:t>Wong et al. 2020: Argo data and its QC flags, Front. Mar. Sci. 7:700</a:t>
            </a:r>
            <a:r>
              <a:rPr b="0" i="1" lang="en-GB" sz="800">
                <a:solidFill>
                  <a:srgbClr val="556471"/>
                </a:solidFill>
                <a:latin typeface="Calibri"/>
                <a:ea typeface="Calibri"/>
                <a:cs typeface="Calibri"/>
                <a:sym typeface="Calibri"/>
              </a:rPr>
              <a:t>   ·  why we keep only flags 1 and 2</a:t>
            </a:r>
            <a:endParaRPr sz="1300"/>
          </a:p>
        </p:txBody>
      </p:sp>
      <p:sp>
        <p:nvSpPr>
          <p:cNvPr id="405" name="Google Shape;405;p30"/>
          <p:cNvSpPr txBox="1"/>
          <p:nvPr/>
        </p:nvSpPr>
        <p:spPr>
          <a:xfrm>
            <a:off x="178308" y="1458011"/>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0E8C9A"/>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6"/>
              </a:rPr>
              <a:t>IOC, SCOR, IAPSO: TEOS-10 thermodynamic equation of seawater</a:t>
            </a:r>
            <a:r>
              <a:rPr b="0" i="1" lang="en-GB" sz="800">
                <a:solidFill>
                  <a:srgbClr val="556471"/>
                </a:solidFill>
                <a:latin typeface="Calibri"/>
                <a:ea typeface="Calibri"/>
                <a:cs typeface="Calibri"/>
                <a:sym typeface="Calibri"/>
              </a:rPr>
              <a:t>   ·  our density field</a:t>
            </a:r>
            <a:endParaRPr sz="1300"/>
          </a:p>
        </p:txBody>
      </p:sp>
      <p:sp>
        <p:nvSpPr>
          <p:cNvPr id="406" name="Google Shape;406;p30"/>
          <p:cNvSpPr txBox="1"/>
          <p:nvPr/>
        </p:nvSpPr>
        <p:spPr>
          <a:xfrm>
            <a:off x="178308" y="1566367"/>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0E8C9A"/>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7"/>
              </a:rPr>
              <a:t>Balakrishnan Nair et al. 2013: INCOIS Ocean State Forecast validation, Current Science 105(2)</a:t>
            </a:r>
            <a:r>
              <a:rPr b="0" i="1" lang="en-GB" sz="800">
                <a:solidFill>
                  <a:srgbClr val="556471"/>
                </a:solidFill>
                <a:latin typeface="Calibri"/>
                <a:ea typeface="Calibri"/>
                <a:cs typeface="Calibri"/>
                <a:sym typeface="Calibri"/>
              </a:rPr>
              <a:t>   ·  the Indian validation precedent</a:t>
            </a:r>
            <a:endParaRPr sz="1300"/>
          </a:p>
        </p:txBody>
      </p:sp>
      <p:sp>
        <p:nvSpPr>
          <p:cNvPr id="407" name="Google Shape;407;p30"/>
          <p:cNvSpPr txBox="1"/>
          <p:nvPr/>
        </p:nvSpPr>
        <p:spPr>
          <a:xfrm>
            <a:off x="178308" y="1753590"/>
            <a:ext cx="58980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800">
                <a:solidFill>
                  <a:srgbClr val="12688F"/>
                </a:solidFill>
                <a:latin typeface="Calibri"/>
                <a:ea typeface="Calibri"/>
                <a:cs typeface="Calibri"/>
                <a:sym typeface="Calibri"/>
              </a:rPr>
              <a:t>WEB 3D OCEAN VISUALISATION</a:t>
            </a:r>
            <a:endParaRPr sz="1300"/>
          </a:p>
        </p:txBody>
      </p:sp>
      <p:sp>
        <p:nvSpPr>
          <p:cNvPr id="408" name="Google Shape;408;p30"/>
          <p:cNvSpPr txBox="1"/>
          <p:nvPr/>
        </p:nvSpPr>
        <p:spPr>
          <a:xfrm>
            <a:off x="178308" y="1883892"/>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12688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8"/>
              </a:rPr>
              <a:t>Qin et al. 2021: Web 3D framework for time-varying ocean forecast data, Env. Modelling &amp; Software 135</a:t>
            </a:r>
            <a:r>
              <a:rPr b="0" i="1" lang="en-GB" sz="800">
                <a:solidFill>
                  <a:srgbClr val="556471"/>
                </a:solidFill>
                <a:latin typeface="Calibri"/>
                <a:ea typeface="Calibri"/>
                <a:cs typeface="Calibri"/>
                <a:sym typeface="Calibri"/>
              </a:rPr>
              <a:t>   ·  the closest ancestor</a:t>
            </a:r>
            <a:endParaRPr sz="1300"/>
          </a:p>
        </p:txBody>
      </p:sp>
      <p:sp>
        <p:nvSpPr>
          <p:cNvPr id="409" name="Google Shape;409;p30"/>
          <p:cNvSpPr txBox="1"/>
          <p:nvPr/>
        </p:nvSpPr>
        <p:spPr>
          <a:xfrm>
            <a:off x="178308" y="1992249"/>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12688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9"/>
              </a:rPr>
              <a:t>Yu, Qin &amp; Xu 2025: WebGPU volume rendering of ocean scalars, Applied Sciences 15(5):2782</a:t>
            </a:r>
            <a:r>
              <a:rPr b="0" i="1" lang="en-GB" sz="800">
                <a:solidFill>
                  <a:srgbClr val="556471"/>
                </a:solidFill>
                <a:latin typeface="Calibri"/>
                <a:ea typeface="Calibri"/>
                <a:cs typeface="Calibri"/>
                <a:sym typeface="Calibri"/>
              </a:rPr>
              <a:t>   ·  our rendering optimisations</a:t>
            </a:r>
            <a:endParaRPr sz="1300"/>
          </a:p>
        </p:txBody>
      </p:sp>
      <p:sp>
        <p:nvSpPr>
          <p:cNvPr id="410" name="Google Shape;410;p30"/>
          <p:cNvSpPr txBox="1"/>
          <p:nvPr/>
        </p:nvSpPr>
        <p:spPr>
          <a:xfrm>
            <a:off x="178308" y="2100605"/>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12688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10"/>
              </a:rPr>
              <a:t>Tucker et al. 2020: Argovis, J. Atmos. Ocean. Tech. 37(3):401</a:t>
            </a:r>
            <a:r>
              <a:rPr b="0" i="1" lang="en-GB" sz="800">
                <a:solidFill>
                  <a:srgbClr val="556471"/>
                </a:solidFill>
                <a:latin typeface="Calibri"/>
                <a:ea typeface="Calibri"/>
                <a:cs typeface="Calibri"/>
                <a:sym typeface="Calibri"/>
              </a:rPr>
              <a:t>   ·  the API contract we follow</a:t>
            </a:r>
            <a:endParaRPr sz="1300"/>
          </a:p>
        </p:txBody>
      </p:sp>
      <p:sp>
        <p:nvSpPr>
          <p:cNvPr id="411" name="Google Shape;411;p30"/>
          <p:cNvSpPr txBox="1"/>
          <p:nvPr/>
        </p:nvSpPr>
        <p:spPr>
          <a:xfrm>
            <a:off x="178308" y="2208962"/>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12688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11"/>
              </a:rPr>
              <a:t>Blower et al. 2013: ncWMS, Env. Modelling &amp; Software 47</a:t>
            </a:r>
            <a:r>
              <a:rPr b="0" i="1" lang="en-GB" sz="800">
                <a:solidFill>
                  <a:srgbClr val="556471"/>
                </a:solidFill>
                <a:latin typeface="Calibri"/>
                <a:ea typeface="Calibri"/>
                <a:cs typeface="Calibri"/>
                <a:sym typeface="Calibri"/>
              </a:rPr>
              <a:t>   ·  OGC WMS over CF-NetCDF</a:t>
            </a:r>
            <a:endParaRPr sz="1300"/>
          </a:p>
        </p:txBody>
      </p:sp>
      <p:sp>
        <p:nvSpPr>
          <p:cNvPr id="412" name="Google Shape;412;p30"/>
          <p:cNvSpPr txBox="1"/>
          <p:nvPr/>
        </p:nvSpPr>
        <p:spPr>
          <a:xfrm>
            <a:off x="178308" y="2317318"/>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12688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12"/>
              </a:rPr>
              <a:t>Signell &amp; Pothina 2019: Cloud coastal model analysis, JMSE 7(4):110</a:t>
            </a:r>
            <a:r>
              <a:rPr b="0" i="1" lang="en-GB" sz="800">
                <a:solidFill>
                  <a:srgbClr val="556471"/>
                </a:solidFill>
                <a:latin typeface="Calibri"/>
                <a:ea typeface="Calibri"/>
                <a:cs typeface="Calibri"/>
                <a:sym typeface="Calibri"/>
              </a:rPr>
              <a:t>   ·  why Zarr rather than whole NetCDF files</a:t>
            </a:r>
            <a:endParaRPr sz="1300"/>
          </a:p>
        </p:txBody>
      </p:sp>
      <p:sp>
        <p:nvSpPr>
          <p:cNvPr id="413" name="Google Shape;413;p30"/>
          <p:cNvSpPr txBox="1"/>
          <p:nvPr/>
        </p:nvSpPr>
        <p:spPr>
          <a:xfrm>
            <a:off x="178308" y="2425674"/>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12688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13"/>
              </a:rPr>
              <a:t>pyParaOcean (IISc): desktop ocean volumetrics we bring to the browser</a:t>
            </a:r>
            <a:r>
              <a:rPr b="0" i="0" lang="en-GB" sz="800">
                <a:solidFill>
                  <a:srgbClr val="556471"/>
                </a:solidFill>
                <a:latin typeface="Calibri"/>
                <a:ea typeface="Calibri"/>
                <a:cs typeface="Calibri"/>
                <a:sym typeface="Calibri"/>
              </a:rPr>
              <a:t> </a:t>
            </a:r>
            <a:endParaRPr sz="1300"/>
          </a:p>
        </p:txBody>
      </p:sp>
      <p:sp>
        <p:nvSpPr>
          <p:cNvPr id="414" name="Google Shape;414;p30"/>
          <p:cNvSpPr txBox="1"/>
          <p:nvPr/>
        </p:nvSpPr>
        <p:spPr>
          <a:xfrm>
            <a:off x="178308" y="2612897"/>
            <a:ext cx="58980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800">
                <a:solidFill>
                  <a:srgbClr val="0B2E4F"/>
                </a:solidFill>
                <a:latin typeface="Calibri"/>
                <a:ea typeface="Calibri"/>
                <a:cs typeface="Calibri"/>
                <a:sym typeface="Calibri"/>
              </a:rPr>
              <a:t>DATA SOURCES WE INGEST</a:t>
            </a:r>
            <a:endParaRPr sz="1300"/>
          </a:p>
        </p:txBody>
      </p:sp>
      <p:sp>
        <p:nvSpPr>
          <p:cNvPr id="415" name="Google Shape;415;p30"/>
          <p:cNvSpPr txBox="1"/>
          <p:nvPr/>
        </p:nvSpPr>
        <p:spPr>
          <a:xfrm>
            <a:off x="178308" y="2743199"/>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0B2E4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14"/>
              </a:rPr>
              <a:t>INCOIS ERDDAP: the analysis field, 24 levels, 5 to 2000 m</a:t>
            </a:r>
            <a:r>
              <a:rPr b="0" i="0" lang="en-GB" sz="800">
                <a:solidFill>
                  <a:srgbClr val="556471"/>
                </a:solidFill>
                <a:latin typeface="Calibri"/>
                <a:ea typeface="Calibri"/>
                <a:cs typeface="Calibri"/>
                <a:sym typeface="Calibri"/>
              </a:rPr>
              <a:t> </a:t>
            </a:r>
            <a:endParaRPr sz="1300"/>
          </a:p>
        </p:txBody>
      </p:sp>
      <p:sp>
        <p:nvSpPr>
          <p:cNvPr id="416" name="Google Shape;416;p30"/>
          <p:cNvSpPr txBox="1"/>
          <p:nvPr/>
        </p:nvSpPr>
        <p:spPr>
          <a:xfrm>
            <a:off x="178308" y="2851556"/>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0B2E4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15"/>
              </a:rPr>
              <a:t>Argo GDAC (Ifremer): Indian Ocean profile files</a:t>
            </a:r>
            <a:r>
              <a:rPr b="0" i="0" lang="en-GB" sz="800">
                <a:solidFill>
                  <a:srgbClr val="556471"/>
                </a:solidFill>
                <a:latin typeface="Calibri"/>
                <a:ea typeface="Calibri"/>
                <a:cs typeface="Calibri"/>
                <a:sym typeface="Calibri"/>
              </a:rPr>
              <a:t> </a:t>
            </a:r>
            <a:endParaRPr sz="1300"/>
          </a:p>
        </p:txBody>
      </p:sp>
      <p:sp>
        <p:nvSpPr>
          <p:cNvPr id="417" name="Google Shape;417;p30"/>
          <p:cNvSpPr txBox="1"/>
          <p:nvPr/>
        </p:nvSpPr>
        <p:spPr>
          <a:xfrm>
            <a:off x="178308" y="2959913"/>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0B2E4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16"/>
              </a:rPr>
              <a:t>Copernicus Marine: GLOBAL_ANALYSISFORECAST_PHY_001_024 currents</a:t>
            </a:r>
            <a:r>
              <a:rPr b="0" i="0" lang="en-GB" sz="800">
                <a:solidFill>
                  <a:srgbClr val="556471"/>
                </a:solidFill>
                <a:latin typeface="Calibri"/>
                <a:ea typeface="Calibri"/>
                <a:cs typeface="Calibri"/>
                <a:sym typeface="Calibri"/>
              </a:rPr>
              <a:t> </a:t>
            </a:r>
            <a:endParaRPr sz="1300"/>
          </a:p>
        </p:txBody>
      </p:sp>
      <p:sp>
        <p:nvSpPr>
          <p:cNvPr id="418" name="Google Shape;418;p30"/>
          <p:cNvSpPr txBox="1"/>
          <p:nvPr/>
        </p:nvSpPr>
        <p:spPr>
          <a:xfrm>
            <a:off x="178308" y="3068269"/>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0B2E4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17"/>
              </a:rPr>
              <a:t>NOAA PMEL: RAMA moored buoy array, Indian Ocean</a:t>
            </a:r>
            <a:r>
              <a:rPr b="0" i="0" lang="en-GB" sz="800">
                <a:solidFill>
                  <a:srgbClr val="556471"/>
                </a:solidFill>
                <a:latin typeface="Calibri"/>
                <a:ea typeface="Calibri"/>
                <a:cs typeface="Calibri"/>
                <a:sym typeface="Calibri"/>
              </a:rPr>
              <a:t> </a:t>
            </a:r>
            <a:endParaRPr sz="1300"/>
          </a:p>
        </p:txBody>
      </p:sp>
      <p:sp>
        <p:nvSpPr>
          <p:cNvPr id="419" name="Google Shape;419;p30"/>
          <p:cNvSpPr txBox="1"/>
          <p:nvPr/>
        </p:nvSpPr>
        <p:spPr>
          <a:xfrm>
            <a:off x="178308" y="3176625"/>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0B2E4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18"/>
              </a:rPr>
              <a:t>NDMA SACHET: India's national CAP alert backbone</a:t>
            </a:r>
            <a:r>
              <a:rPr b="0" i="0" lang="en-GB" sz="800">
                <a:solidFill>
                  <a:srgbClr val="556471"/>
                </a:solidFill>
                <a:latin typeface="Calibri"/>
                <a:ea typeface="Calibri"/>
                <a:cs typeface="Calibri"/>
                <a:sym typeface="Calibri"/>
              </a:rPr>
              <a:t> </a:t>
            </a:r>
            <a:endParaRPr sz="1300"/>
          </a:p>
        </p:txBody>
      </p:sp>
      <p:sp>
        <p:nvSpPr>
          <p:cNvPr id="420" name="Google Shape;420;p30"/>
          <p:cNvSpPr txBox="1"/>
          <p:nvPr/>
        </p:nvSpPr>
        <p:spPr>
          <a:xfrm>
            <a:off x="178308" y="3284981"/>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0B2E4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19"/>
              </a:rPr>
              <a:t>INCOIS: Indian National Centre for Ocean Information Services</a:t>
            </a:r>
            <a:r>
              <a:rPr b="0" i="0" lang="en-GB" sz="800">
                <a:solidFill>
                  <a:srgbClr val="556471"/>
                </a:solidFill>
                <a:latin typeface="Calibri"/>
                <a:ea typeface="Calibri"/>
                <a:cs typeface="Calibri"/>
                <a:sym typeface="Calibri"/>
              </a:rPr>
              <a:t> </a:t>
            </a:r>
            <a:endParaRPr sz="1300"/>
          </a:p>
        </p:txBody>
      </p:sp>
      <p:sp>
        <p:nvSpPr>
          <p:cNvPr id="421" name="Google Shape;421;p30"/>
          <p:cNvSpPr txBox="1"/>
          <p:nvPr/>
        </p:nvSpPr>
        <p:spPr>
          <a:xfrm>
            <a:off x="178308" y="3472205"/>
            <a:ext cx="5898000" cy="12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800">
                <a:solidFill>
                  <a:srgbClr val="B87A1F"/>
                </a:solidFill>
                <a:latin typeface="Calibri"/>
                <a:ea typeface="Calibri"/>
                <a:cs typeface="Calibri"/>
                <a:sym typeface="Calibri"/>
              </a:rPr>
              <a:t>OPEN STANDARDS IMPLEMENTED</a:t>
            </a:r>
            <a:endParaRPr sz="1300"/>
          </a:p>
        </p:txBody>
      </p:sp>
      <p:sp>
        <p:nvSpPr>
          <p:cNvPr id="422" name="Google Shape;422;p30"/>
          <p:cNvSpPr txBox="1"/>
          <p:nvPr/>
        </p:nvSpPr>
        <p:spPr>
          <a:xfrm>
            <a:off x="178308" y="3602507"/>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B87A1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20"/>
              </a:rPr>
              <a:t>CF Conventions for climate and forecast metadata</a:t>
            </a:r>
            <a:r>
              <a:rPr b="0" i="0" lang="en-GB" sz="800">
                <a:solidFill>
                  <a:srgbClr val="556471"/>
                </a:solidFill>
                <a:latin typeface="Calibri"/>
                <a:ea typeface="Calibri"/>
                <a:cs typeface="Calibri"/>
                <a:sym typeface="Calibri"/>
              </a:rPr>
              <a:t> </a:t>
            </a:r>
            <a:endParaRPr sz="1300"/>
          </a:p>
        </p:txBody>
      </p:sp>
      <p:sp>
        <p:nvSpPr>
          <p:cNvPr id="423" name="Google Shape;423;p30"/>
          <p:cNvSpPr txBox="1"/>
          <p:nvPr/>
        </p:nvSpPr>
        <p:spPr>
          <a:xfrm>
            <a:off x="178308" y="3710864"/>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B87A1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21"/>
              </a:rPr>
              <a:t>OGC Web Map Service (WMS) 1.3.0</a:t>
            </a:r>
            <a:r>
              <a:rPr b="0" i="0" lang="en-GB" sz="800">
                <a:solidFill>
                  <a:srgbClr val="556471"/>
                </a:solidFill>
                <a:latin typeface="Calibri"/>
                <a:ea typeface="Calibri"/>
                <a:cs typeface="Calibri"/>
                <a:sym typeface="Calibri"/>
              </a:rPr>
              <a:t> </a:t>
            </a:r>
            <a:endParaRPr sz="1300"/>
          </a:p>
        </p:txBody>
      </p:sp>
      <p:sp>
        <p:nvSpPr>
          <p:cNvPr id="424" name="Google Shape;424;p30"/>
          <p:cNvSpPr txBox="1"/>
          <p:nvPr/>
        </p:nvSpPr>
        <p:spPr>
          <a:xfrm>
            <a:off x="178308" y="3819220"/>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B87A1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22"/>
              </a:rPr>
              <a:t>OGC Web Coverage Service (WCS) 1.0.0</a:t>
            </a:r>
            <a:r>
              <a:rPr b="0" i="0" lang="en-GB" sz="800">
                <a:solidFill>
                  <a:srgbClr val="556471"/>
                </a:solidFill>
                <a:latin typeface="Calibri"/>
                <a:ea typeface="Calibri"/>
                <a:cs typeface="Calibri"/>
                <a:sym typeface="Calibri"/>
              </a:rPr>
              <a:t> </a:t>
            </a:r>
            <a:endParaRPr sz="1300"/>
          </a:p>
        </p:txBody>
      </p:sp>
      <p:sp>
        <p:nvSpPr>
          <p:cNvPr id="425" name="Google Shape;425;p30"/>
          <p:cNvSpPr txBox="1"/>
          <p:nvPr/>
        </p:nvSpPr>
        <p:spPr>
          <a:xfrm>
            <a:off x="178308" y="3927576"/>
            <a:ext cx="5898000" cy="110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700">
                <a:solidFill>
                  <a:srgbClr val="B87A1F"/>
                </a:solidFill>
                <a:latin typeface="Calibri"/>
                <a:ea typeface="Calibri"/>
                <a:cs typeface="Calibri"/>
                <a:sym typeface="Calibri"/>
              </a:rPr>
              <a:t>▪ </a:t>
            </a:r>
            <a:r>
              <a:rPr b="0" i="0" lang="en-GB" sz="800" u="sng">
                <a:solidFill>
                  <a:schemeClr val="hlink"/>
                </a:solidFill>
                <a:latin typeface="Calibri"/>
                <a:ea typeface="Calibri"/>
                <a:cs typeface="Calibri"/>
                <a:sym typeface="Calibri"/>
                <a:hlinkClick r:id="rId23"/>
              </a:rPr>
              <a:t>OASIS Common Alerting Protocol (CAP) v1.2</a:t>
            </a:r>
            <a:r>
              <a:rPr b="0" i="0" lang="en-GB" sz="800">
                <a:solidFill>
                  <a:srgbClr val="556471"/>
                </a:solidFill>
                <a:latin typeface="Calibri"/>
                <a:ea typeface="Calibri"/>
                <a:cs typeface="Calibri"/>
                <a:sym typeface="Calibri"/>
              </a:rPr>
              <a:t> </a:t>
            </a:r>
            <a:endParaRPr sz="1300"/>
          </a:p>
        </p:txBody>
      </p:sp>
      <p:sp>
        <p:nvSpPr>
          <p:cNvPr id="426" name="Google Shape;426;p30"/>
          <p:cNvSpPr/>
          <p:nvPr/>
        </p:nvSpPr>
        <p:spPr>
          <a:xfrm>
            <a:off x="178301" y="4155950"/>
            <a:ext cx="5181900" cy="635505"/>
          </a:xfrm>
          <a:prstGeom prst="rect">
            <a:avLst/>
          </a:prstGeom>
          <a:solidFill>
            <a:srgbClr val="EFF4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id="427" name="Google Shape;427;p30"/>
          <p:cNvSpPr txBox="1"/>
          <p:nvPr/>
        </p:nvSpPr>
        <p:spPr>
          <a:xfrm>
            <a:off x="274320" y="4217669"/>
            <a:ext cx="4114800" cy="9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a:solidFill>
                  <a:srgbClr val="0B2E4F"/>
                </a:solidFill>
                <a:latin typeface="Calibri"/>
                <a:ea typeface="Calibri"/>
                <a:cs typeface="Calibri"/>
                <a:sym typeface="Calibri"/>
              </a:rPr>
              <a:t>HOW THE RESEARCH CHANGED THE BUILD  ·  not a bibliography, a set of decisions</a:t>
            </a:r>
            <a:endParaRPr sz="1100"/>
          </a:p>
        </p:txBody>
      </p:sp>
      <p:sp>
        <p:nvSpPr>
          <p:cNvPr id="428" name="Google Shape;428;p30"/>
          <p:cNvSpPr txBox="1"/>
          <p:nvPr/>
        </p:nvSpPr>
        <p:spPr>
          <a:xfrm>
            <a:off x="310896" y="4389120"/>
            <a:ext cx="2468880" cy="20116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800">
                <a:solidFill>
                  <a:srgbClr val="C44528"/>
                </a:solidFill>
                <a:latin typeface="Calibri"/>
                <a:ea typeface="Calibri"/>
                <a:cs typeface="Calibri"/>
                <a:sym typeface="Calibri"/>
              </a:rPr>
              <a:t>Ryan 2015  →  verify in observation space</a:t>
            </a:r>
            <a:endParaRPr sz="1100"/>
          </a:p>
        </p:txBody>
      </p:sp>
      <p:sp>
        <p:nvSpPr>
          <p:cNvPr id="429" name="Google Shape;429;p30"/>
          <p:cNvSpPr txBox="1"/>
          <p:nvPr/>
        </p:nvSpPr>
        <p:spPr>
          <a:xfrm>
            <a:off x="2834640" y="4389120"/>
            <a:ext cx="2468880" cy="20116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800">
                <a:solidFill>
                  <a:srgbClr val="C44528"/>
                </a:solidFill>
                <a:latin typeface="Calibri"/>
                <a:ea typeface="Calibri"/>
                <a:cs typeface="Calibri"/>
                <a:sym typeface="Calibri"/>
              </a:rPr>
              <a:t>Wong 2020  →  QC flags 1 and 2 only</a:t>
            </a:r>
            <a:endParaRPr sz="1100"/>
          </a:p>
        </p:txBody>
      </p:sp>
      <p:sp>
        <p:nvSpPr>
          <p:cNvPr id="430" name="Google Shape;430;p30"/>
          <p:cNvSpPr txBox="1"/>
          <p:nvPr/>
        </p:nvSpPr>
        <p:spPr>
          <a:xfrm>
            <a:off x="310896" y="4590288"/>
            <a:ext cx="2468880" cy="20116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800">
                <a:solidFill>
                  <a:srgbClr val="C44528"/>
                </a:solidFill>
                <a:latin typeface="Calibri"/>
                <a:ea typeface="Calibri"/>
                <a:cs typeface="Calibri"/>
                <a:sym typeface="Calibri"/>
              </a:rPr>
              <a:t>Yu 2025  →  drop a slice that cannot change the picture</a:t>
            </a:r>
            <a:endParaRPr sz="1100"/>
          </a:p>
        </p:txBody>
      </p:sp>
      <p:sp>
        <p:nvSpPr>
          <p:cNvPr id="431" name="Google Shape;431;p30"/>
          <p:cNvSpPr txBox="1"/>
          <p:nvPr/>
        </p:nvSpPr>
        <p:spPr>
          <a:xfrm>
            <a:off x="2834640" y="4590288"/>
            <a:ext cx="2468880" cy="20116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GB" sz="800">
                <a:solidFill>
                  <a:srgbClr val="C44528"/>
                </a:solidFill>
                <a:latin typeface="Calibri"/>
                <a:ea typeface="Calibri"/>
                <a:cs typeface="Calibri"/>
                <a:sym typeface="Calibri"/>
              </a:rPr>
              <a:t>Signell 2019  →  Zarr chunks over HTTP range reads</a:t>
            </a:r>
            <a:endParaRPr sz="1100"/>
          </a:p>
        </p:txBody>
      </p:sp>
      <p:sp>
        <p:nvSpPr>
          <p:cNvPr id="432" name="Google Shape;432;p30"/>
          <p:cNvSpPr/>
          <p:nvPr/>
        </p:nvSpPr>
        <p:spPr>
          <a:xfrm>
            <a:off x="5618027" y="625399"/>
            <a:ext cx="3295800" cy="231000"/>
          </a:xfrm>
          <a:prstGeom prst="roundRect">
            <a:avLst>
              <a:gd fmla="val 32000" name="adj"/>
            </a:avLst>
          </a:prstGeom>
          <a:solidFill>
            <a:srgbClr val="C44528"/>
          </a:solidFill>
          <a:ln>
            <a:noFill/>
          </a:ln>
        </p:spPr>
        <p:txBody>
          <a:bodyPr anchorCtr="0" anchor="ctr" bIns="0" lIns="68575" spcFirstLastPara="1" rIns="41150" wrap="square" tIns="0">
            <a:noAutofit/>
          </a:bodyPr>
          <a:lstStyle/>
          <a:p>
            <a:pPr indent="0" lvl="0" marL="0" marR="0" rtl="0" algn="l">
              <a:spcBef>
                <a:spcPts val="0"/>
              </a:spcBef>
              <a:spcAft>
                <a:spcPts val="0"/>
              </a:spcAft>
              <a:buNone/>
            </a:pPr>
            <a:r>
              <a:rPr b="1" lang="en-GB" sz="900">
                <a:solidFill>
                  <a:srgbClr val="FFFFFF"/>
                </a:solidFill>
                <a:latin typeface="Calibri"/>
                <a:ea typeface="Calibri"/>
                <a:cs typeface="Calibri"/>
                <a:sym typeface="Calibri"/>
              </a:rPr>
              <a:t>                             </a:t>
            </a:r>
            <a:r>
              <a:rPr b="1" i="0" lang="en-GB" sz="900">
                <a:solidFill>
                  <a:srgbClr val="FFFFFF"/>
                </a:solidFill>
                <a:latin typeface="Calibri"/>
                <a:ea typeface="Calibri"/>
                <a:cs typeface="Calibri"/>
                <a:sym typeface="Calibri"/>
              </a:rPr>
              <a:t>WHERE WE SIT  ·  GAP ANALYSIS</a:t>
            </a:r>
            <a:endParaRPr sz="1200"/>
          </a:p>
        </p:txBody>
      </p:sp>
      <p:graphicFrame>
        <p:nvGraphicFramePr>
          <p:cNvPr id="433" name="Google Shape;433;p30"/>
          <p:cNvGraphicFramePr/>
          <p:nvPr/>
        </p:nvGraphicFramePr>
        <p:xfrm>
          <a:off x="5618020" y="941212"/>
          <a:ext cx="3000000" cy="3000000"/>
        </p:xfrm>
        <a:graphic>
          <a:graphicData uri="http://schemas.openxmlformats.org/drawingml/2006/table">
            <a:tbl>
              <a:tblPr bandRow="1" firstRow="1">
                <a:noFill/>
                <a:tableStyleId>{7BA62E27-8779-4C89-AAAB-776B91DDA70A}</a:tableStyleId>
              </a:tblPr>
              <a:tblGrid>
                <a:gridCol w="1321225"/>
                <a:gridCol w="506025"/>
                <a:gridCol w="506025"/>
                <a:gridCol w="506025"/>
                <a:gridCol w="506025"/>
              </a:tblGrid>
              <a:tr h="319400">
                <a:tc>
                  <a:txBody>
                    <a:bodyPr/>
                    <a:lstStyle/>
                    <a:p>
                      <a:pPr indent="0" lvl="0" marL="0" marR="0" rtl="0" algn="l">
                        <a:lnSpc>
                          <a:spcPct val="88000"/>
                        </a:lnSpc>
                        <a:spcBef>
                          <a:spcPts val="0"/>
                        </a:spcBef>
                        <a:spcAft>
                          <a:spcPts val="0"/>
                        </a:spcAft>
                        <a:buNone/>
                      </a:pPr>
                      <a:r>
                        <a:rPr b="1" i="0" lang="en-GB" sz="600" u="none" cap="none" strike="noStrike">
                          <a:solidFill>
                            <a:srgbClr val="FFFFFF"/>
                          </a:solidFill>
                          <a:latin typeface="Calibri"/>
                          <a:ea typeface="Calibri"/>
                          <a:cs typeface="Calibri"/>
                          <a:sym typeface="Calibri"/>
                        </a:rPr>
                        <a:t>Capability</a:t>
                      </a:r>
                      <a:endParaRPr sz="1100"/>
                    </a:p>
                  </a:txBody>
                  <a:tcPr marT="0" marB="0" marR="20575" marL="34300" anchor="ctr">
                    <a:solidFill>
                      <a:srgbClr val="0B2E4F"/>
                    </a:solidFill>
                  </a:tcPr>
                </a:tc>
                <a:tc>
                  <a:txBody>
                    <a:bodyPr/>
                    <a:lstStyle/>
                    <a:p>
                      <a:pPr indent="0" lvl="0" marL="0" marR="0" rtl="0" algn="ctr">
                        <a:lnSpc>
                          <a:spcPct val="88000"/>
                        </a:lnSpc>
                        <a:spcBef>
                          <a:spcPts val="0"/>
                        </a:spcBef>
                        <a:spcAft>
                          <a:spcPts val="0"/>
                        </a:spcAft>
                        <a:buNone/>
                      </a:pPr>
                      <a:r>
                        <a:rPr b="1" i="0" lang="en-GB" sz="600" u="none" cap="none" strike="noStrike">
                          <a:solidFill>
                            <a:srgbClr val="FFFFFF"/>
                          </a:solidFill>
                          <a:latin typeface="Calibri"/>
                          <a:ea typeface="Calibri"/>
                          <a:cs typeface="Calibri"/>
                          <a:sym typeface="Calibri"/>
                        </a:rPr>
                        <a:t>Desktop</a:t>
                      </a:r>
                      <a:br>
                        <a:rPr b="1" i="0" lang="en-GB" sz="600" u="none" cap="none" strike="noStrike">
                          <a:solidFill>
                            <a:srgbClr val="FFFFFF"/>
                          </a:solidFill>
                          <a:latin typeface="Calibri"/>
                          <a:ea typeface="Calibri"/>
                          <a:cs typeface="Calibri"/>
                          <a:sym typeface="Calibri"/>
                        </a:rPr>
                      </a:br>
                      <a:r>
                        <a:rPr b="1" i="0" lang="en-GB" sz="600" u="none" cap="none" strike="noStrike">
                          <a:solidFill>
                            <a:srgbClr val="FFFFFF"/>
                          </a:solidFill>
                          <a:latin typeface="Calibri"/>
                          <a:ea typeface="Calibri"/>
                          <a:cs typeface="Calibri"/>
                          <a:sym typeface="Calibri"/>
                        </a:rPr>
                        <a:t>tools</a:t>
                      </a:r>
                      <a:endParaRPr sz="1100"/>
                    </a:p>
                  </a:txBody>
                  <a:tcPr marT="0" marB="0" marR="20575" marL="34300" anchor="ctr">
                    <a:solidFill>
                      <a:srgbClr val="0B2E4F"/>
                    </a:solidFill>
                  </a:tcPr>
                </a:tc>
                <a:tc>
                  <a:txBody>
                    <a:bodyPr/>
                    <a:lstStyle/>
                    <a:p>
                      <a:pPr indent="0" lvl="0" marL="0" marR="0" rtl="0" algn="ctr">
                        <a:lnSpc>
                          <a:spcPct val="88000"/>
                        </a:lnSpc>
                        <a:spcBef>
                          <a:spcPts val="0"/>
                        </a:spcBef>
                        <a:spcAft>
                          <a:spcPts val="0"/>
                        </a:spcAft>
                        <a:buNone/>
                      </a:pPr>
                      <a:r>
                        <a:rPr b="1" i="0" lang="en-GB" sz="600" u="none" cap="none" strike="noStrike">
                          <a:solidFill>
                            <a:srgbClr val="FFFFFF"/>
                          </a:solidFill>
                          <a:latin typeface="Calibri"/>
                          <a:ea typeface="Calibri"/>
                          <a:cs typeface="Calibri"/>
                          <a:sym typeface="Calibri"/>
                        </a:rPr>
                        <a:t>Web</a:t>
                      </a:r>
                      <a:br>
                        <a:rPr b="1" i="0" lang="en-GB" sz="600" u="none" cap="none" strike="noStrike">
                          <a:solidFill>
                            <a:srgbClr val="FFFFFF"/>
                          </a:solidFill>
                          <a:latin typeface="Calibri"/>
                          <a:ea typeface="Calibri"/>
                          <a:cs typeface="Calibri"/>
                          <a:sym typeface="Calibri"/>
                        </a:rPr>
                      </a:br>
                      <a:r>
                        <a:rPr b="1" i="0" lang="en-GB" sz="600" u="none" cap="none" strike="noStrike">
                          <a:solidFill>
                            <a:srgbClr val="FFFFFF"/>
                          </a:solidFill>
                          <a:latin typeface="Calibri"/>
                          <a:ea typeface="Calibri"/>
                          <a:cs typeface="Calibri"/>
                          <a:sym typeface="Calibri"/>
                        </a:rPr>
                        <a:t>viewers</a:t>
                      </a:r>
                      <a:endParaRPr sz="1100"/>
                    </a:p>
                  </a:txBody>
                  <a:tcPr marT="0" marB="0" marR="20575" marL="34300" anchor="ctr">
                    <a:solidFill>
                      <a:srgbClr val="0B2E4F"/>
                    </a:solidFill>
                  </a:tcPr>
                </a:tc>
                <a:tc>
                  <a:txBody>
                    <a:bodyPr/>
                    <a:lstStyle/>
                    <a:p>
                      <a:pPr indent="0" lvl="0" marL="0" marR="0" rtl="0" algn="ctr">
                        <a:lnSpc>
                          <a:spcPct val="88000"/>
                        </a:lnSpc>
                        <a:spcBef>
                          <a:spcPts val="0"/>
                        </a:spcBef>
                        <a:spcAft>
                          <a:spcPts val="0"/>
                        </a:spcAft>
                        <a:buNone/>
                      </a:pPr>
                      <a:r>
                        <a:rPr b="1" i="0" lang="en-GB" sz="600" u="none" cap="none" strike="noStrike">
                          <a:solidFill>
                            <a:srgbClr val="FFFFFF"/>
                          </a:solidFill>
                          <a:latin typeface="Calibri"/>
                          <a:ea typeface="Calibri"/>
                          <a:cs typeface="Calibri"/>
                          <a:sym typeface="Calibri"/>
                        </a:rPr>
                        <a:t>Digital</a:t>
                      </a:r>
                      <a:br>
                        <a:rPr b="1" i="0" lang="en-GB" sz="600" u="none" cap="none" strike="noStrike">
                          <a:solidFill>
                            <a:srgbClr val="FFFFFF"/>
                          </a:solidFill>
                          <a:latin typeface="Calibri"/>
                          <a:ea typeface="Calibri"/>
                          <a:cs typeface="Calibri"/>
                          <a:sym typeface="Calibri"/>
                        </a:rPr>
                      </a:br>
                      <a:r>
                        <a:rPr b="1" i="0" lang="en-GB" sz="600" u="none" cap="none" strike="noStrike">
                          <a:solidFill>
                            <a:srgbClr val="FFFFFF"/>
                          </a:solidFill>
                          <a:latin typeface="Calibri"/>
                          <a:ea typeface="Calibri"/>
                          <a:cs typeface="Calibri"/>
                          <a:sym typeface="Calibri"/>
                        </a:rPr>
                        <a:t>Ocean</a:t>
                      </a:r>
                      <a:endParaRPr sz="1100"/>
                    </a:p>
                  </a:txBody>
                  <a:tcPr marT="0" marB="0" marR="20575" marL="34300" anchor="ctr">
                    <a:solidFill>
                      <a:srgbClr val="0B2E4F"/>
                    </a:solidFill>
                  </a:tcPr>
                </a:tc>
                <a:tc>
                  <a:txBody>
                    <a:bodyPr/>
                    <a:lstStyle/>
                    <a:p>
                      <a:pPr indent="0" lvl="0" marL="0" marR="0" rtl="0" algn="ctr">
                        <a:lnSpc>
                          <a:spcPct val="88000"/>
                        </a:lnSpc>
                        <a:spcBef>
                          <a:spcPts val="0"/>
                        </a:spcBef>
                        <a:spcAft>
                          <a:spcPts val="0"/>
                        </a:spcAft>
                        <a:buNone/>
                      </a:pPr>
                      <a:r>
                        <a:rPr b="1" i="0" lang="en-GB" sz="600" u="none" cap="none" strike="noStrike">
                          <a:solidFill>
                            <a:srgbClr val="FFFFFF"/>
                          </a:solidFill>
                          <a:latin typeface="Calibri"/>
                          <a:ea typeface="Calibri"/>
                          <a:cs typeface="Calibri"/>
                          <a:sym typeface="Calibri"/>
                        </a:rPr>
                        <a:t>Sagar</a:t>
                      </a:r>
                      <a:br>
                        <a:rPr b="1" i="0" lang="en-GB" sz="600" u="none" cap="none" strike="noStrike">
                          <a:solidFill>
                            <a:srgbClr val="FFFFFF"/>
                          </a:solidFill>
                          <a:latin typeface="Calibri"/>
                          <a:ea typeface="Calibri"/>
                          <a:cs typeface="Calibri"/>
                          <a:sym typeface="Calibri"/>
                        </a:rPr>
                      </a:br>
                      <a:r>
                        <a:rPr b="1" i="0" lang="en-GB" sz="600" u="none" cap="none" strike="noStrike">
                          <a:solidFill>
                            <a:srgbClr val="FFFFFF"/>
                          </a:solidFill>
                          <a:latin typeface="Calibri"/>
                          <a:ea typeface="Calibri"/>
                          <a:cs typeface="Calibri"/>
                          <a:sym typeface="Calibri"/>
                        </a:rPr>
                        <a:t>Drishti</a:t>
                      </a:r>
                      <a:endParaRPr sz="1100"/>
                    </a:p>
                  </a:txBody>
                  <a:tcPr marT="0" marB="0" marR="20575" marL="34300" anchor="ctr">
                    <a:solidFill>
                      <a:srgbClr val="C44528"/>
                    </a:solidFill>
                  </a:tcPr>
                </a:tc>
              </a:tr>
              <a:tr h="208025">
                <a:tc>
                  <a:txBody>
                    <a:bodyPr/>
                    <a:lstStyle/>
                    <a:p>
                      <a:pPr indent="0" lvl="0" marL="0" marR="0" rtl="0" algn="l">
                        <a:lnSpc>
                          <a:spcPct val="88000"/>
                        </a:lnSpc>
                        <a:spcBef>
                          <a:spcPts val="0"/>
                        </a:spcBef>
                        <a:spcAft>
                          <a:spcPts val="0"/>
                        </a:spcAft>
                        <a:buNone/>
                      </a:pPr>
                      <a:r>
                        <a:rPr b="0" i="0" lang="en-GB" sz="700" u="none" cap="none" strike="noStrike">
                          <a:solidFill>
                            <a:srgbClr val="14202B"/>
                          </a:solidFill>
                          <a:latin typeface="Calibri"/>
                          <a:ea typeface="Calibri"/>
                          <a:cs typeface="Calibri"/>
                          <a:sym typeface="Calibri"/>
                        </a:rPr>
                        <a:t>Browser-native, no install</a:t>
                      </a:r>
                      <a:endParaRPr sz="1200"/>
                    </a:p>
                  </a:txBody>
                  <a:tcPr marT="0" marB="0" marR="20575" marL="34300" anchor="ctr">
                    <a:solidFill>
                      <a:srgbClr val="FFFFFF"/>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B03A28"/>
                          </a:solidFill>
                          <a:latin typeface="Calibri"/>
                          <a:ea typeface="Calibri"/>
                          <a:cs typeface="Calibri"/>
                          <a:sym typeface="Calibri"/>
                        </a:rPr>
                        <a:t>✘</a:t>
                      </a:r>
                      <a:endParaRPr sz="1100"/>
                    </a:p>
                  </a:txBody>
                  <a:tcPr marT="0" marB="0" marR="20575" marL="34300" anchor="ctr">
                    <a:solidFill>
                      <a:srgbClr val="FFFFFF"/>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0E7A5F"/>
                          </a:solidFill>
                          <a:latin typeface="Calibri"/>
                          <a:ea typeface="Calibri"/>
                          <a:cs typeface="Calibri"/>
                          <a:sym typeface="Calibri"/>
                        </a:rPr>
                        <a:t>✔</a:t>
                      </a:r>
                      <a:endParaRPr sz="1100"/>
                    </a:p>
                  </a:txBody>
                  <a:tcPr marT="0" marB="0" marR="20575" marL="34300" anchor="ctr">
                    <a:solidFill>
                      <a:srgbClr val="FFFFFF"/>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0E7A5F"/>
                          </a:solidFill>
                          <a:latin typeface="Calibri"/>
                          <a:ea typeface="Calibri"/>
                          <a:cs typeface="Calibri"/>
                          <a:sym typeface="Calibri"/>
                        </a:rPr>
                        <a:t>✔</a:t>
                      </a:r>
                      <a:endParaRPr sz="1100"/>
                    </a:p>
                  </a:txBody>
                  <a:tcPr marT="0" marB="0" marR="20575" marL="34300" anchor="ctr">
                    <a:solidFill>
                      <a:srgbClr val="FFFFFF"/>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0E7A5F"/>
                          </a:solidFill>
                          <a:latin typeface="Calibri"/>
                          <a:ea typeface="Calibri"/>
                          <a:cs typeface="Calibri"/>
                          <a:sym typeface="Calibri"/>
                        </a:rPr>
                        <a:t>✔</a:t>
                      </a:r>
                      <a:endParaRPr sz="1100"/>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None/>
                      </a:pPr>
                      <a:r>
                        <a:rPr b="0" i="0" lang="en-GB" sz="700" u="none" cap="none" strike="noStrike">
                          <a:solidFill>
                            <a:srgbClr val="14202B"/>
                          </a:solidFill>
                          <a:latin typeface="Calibri"/>
                          <a:ea typeface="Calibri"/>
                          <a:cs typeface="Calibri"/>
                          <a:sym typeface="Calibri"/>
                        </a:rPr>
                        <a:t>True volumetric water column</a:t>
                      </a:r>
                      <a:endParaRPr sz="1200"/>
                    </a:p>
                  </a:txBody>
                  <a:tcPr marT="0" marB="0" marR="20575" marL="34300" anchor="ctr">
                    <a:solidFill>
                      <a:srgbClr val="EFF4F7"/>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0E7A5F"/>
                          </a:solidFill>
                          <a:latin typeface="Calibri"/>
                          <a:ea typeface="Calibri"/>
                          <a:cs typeface="Calibri"/>
                          <a:sym typeface="Calibri"/>
                        </a:rPr>
                        <a:t>✔</a:t>
                      </a:r>
                      <a:endParaRPr sz="1100"/>
                    </a:p>
                  </a:txBody>
                  <a:tcPr marT="0" marB="0" marR="20575" marL="34300" anchor="ctr">
                    <a:solidFill>
                      <a:srgbClr val="EFF4F7"/>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B03A28"/>
                          </a:solidFill>
                          <a:latin typeface="Calibri"/>
                          <a:ea typeface="Calibri"/>
                          <a:cs typeface="Calibri"/>
                          <a:sym typeface="Calibri"/>
                        </a:rPr>
                        <a:t>✘</a:t>
                      </a:r>
                      <a:endParaRPr sz="1100"/>
                    </a:p>
                  </a:txBody>
                  <a:tcPr marT="0" marB="0" marR="20575" marL="34300" anchor="ctr">
                    <a:solidFill>
                      <a:srgbClr val="EFF4F7"/>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B87A1F"/>
                          </a:solidFill>
                          <a:latin typeface="Calibri"/>
                          <a:ea typeface="Calibri"/>
                          <a:cs typeface="Calibri"/>
                          <a:sym typeface="Calibri"/>
                        </a:rPr>
                        <a:t>~</a:t>
                      </a:r>
                      <a:endParaRPr sz="1100"/>
                    </a:p>
                  </a:txBody>
                  <a:tcPr marT="0" marB="0" marR="20575" marL="34300" anchor="ctr">
                    <a:solidFill>
                      <a:srgbClr val="EFF4F7"/>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0E7A5F"/>
                          </a:solidFill>
                          <a:latin typeface="Calibri"/>
                          <a:ea typeface="Calibri"/>
                          <a:cs typeface="Calibri"/>
                          <a:sym typeface="Calibri"/>
                        </a:rPr>
                        <a:t>✔</a:t>
                      </a:r>
                      <a:endParaRPr sz="1100"/>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None/>
                      </a:pPr>
                      <a:r>
                        <a:rPr b="0" i="0" lang="en-GB" sz="700" u="none" cap="none" strike="noStrike">
                          <a:solidFill>
                            <a:srgbClr val="14202B"/>
                          </a:solidFill>
                          <a:latin typeface="Calibri"/>
                          <a:ea typeface="Calibri"/>
                          <a:cs typeface="Calibri"/>
                          <a:sym typeface="Calibri"/>
                        </a:rPr>
                        <a:t>Model + in-situ in ONE 3D scene</a:t>
                      </a:r>
                      <a:endParaRPr sz="1200"/>
                    </a:p>
                  </a:txBody>
                  <a:tcPr marT="0" marB="0" marR="20575" marL="34300" anchor="ctr">
                    <a:solidFill>
                      <a:srgbClr val="FFFFFF"/>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B03A28"/>
                          </a:solidFill>
                          <a:latin typeface="Calibri"/>
                          <a:ea typeface="Calibri"/>
                          <a:cs typeface="Calibri"/>
                          <a:sym typeface="Calibri"/>
                        </a:rPr>
                        <a:t>✘</a:t>
                      </a:r>
                      <a:endParaRPr sz="1100"/>
                    </a:p>
                  </a:txBody>
                  <a:tcPr marT="0" marB="0" marR="20575" marL="34300" anchor="ctr">
                    <a:solidFill>
                      <a:srgbClr val="FFFFFF"/>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B03A28"/>
                          </a:solidFill>
                          <a:latin typeface="Calibri"/>
                          <a:ea typeface="Calibri"/>
                          <a:cs typeface="Calibri"/>
                          <a:sym typeface="Calibri"/>
                        </a:rPr>
                        <a:t>✘</a:t>
                      </a:r>
                      <a:endParaRPr sz="1100"/>
                    </a:p>
                  </a:txBody>
                  <a:tcPr marT="0" marB="0" marR="20575" marL="34300" anchor="ctr">
                    <a:solidFill>
                      <a:srgbClr val="FFFFFF"/>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B87A1F"/>
                          </a:solidFill>
                          <a:latin typeface="Calibri"/>
                          <a:ea typeface="Calibri"/>
                          <a:cs typeface="Calibri"/>
                          <a:sym typeface="Calibri"/>
                        </a:rPr>
                        <a:t>~</a:t>
                      </a:r>
                      <a:endParaRPr sz="1100"/>
                    </a:p>
                  </a:txBody>
                  <a:tcPr marT="0" marB="0" marR="20575" marL="34300" anchor="ctr">
                    <a:solidFill>
                      <a:srgbClr val="FFFFFF"/>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0E7A5F"/>
                          </a:solidFill>
                          <a:latin typeface="Calibri"/>
                          <a:ea typeface="Calibri"/>
                          <a:cs typeface="Calibri"/>
                          <a:sym typeface="Calibri"/>
                        </a:rPr>
                        <a:t>✔</a:t>
                      </a:r>
                      <a:endParaRPr sz="1100"/>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None/>
                      </a:pPr>
                      <a:r>
                        <a:rPr b="0" i="0" lang="en-GB" sz="700" u="none" cap="none" strike="noStrike">
                          <a:solidFill>
                            <a:srgbClr val="14202B"/>
                          </a:solidFill>
                          <a:latin typeface="Calibri"/>
                          <a:ea typeface="Calibri"/>
                          <a:cs typeface="Calibri"/>
                          <a:sym typeface="Calibri"/>
                        </a:rPr>
                        <a:t>Model-vs-observation skill on screen</a:t>
                      </a:r>
                      <a:endParaRPr sz="1200"/>
                    </a:p>
                  </a:txBody>
                  <a:tcPr marT="0" marB="0" marR="20575" marL="34300" anchor="ctr">
                    <a:solidFill>
                      <a:srgbClr val="EFF4F7"/>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B03A28"/>
                          </a:solidFill>
                          <a:latin typeface="Calibri"/>
                          <a:ea typeface="Calibri"/>
                          <a:cs typeface="Calibri"/>
                          <a:sym typeface="Calibri"/>
                        </a:rPr>
                        <a:t>✘</a:t>
                      </a:r>
                      <a:endParaRPr sz="1100"/>
                    </a:p>
                  </a:txBody>
                  <a:tcPr marT="0" marB="0" marR="20575" marL="34300" anchor="ctr">
                    <a:solidFill>
                      <a:srgbClr val="EFF4F7"/>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B03A28"/>
                          </a:solidFill>
                          <a:latin typeface="Calibri"/>
                          <a:ea typeface="Calibri"/>
                          <a:cs typeface="Calibri"/>
                          <a:sym typeface="Calibri"/>
                        </a:rPr>
                        <a:t>✘</a:t>
                      </a:r>
                      <a:endParaRPr sz="1100"/>
                    </a:p>
                  </a:txBody>
                  <a:tcPr marT="0" marB="0" marR="20575" marL="34300" anchor="ctr">
                    <a:solidFill>
                      <a:srgbClr val="EFF4F7"/>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B03A28"/>
                          </a:solidFill>
                          <a:latin typeface="Calibri"/>
                          <a:ea typeface="Calibri"/>
                          <a:cs typeface="Calibri"/>
                          <a:sym typeface="Calibri"/>
                        </a:rPr>
                        <a:t>✘</a:t>
                      </a:r>
                      <a:endParaRPr sz="1100"/>
                    </a:p>
                  </a:txBody>
                  <a:tcPr marT="0" marB="0" marR="20575" marL="34300" anchor="ctr">
                    <a:solidFill>
                      <a:srgbClr val="EFF4F7"/>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0E7A5F"/>
                          </a:solidFill>
                          <a:latin typeface="Calibri"/>
                          <a:ea typeface="Calibri"/>
                          <a:cs typeface="Calibri"/>
                          <a:sym typeface="Calibri"/>
                        </a:rPr>
                        <a:t>✔</a:t>
                      </a:r>
                      <a:endParaRPr sz="1100"/>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None/>
                      </a:pPr>
                      <a:r>
                        <a:rPr b="0" i="0" lang="en-GB" sz="700" u="none" cap="none" strike="noStrike">
                          <a:solidFill>
                            <a:srgbClr val="14202B"/>
                          </a:solidFill>
                          <a:latin typeface="Calibri"/>
                          <a:ea typeface="Calibri"/>
                          <a:cs typeface="Calibri"/>
                          <a:sym typeface="Calibri"/>
                        </a:rPr>
                        <a:t>CAP hazard layer in ocean context</a:t>
                      </a:r>
                      <a:endParaRPr sz="1200"/>
                    </a:p>
                  </a:txBody>
                  <a:tcPr marT="0" marB="0" marR="20575" marL="34300" anchor="ctr">
                    <a:solidFill>
                      <a:srgbClr val="FFFFFF"/>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B03A28"/>
                          </a:solidFill>
                          <a:latin typeface="Calibri"/>
                          <a:ea typeface="Calibri"/>
                          <a:cs typeface="Calibri"/>
                          <a:sym typeface="Calibri"/>
                        </a:rPr>
                        <a:t>✘</a:t>
                      </a:r>
                      <a:endParaRPr sz="1100"/>
                    </a:p>
                  </a:txBody>
                  <a:tcPr marT="0" marB="0" marR="20575" marL="34300" anchor="ctr">
                    <a:solidFill>
                      <a:srgbClr val="FFFFFF"/>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B03A28"/>
                          </a:solidFill>
                          <a:latin typeface="Calibri"/>
                          <a:ea typeface="Calibri"/>
                          <a:cs typeface="Calibri"/>
                          <a:sym typeface="Calibri"/>
                        </a:rPr>
                        <a:t>✘</a:t>
                      </a:r>
                      <a:endParaRPr sz="1100"/>
                    </a:p>
                  </a:txBody>
                  <a:tcPr marT="0" marB="0" marR="20575" marL="34300" anchor="ctr">
                    <a:solidFill>
                      <a:srgbClr val="FFFFFF"/>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B03A28"/>
                          </a:solidFill>
                          <a:latin typeface="Calibri"/>
                          <a:ea typeface="Calibri"/>
                          <a:cs typeface="Calibri"/>
                          <a:sym typeface="Calibri"/>
                        </a:rPr>
                        <a:t>✘</a:t>
                      </a:r>
                      <a:endParaRPr sz="1100"/>
                    </a:p>
                  </a:txBody>
                  <a:tcPr marT="0" marB="0" marR="20575" marL="34300" anchor="ctr">
                    <a:solidFill>
                      <a:srgbClr val="FFFFFF"/>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0E7A5F"/>
                          </a:solidFill>
                          <a:latin typeface="Calibri"/>
                          <a:ea typeface="Calibri"/>
                          <a:cs typeface="Calibri"/>
                          <a:sym typeface="Calibri"/>
                        </a:rPr>
                        <a:t>✔</a:t>
                      </a:r>
                      <a:endParaRPr sz="1100"/>
                    </a:p>
                  </a:txBody>
                  <a:tcPr marT="0" marB="0" marR="20575" marL="34300" anchor="ctr">
                    <a:solidFill>
                      <a:srgbClr val="FBEEEA"/>
                    </a:solidFill>
                  </a:tcPr>
                </a:tc>
              </a:tr>
              <a:tr h="208025">
                <a:tc>
                  <a:txBody>
                    <a:bodyPr/>
                    <a:lstStyle/>
                    <a:p>
                      <a:pPr indent="0" lvl="0" marL="0" marR="0" rtl="0" algn="l">
                        <a:lnSpc>
                          <a:spcPct val="88000"/>
                        </a:lnSpc>
                        <a:spcBef>
                          <a:spcPts val="0"/>
                        </a:spcBef>
                        <a:spcAft>
                          <a:spcPts val="0"/>
                        </a:spcAft>
                        <a:buNone/>
                      </a:pPr>
                      <a:r>
                        <a:rPr b="0" i="0" lang="en-GB" sz="700" u="none" cap="none" strike="noStrike">
                          <a:solidFill>
                            <a:srgbClr val="14202B"/>
                          </a:solidFill>
                          <a:latin typeface="Calibri"/>
                          <a:ea typeface="Calibri"/>
                          <a:cs typeface="Calibri"/>
                          <a:sym typeface="Calibri"/>
                        </a:rPr>
                        <a:t>Runs fully offline / air-gapped</a:t>
                      </a:r>
                      <a:endParaRPr sz="1200"/>
                    </a:p>
                  </a:txBody>
                  <a:tcPr marT="0" marB="0" marR="20575" marL="34300" anchor="ctr">
                    <a:solidFill>
                      <a:srgbClr val="EFF4F7"/>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0E7A5F"/>
                          </a:solidFill>
                          <a:latin typeface="Calibri"/>
                          <a:ea typeface="Calibri"/>
                          <a:cs typeface="Calibri"/>
                          <a:sym typeface="Calibri"/>
                        </a:rPr>
                        <a:t>✔</a:t>
                      </a:r>
                      <a:endParaRPr sz="1100"/>
                    </a:p>
                  </a:txBody>
                  <a:tcPr marT="0" marB="0" marR="20575" marL="34300" anchor="ctr">
                    <a:solidFill>
                      <a:srgbClr val="EFF4F7"/>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B03A28"/>
                          </a:solidFill>
                          <a:latin typeface="Calibri"/>
                          <a:ea typeface="Calibri"/>
                          <a:cs typeface="Calibri"/>
                          <a:sym typeface="Calibri"/>
                        </a:rPr>
                        <a:t>✘</a:t>
                      </a:r>
                      <a:endParaRPr sz="1100"/>
                    </a:p>
                  </a:txBody>
                  <a:tcPr marT="0" marB="0" marR="20575" marL="34300" anchor="ctr">
                    <a:solidFill>
                      <a:srgbClr val="EFF4F7"/>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B03A28"/>
                          </a:solidFill>
                          <a:latin typeface="Calibri"/>
                          <a:ea typeface="Calibri"/>
                          <a:cs typeface="Calibri"/>
                          <a:sym typeface="Calibri"/>
                        </a:rPr>
                        <a:t>✘</a:t>
                      </a:r>
                      <a:endParaRPr sz="1100"/>
                    </a:p>
                  </a:txBody>
                  <a:tcPr marT="0" marB="0" marR="20575" marL="34300" anchor="ctr">
                    <a:solidFill>
                      <a:srgbClr val="EFF4F7"/>
                    </a:solidFill>
                  </a:tcPr>
                </a:tc>
                <a:tc>
                  <a:txBody>
                    <a:bodyPr/>
                    <a:lstStyle/>
                    <a:p>
                      <a:pPr indent="0" lvl="0" marL="0" marR="0" rtl="0" algn="ctr">
                        <a:lnSpc>
                          <a:spcPct val="88000"/>
                        </a:lnSpc>
                        <a:spcBef>
                          <a:spcPts val="0"/>
                        </a:spcBef>
                        <a:spcAft>
                          <a:spcPts val="0"/>
                        </a:spcAft>
                        <a:buNone/>
                      </a:pPr>
                      <a:r>
                        <a:rPr b="1" i="0" lang="en-GB" sz="800" u="none" cap="none" strike="noStrike">
                          <a:solidFill>
                            <a:srgbClr val="0E7A5F"/>
                          </a:solidFill>
                          <a:latin typeface="Calibri"/>
                          <a:ea typeface="Calibri"/>
                          <a:cs typeface="Calibri"/>
                          <a:sym typeface="Calibri"/>
                        </a:rPr>
                        <a:t>✔</a:t>
                      </a:r>
                      <a:endParaRPr sz="1100"/>
                    </a:p>
                  </a:txBody>
                  <a:tcPr marT="0" marB="0" marR="20575" marL="34300" anchor="ctr">
                    <a:solidFill>
                      <a:srgbClr val="FBEEEA"/>
                    </a:solidFill>
                  </a:tcPr>
                </a:tc>
              </a:tr>
            </a:tbl>
          </a:graphicData>
        </a:graphic>
      </p:graphicFrame>
      <p:sp>
        <p:nvSpPr>
          <p:cNvPr id="434" name="Google Shape;434;p30"/>
          <p:cNvSpPr txBox="1"/>
          <p:nvPr/>
        </p:nvSpPr>
        <p:spPr>
          <a:xfrm>
            <a:off x="5628576" y="2576894"/>
            <a:ext cx="33348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GB" sz="900">
                <a:solidFill>
                  <a:srgbClr val="556471"/>
                </a:solidFill>
                <a:latin typeface="Calibri"/>
                <a:ea typeface="Calibri"/>
                <a:cs typeface="Calibri"/>
                <a:sym typeface="Calibri"/>
              </a:rPr>
              <a:t>Desktop tools: ODV, IDV, pyParaOcean.  Web viewers: Argovis, MyOcean.  INCOIS's Digital Ocean portal advertises 3D and 4D; what it does not do is fuse instruments into the volume or publish model skill beside the field.</a:t>
            </a:r>
            <a:endParaRPr/>
          </a:p>
        </p:txBody>
      </p:sp>
      <p:sp>
        <p:nvSpPr>
          <p:cNvPr id="435" name="Google Shape;435;p30"/>
          <p:cNvSpPr/>
          <p:nvPr/>
        </p:nvSpPr>
        <p:spPr>
          <a:xfrm>
            <a:off x="5628575" y="3163700"/>
            <a:ext cx="3285300" cy="1481700"/>
          </a:xfrm>
          <a:prstGeom prst="rect">
            <a:avLst/>
          </a:prstGeom>
          <a:solidFill>
            <a:srgbClr val="EFF4F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a:t/>
            </a:r>
            <a:endParaRPr sz="1400">
              <a:solidFill>
                <a:schemeClr val="dk1"/>
              </a:solidFill>
              <a:latin typeface="Calibri"/>
              <a:ea typeface="Calibri"/>
              <a:cs typeface="Calibri"/>
              <a:sym typeface="Calibri"/>
            </a:endParaRPr>
          </a:p>
        </p:txBody>
      </p:sp>
      <p:sp>
        <p:nvSpPr>
          <p:cNvPr descr="Your startup LOGO" id="437" name="Google Shape;437;p30"/>
          <p:cNvSpPr/>
          <p:nvPr/>
        </p:nvSpPr>
        <p:spPr>
          <a:xfrm>
            <a:off x="112625" y="78400"/>
            <a:ext cx="1089300" cy="6054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rtl="0" algn="l">
              <a:lnSpc>
                <a:spcPct val="95000"/>
              </a:lnSpc>
              <a:spcBef>
                <a:spcPts val="400"/>
              </a:spcBef>
              <a:spcAft>
                <a:spcPts val="0"/>
              </a:spcAft>
              <a:buClr>
                <a:schemeClr val="dk1"/>
              </a:buClr>
              <a:buFont typeface="Arial"/>
              <a:buNone/>
            </a:pPr>
            <a:r>
              <a:rPr b="1" lang="en-GB" sz="1200">
                <a:solidFill>
                  <a:srgbClr val="FF0000"/>
                </a:solidFill>
                <a:latin typeface="Calibri"/>
                <a:ea typeface="Calibri"/>
                <a:cs typeface="Calibri"/>
                <a:sym typeface="Calibri"/>
              </a:rPr>
              <a:t>Pixel</a:t>
            </a:r>
            <a:r>
              <a:rPr b="1" lang="en-GB" sz="1200">
                <a:solidFill>
                  <a:srgbClr val="1C4587"/>
                </a:solidFill>
                <a:latin typeface="Calibri"/>
                <a:ea typeface="Calibri"/>
                <a:cs typeface="Calibri"/>
                <a:sym typeface="Calibri"/>
              </a:rPr>
              <a:t>Paws</a:t>
            </a:r>
            <a:endParaRPr b="1" i="0" sz="1200" u="none" cap="none" strike="noStrike">
              <a:solidFill>
                <a:srgbClr val="1C4587"/>
              </a:solidFill>
              <a:latin typeface="Calibri"/>
              <a:ea typeface="Calibri"/>
              <a:cs typeface="Calibri"/>
              <a:sym typeface="Calibri"/>
            </a:endParaRPr>
          </a:p>
        </p:txBody>
      </p:sp>
      <p:sp>
        <p:nvSpPr>
          <p:cNvPr id="438" name="Rounded Rectangle 437"/>
          <p:cNvSpPr/>
          <p:nvPr/>
        </p:nvSpPr>
        <p:spPr>
          <a:xfrm>
            <a:off x="5632704" y="3218688"/>
            <a:ext cx="2834640" cy="201168"/>
          </a:xfrm>
          <a:prstGeom prst="roundRect">
            <a:avLst>
              <a:gd name="adj" fmla="val 25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9144" bIns="9144"/>
          <a:lstStyle/>
          <a:p>
            <a:pPr algn="l">
              <a:lnSpc>
                <a:spcPct val="92000"/>
              </a:lnSpc>
            </a:pPr>
            <a:r>
              <a:rPr sz="900" b="1" i="0">
                <a:solidFill>
                  <a:srgbClr val="FFFFFF"/>
                </a:solidFill>
              </a:rPr>
              <a:t>OUR OWN WORK, AND HOW TO CHECK IT</a:t>
            </a:r>
          </a:p>
        </p:txBody>
      </p:sp>
      <p:sp>
        <p:nvSpPr>
          <p:cNvPr id="439" name="TextBox 438"/>
          <p:cNvSpPr txBox="1"/>
          <p:nvPr/>
        </p:nvSpPr>
        <p:spPr>
          <a:xfrm>
            <a:off x="5632704" y="3474720"/>
            <a:ext cx="3310128" cy="256032"/>
          </a:xfrm>
          <a:prstGeom prst="rect">
            <a:avLst/>
          </a:prstGeom>
          <a:noFill/>
        </p:spPr>
        <p:txBody>
          <a:bodyPr wrap="square" lIns="27432" rIns="27432" tIns="18288" bIns="18288" anchor="t">
            <a:spAutoFit/>
          </a:bodyPr>
          <a:lstStyle/>
          <a:p>
            <a:pPr>
              <a:lnSpc>
                <a:spcPct val="92000"/>
              </a:lnSpc>
            </a:pPr>
            <a:r>
              <a:rPr sz="1000" b="1" i="0">
                <a:solidFill>
                  <a:srgbClr val="C03A2B"/>
                </a:solidFill>
              </a:rPr>
              <a:t>567   </a:t>
            </a:r>
            <a:r>
              <a:rPr sz="850" b="0" i="0">
                <a:solidFill>
                  <a:srgbClr val="5A6B78"/>
                </a:solidFill>
              </a:rPr>
              <a:t>automated tests, 11 in a real browser</a:t>
            </a:r>
          </a:p>
        </p:txBody>
      </p:sp>
      <p:sp>
        <p:nvSpPr>
          <p:cNvPr id="440" name="TextBox 439"/>
          <p:cNvSpPr txBox="1"/>
          <p:nvPr/>
        </p:nvSpPr>
        <p:spPr>
          <a:xfrm>
            <a:off x="5632704" y="3749039"/>
            <a:ext cx="3310128" cy="256032"/>
          </a:xfrm>
          <a:prstGeom prst="rect">
            <a:avLst/>
          </a:prstGeom>
          <a:noFill/>
        </p:spPr>
        <p:txBody>
          <a:bodyPr wrap="square" lIns="27432" rIns="27432" tIns="18288" bIns="18288" anchor="t">
            <a:spAutoFit/>
          </a:bodyPr>
          <a:lstStyle/>
          <a:p>
            <a:pPr>
              <a:lnSpc>
                <a:spcPct val="92000"/>
              </a:lnSpc>
            </a:pPr>
            <a:r>
              <a:rPr sz="1000" b="1" i="0">
                <a:solidFill>
                  <a:srgbClr val="C03A2B"/>
                </a:solidFill>
              </a:rPr>
              <a:t>6 dp   </a:t>
            </a:r>
            <a:r>
              <a:rPr sz="850" b="0" i="0">
                <a:solidFill>
                  <a:srgbClr val="5A6B78"/>
                </a:solidFill>
              </a:rPr>
              <a:t>TEOS-10 check values reproduced exactly</a:t>
            </a:r>
          </a:p>
        </p:txBody>
      </p:sp>
      <p:sp>
        <p:nvSpPr>
          <p:cNvPr id="441" name="TextBox 440"/>
          <p:cNvSpPr txBox="1"/>
          <p:nvPr/>
        </p:nvSpPr>
        <p:spPr>
          <a:xfrm>
            <a:off x="5632704" y="4023359"/>
            <a:ext cx="3310128" cy="256032"/>
          </a:xfrm>
          <a:prstGeom prst="rect">
            <a:avLst/>
          </a:prstGeom>
          <a:noFill/>
        </p:spPr>
        <p:txBody>
          <a:bodyPr wrap="square" lIns="27432" rIns="27432" tIns="18288" bIns="18288" anchor="t">
            <a:spAutoFit/>
          </a:bodyPr>
          <a:lstStyle/>
          <a:p>
            <a:pPr>
              <a:lnSpc>
                <a:spcPct val="92000"/>
              </a:lnSpc>
            </a:pPr>
            <a:r>
              <a:rPr sz="1000" b="1" i="0">
                <a:solidFill>
                  <a:srgbClr val="C03A2B"/>
                </a:solidFill>
              </a:rPr>
              <a:t>100%   </a:t>
            </a:r>
            <a:r>
              <a:rPr sz="850" b="0" i="0">
                <a:solidFill>
                  <a:srgbClr val="5A6B78"/>
                </a:solidFill>
              </a:rPr>
              <a:t>of panels cite dataset and timestamp</a:t>
            </a:r>
          </a:p>
        </p:txBody>
      </p:sp>
      <p:sp>
        <p:nvSpPr>
          <p:cNvPr id="442" name="TextBox 441"/>
          <p:cNvSpPr txBox="1"/>
          <p:nvPr/>
        </p:nvSpPr>
        <p:spPr>
          <a:xfrm>
            <a:off x="5632704" y="4297679"/>
            <a:ext cx="3310128" cy="256032"/>
          </a:xfrm>
          <a:prstGeom prst="rect">
            <a:avLst/>
          </a:prstGeom>
          <a:noFill/>
        </p:spPr>
        <p:txBody>
          <a:bodyPr wrap="square" lIns="27432" rIns="27432" tIns="18288" bIns="18288" anchor="t">
            <a:spAutoFit/>
          </a:bodyPr>
          <a:lstStyle/>
          <a:p>
            <a:pPr>
              <a:lnSpc>
                <a:spcPct val="92000"/>
              </a:lnSpc>
            </a:pPr>
            <a:r>
              <a:rPr sz="1000" b="1" i="0">
                <a:solidFill>
                  <a:srgbClr val="C03A2B"/>
                </a:solidFill>
              </a:rPr>
              <a:t>15 + 8   </a:t>
            </a:r>
            <a:r>
              <a:rPr sz="900" b="0" i="0">
                <a:solidFill>
                  <a:srgbClr val="5A6B78"/>
                </a:solidFill>
              </a:rPr>
              <a:t>papers and existing tools reviewed for the gap analysis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
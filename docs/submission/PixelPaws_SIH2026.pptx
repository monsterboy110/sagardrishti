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 id="2147483683" r:id="rId7"/>
  </p:sldMasterIdLst>
  <p:notesMasterIdLst>
    <p:notesMasterId r:id="rId8"/>
  </p:notesMasterIdLst>
  <p:sldIdLst>
    <p:sldId id="256" r:id="rId9"/>
    <p:sldId id="257" r:id="rId10"/>
    <p:sldId id="258" r:id="rId11"/>
    <p:sldId id="259" r:id="rId12"/>
    <p:sldId id="260" r:id="rId13"/>
    <p:sldId id="261" r:id="rId14"/>
  </p:sldIdLst>
  <p:sldSz cy="5143500" cx="9144000"/>
  <p:notesSz cx="6858000" cy="9144000"/>
  <p:embeddedFontLst>
    <p:embeddedFont>
      <p:font typeface="Roboto"/>
      <p:regular r:id="rId15"/>
      <p:bold r:id="rId16"/>
      <p:italic r:id="rId17"/>
      <p:boldItalic r:id="rId18"/>
    </p:embeddedFont>
    <p:embeddedFont>
      <p:font typeface="Garamond"/>
      <p:regular r:id="rId19"/>
      <p:bold r:id="rId20"/>
      <p:italic r:id="rId21"/>
      <p:boldItalic r:id="rId22"/>
    </p:embeddedFont>
    <p:embeddedFont>
      <p:font typeface="Oswald SemiBold"/>
      <p:regular r:id="rId23"/>
      <p:bold r:id="rId24"/>
    </p:embeddedFont>
    <p:embeddedFont>
      <p:font typeface="Oswa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F554C66-DDCF-4EE5-85A6-085AA44DDC64}">
  <a:tblStyle styleId="{2F554C66-DDCF-4EE5-85A6-085AA44DDC64}"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font" Target="fonts/Roboto-regular.fntdata"/><Relationship Id="rId16" Type="http://schemas.openxmlformats.org/officeDocument/2006/relationships/font" Target="fonts/Roboto-bold.fntdata"/><Relationship Id="rId17" Type="http://schemas.openxmlformats.org/officeDocument/2006/relationships/font" Target="fonts/Roboto-italic.fntdata"/><Relationship Id="rId18" Type="http://schemas.openxmlformats.org/officeDocument/2006/relationships/font" Target="fonts/Roboto-boldItalic.fntdata"/><Relationship Id="rId19" Type="http://schemas.openxmlformats.org/officeDocument/2006/relationships/font" Target="fonts/Garamond-regular.fntdata"/><Relationship Id="rId20" Type="http://schemas.openxmlformats.org/officeDocument/2006/relationships/font" Target="fonts/Garamond-bold.fntdata"/><Relationship Id="rId21" Type="http://schemas.openxmlformats.org/officeDocument/2006/relationships/font" Target="fonts/Garamond-italic.fntdata"/><Relationship Id="rId22" Type="http://schemas.openxmlformats.org/officeDocument/2006/relationships/font" Target="fonts/Garamond-boldItalic.fntdata"/><Relationship Id="rId23" Type="http://schemas.openxmlformats.org/officeDocument/2006/relationships/font" Target="fonts/OswaldSemiBold-regular.fntdata"/><Relationship Id="rId24" Type="http://schemas.openxmlformats.org/officeDocument/2006/relationships/font" Target="fonts/OswaldSemiBold-bold.fntdata"/><Relationship Id="rId25" Type="http://schemas.openxmlformats.org/officeDocument/2006/relationships/font" Target="fonts/Oswald-regular.fntdata"/><Relationship Id="rId26" Type="http://schemas.openxmlformats.org/officeDocument/2006/relationships/font" Target="fonts/Oswa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409d75fe4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g409d75fe4a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bad91e7c8_2_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217" name="Google Shape;217;g3fbad91e7c8_2_9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18" name="Google Shape;218;g3fbad91e7c8_2_9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40a08ae1fc0_4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0"/>
            <a:headEnd len="sm" w="sm" type="none"/>
            <a:tailEnd len="sm" w="sm" type="none"/>
          </a:ln>
        </p:spPr>
      </p:sp>
      <p:sp>
        <p:nvSpPr>
          <p:cNvPr id="252" name="Google Shape;252;g40a08ae1fc0_4_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53" name="Google Shape;253;g40a08ae1fc0_4_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fbad91e7c8_2_1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374" name="Google Shape;374;g3fbad91e7c8_2_19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75" name="Google Shape;375;g3fbad91e7c8_2_19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409d75fe4a1_0_2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441" name="Google Shape;441;g409d75fe4a1_0_2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2" name="Google Shape;442;g409d75fe4a1_0_21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fbad91e7c8_2_3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493" name="Google Shape;493;g3fbad91e7c8_2_3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94" name="Google Shape;494;g3fbad91e7c8_2_31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6" name="Shape 56"/>
        <p:cNvGrpSpPr/>
        <p:nvPr/>
      </p:nvGrpSpPr>
      <p:grpSpPr>
        <a:xfrm>
          <a:off x="0" y="0"/>
          <a:ext cx="0" cy="0"/>
          <a:chOff x="0" y="0"/>
          <a:chExt cx="0" cy="0"/>
        </a:xfrm>
      </p:grpSpPr>
      <p:sp>
        <p:nvSpPr>
          <p:cNvPr id="57" name="Google Shape;57;p14"/>
          <p:cNvSpPr txBox="1"/>
          <p:nvPr>
            <p:ph type="ctrTitle"/>
          </p:nvPr>
        </p:nvSpPr>
        <p:spPr>
          <a:xfrm>
            <a:off x="685800" y="1597821"/>
            <a:ext cx="7772400" cy="1102519"/>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58" name="Google Shape;58;p14"/>
          <p:cNvSpPr txBox="1"/>
          <p:nvPr>
            <p:ph idx="1" type="subTitle"/>
          </p:nvPr>
        </p:nvSpPr>
        <p:spPr>
          <a:xfrm>
            <a:off x="1371600" y="2914650"/>
            <a:ext cx="6400800" cy="1314450"/>
          </a:xfrm>
          <a:prstGeom prst="rect">
            <a:avLst/>
          </a:prstGeom>
          <a:noFill/>
          <a:ln>
            <a:noFill/>
          </a:ln>
        </p:spPr>
        <p:txBody>
          <a:bodyPr anchorCtr="0" anchor="t" bIns="34275" lIns="68575" spcFirstLastPara="1" rIns="68575" wrap="square" tIns="34275">
            <a:no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p:txBody>
      </p:sp>
      <p:sp>
        <p:nvSpPr>
          <p:cNvPr id="59" name="Google Shape;59;p1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Google Shape;60;p1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1" name="Google Shape;61;p1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b="0" i="0" sz="9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9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9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9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9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9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9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9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2" name="Shape 62"/>
        <p:cNvGrpSpPr/>
        <p:nvPr/>
      </p:nvGrpSpPr>
      <p:grpSpPr>
        <a:xfrm>
          <a:off x="0" y="0"/>
          <a:ext cx="0" cy="0"/>
          <a:chOff x="0" y="0"/>
          <a:chExt cx="0" cy="0"/>
        </a:xfrm>
      </p:grpSpPr>
      <p:sp>
        <p:nvSpPr>
          <p:cNvPr id="63" name="Google Shape;63;p1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64" name="Google Shape;64;p15"/>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65" name="Google Shape;65;p1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Google Shape;66;p1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Google Shape;67;p1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8" name="Shape 68"/>
        <p:cNvGrpSpPr/>
        <p:nvPr/>
      </p:nvGrpSpPr>
      <p:grpSpPr>
        <a:xfrm>
          <a:off x="0" y="0"/>
          <a:ext cx="0" cy="0"/>
          <a:chOff x="0" y="0"/>
          <a:chExt cx="0" cy="0"/>
        </a:xfrm>
      </p:grpSpPr>
      <p:sp>
        <p:nvSpPr>
          <p:cNvPr id="69" name="Google Shape;69;p16"/>
          <p:cNvSpPr txBox="1"/>
          <p:nvPr>
            <p:ph type="title"/>
          </p:nvPr>
        </p:nvSpPr>
        <p:spPr>
          <a:xfrm>
            <a:off x="722313" y="3305177"/>
            <a:ext cx="7772400" cy="1021556"/>
          </a:xfrm>
          <a:prstGeom prst="rect">
            <a:avLst/>
          </a:prstGeom>
          <a:noFill/>
          <a:ln>
            <a:noFill/>
          </a:ln>
        </p:spPr>
        <p:txBody>
          <a:bodyPr anchorCtr="0" anchor="t" bIns="34275" lIns="68575" spcFirstLastPara="1" rIns="68575" wrap="square" tIns="34275">
            <a:noAutofit/>
          </a:bodyPr>
          <a:lstStyle>
            <a:lvl1pPr lvl="0" algn="l">
              <a:spcBef>
                <a:spcPts val="0"/>
              </a:spcBef>
              <a:spcAft>
                <a:spcPts val="0"/>
              </a:spcAft>
              <a:buSzPts val="1100"/>
              <a:buNone/>
              <a:defRPr b="1" sz="3000" cap="none"/>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70" name="Google Shape;70;p16"/>
          <p:cNvSpPr txBox="1"/>
          <p:nvPr>
            <p:ph idx="1" type="body"/>
          </p:nvPr>
        </p:nvSpPr>
        <p:spPr>
          <a:xfrm>
            <a:off x="722313" y="2180035"/>
            <a:ext cx="7772400" cy="1125140"/>
          </a:xfrm>
          <a:prstGeom prst="rect">
            <a:avLst/>
          </a:prstGeom>
          <a:noFill/>
          <a:ln>
            <a:noFill/>
          </a:ln>
        </p:spPr>
        <p:txBody>
          <a:bodyPr anchorCtr="0" anchor="b" bIns="34275" lIns="68575" spcFirstLastPara="1" rIns="68575" wrap="square" tIns="34275">
            <a:noAutofit/>
          </a:bodyPr>
          <a:lstStyle>
            <a:lvl1pPr indent="-228600" lvl="0" marL="457200" algn="l">
              <a:spcBef>
                <a:spcPts val="300"/>
              </a:spcBef>
              <a:spcAft>
                <a:spcPts val="0"/>
              </a:spcAft>
              <a:buClr>
                <a:srgbClr val="888888"/>
              </a:buClr>
              <a:buSzPts val="1500"/>
              <a:buNone/>
              <a:defRPr sz="1500">
                <a:solidFill>
                  <a:srgbClr val="888888"/>
                </a:solidFill>
              </a:defRPr>
            </a:lvl1pPr>
            <a:lvl2pPr indent="-228600" lvl="1" marL="914400" algn="l">
              <a:spcBef>
                <a:spcPts val="300"/>
              </a:spcBef>
              <a:spcAft>
                <a:spcPts val="0"/>
              </a:spcAft>
              <a:buClr>
                <a:srgbClr val="888888"/>
              </a:buClr>
              <a:buSzPts val="1400"/>
              <a:buNone/>
              <a:defRPr sz="1400">
                <a:solidFill>
                  <a:srgbClr val="888888"/>
                </a:solidFill>
              </a:defRPr>
            </a:lvl2pPr>
            <a:lvl3pPr indent="-228600" lvl="2" marL="1371600" algn="l">
              <a:spcBef>
                <a:spcPts val="200"/>
              </a:spcBef>
              <a:spcAft>
                <a:spcPts val="0"/>
              </a:spcAft>
              <a:buClr>
                <a:srgbClr val="888888"/>
              </a:buClr>
              <a:buSzPts val="1200"/>
              <a:buNone/>
              <a:defRPr sz="1200">
                <a:solidFill>
                  <a:srgbClr val="888888"/>
                </a:solidFill>
              </a:defRPr>
            </a:lvl3pPr>
            <a:lvl4pPr indent="-228600" lvl="3" marL="1828800" algn="l">
              <a:spcBef>
                <a:spcPts val="200"/>
              </a:spcBef>
              <a:spcAft>
                <a:spcPts val="0"/>
              </a:spcAft>
              <a:buClr>
                <a:srgbClr val="888888"/>
              </a:buClr>
              <a:buSzPts val="1100"/>
              <a:buNone/>
              <a:defRPr sz="1100">
                <a:solidFill>
                  <a:srgbClr val="888888"/>
                </a:solidFill>
              </a:defRPr>
            </a:lvl4pPr>
            <a:lvl5pPr indent="-228600" lvl="4" marL="2286000" algn="l">
              <a:spcBef>
                <a:spcPts val="200"/>
              </a:spcBef>
              <a:spcAft>
                <a:spcPts val="0"/>
              </a:spcAft>
              <a:buClr>
                <a:srgbClr val="888888"/>
              </a:buClr>
              <a:buSzPts val="1100"/>
              <a:buNone/>
              <a:defRPr sz="1100">
                <a:solidFill>
                  <a:srgbClr val="888888"/>
                </a:solidFill>
              </a:defRPr>
            </a:lvl5pPr>
            <a:lvl6pPr indent="-228600" lvl="5" marL="2743200" algn="l">
              <a:spcBef>
                <a:spcPts val="200"/>
              </a:spcBef>
              <a:spcAft>
                <a:spcPts val="0"/>
              </a:spcAft>
              <a:buClr>
                <a:srgbClr val="888888"/>
              </a:buClr>
              <a:buSzPts val="1100"/>
              <a:buNone/>
              <a:defRPr sz="1100">
                <a:solidFill>
                  <a:srgbClr val="888888"/>
                </a:solidFill>
              </a:defRPr>
            </a:lvl6pPr>
            <a:lvl7pPr indent="-228600" lvl="6" marL="3200400" algn="l">
              <a:spcBef>
                <a:spcPts val="200"/>
              </a:spcBef>
              <a:spcAft>
                <a:spcPts val="0"/>
              </a:spcAft>
              <a:buClr>
                <a:srgbClr val="888888"/>
              </a:buClr>
              <a:buSzPts val="1100"/>
              <a:buNone/>
              <a:defRPr sz="1100">
                <a:solidFill>
                  <a:srgbClr val="888888"/>
                </a:solidFill>
              </a:defRPr>
            </a:lvl7pPr>
            <a:lvl8pPr indent="-228600" lvl="7" marL="3657600" algn="l">
              <a:spcBef>
                <a:spcPts val="200"/>
              </a:spcBef>
              <a:spcAft>
                <a:spcPts val="0"/>
              </a:spcAft>
              <a:buClr>
                <a:srgbClr val="888888"/>
              </a:buClr>
              <a:buSzPts val="1100"/>
              <a:buNone/>
              <a:defRPr sz="1100">
                <a:solidFill>
                  <a:srgbClr val="888888"/>
                </a:solidFill>
              </a:defRPr>
            </a:lvl8pPr>
            <a:lvl9pPr indent="-228600" lvl="8" marL="4114800" algn="l">
              <a:spcBef>
                <a:spcPts val="200"/>
              </a:spcBef>
              <a:spcAft>
                <a:spcPts val="0"/>
              </a:spcAft>
              <a:buClr>
                <a:srgbClr val="888888"/>
              </a:buClr>
              <a:buSzPts val="1100"/>
              <a:buNone/>
              <a:defRPr sz="1100">
                <a:solidFill>
                  <a:srgbClr val="888888"/>
                </a:solidFill>
              </a:defRPr>
            </a:lvl9pPr>
          </a:lstStyle>
          <a:p/>
        </p:txBody>
      </p:sp>
      <p:sp>
        <p:nvSpPr>
          <p:cNvPr id="71" name="Google Shape;71;p1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Google Shape;72;p1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Google Shape;73;p1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4" name="Shape 74"/>
        <p:cNvGrpSpPr/>
        <p:nvPr/>
      </p:nvGrpSpPr>
      <p:grpSpPr>
        <a:xfrm>
          <a:off x="0" y="0"/>
          <a:ext cx="0" cy="0"/>
          <a:chOff x="0" y="0"/>
          <a:chExt cx="0" cy="0"/>
        </a:xfrm>
      </p:grpSpPr>
      <p:sp>
        <p:nvSpPr>
          <p:cNvPr id="75" name="Google Shape;75;p17"/>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76" name="Google Shape;76;p17"/>
          <p:cNvSpPr txBox="1"/>
          <p:nvPr>
            <p:ph idx="1" type="body"/>
          </p:nvPr>
        </p:nvSpPr>
        <p:spPr>
          <a:xfrm>
            <a:off x="457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77" name="Google Shape;77;p17"/>
          <p:cNvSpPr txBox="1"/>
          <p:nvPr>
            <p:ph idx="2" type="body"/>
          </p:nvPr>
        </p:nvSpPr>
        <p:spPr>
          <a:xfrm>
            <a:off x="4648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78" name="Google Shape;78;p17"/>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Google Shape;79;p17"/>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0" name="Google Shape;80;p17"/>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1" name="Shape 81"/>
        <p:cNvGrpSpPr/>
        <p:nvPr/>
      </p:nvGrpSpPr>
      <p:grpSpPr>
        <a:xfrm>
          <a:off x="0" y="0"/>
          <a:ext cx="0" cy="0"/>
          <a:chOff x="0" y="0"/>
          <a:chExt cx="0" cy="0"/>
        </a:xfrm>
      </p:grpSpPr>
      <p:sp>
        <p:nvSpPr>
          <p:cNvPr id="82" name="Google Shape;82;p18"/>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83" name="Google Shape;83;p18"/>
          <p:cNvSpPr txBox="1"/>
          <p:nvPr>
            <p:ph idx="1" type="body"/>
          </p:nvPr>
        </p:nvSpPr>
        <p:spPr>
          <a:xfrm>
            <a:off x="457200" y="1151335"/>
            <a:ext cx="4040188" cy="479822"/>
          </a:xfrm>
          <a:prstGeom prst="rect">
            <a:avLst/>
          </a:prstGeom>
          <a:noFill/>
          <a:ln>
            <a:noFill/>
          </a:ln>
        </p:spPr>
        <p:txBody>
          <a:bodyPr anchorCtr="0" anchor="b" bIns="34275" lIns="68575" spcFirstLastPara="1" rIns="68575" wrap="square" tIns="34275">
            <a:no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4" name="Google Shape;84;p18"/>
          <p:cNvSpPr txBox="1"/>
          <p:nvPr>
            <p:ph idx="2" type="body"/>
          </p:nvPr>
        </p:nvSpPr>
        <p:spPr>
          <a:xfrm>
            <a:off x="457200" y="1631156"/>
            <a:ext cx="4040188" cy="2963466"/>
          </a:xfrm>
          <a:prstGeom prst="rect">
            <a:avLst/>
          </a:prstGeom>
          <a:noFill/>
          <a:ln>
            <a:noFill/>
          </a:ln>
        </p:spPr>
        <p:txBody>
          <a:bodyPr anchorCtr="0" anchor="t" bIns="34275" lIns="68575" spcFirstLastPara="1" rIns="68575" wrap="square" tIns="34275">
            <a:no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5" name="Google Shape;85;p18"/>
          <p:cNvSpPr txBox="1"/>
          <p:nvPr>
            <p:ph idx="3" type="body"/>
          </p:nvPr>
        </p:nvSpPr>
        <p:spPr>
          <a:xfrm>
            <a:off x="4645027" y="1151335"/>
            <a:ext cx="4041775" cy="479822"/>
          </a:xfrm>
          <a:prstGeom prst="rect">
            <a:avLst/>
          </a:prstGeom>
          <a:noFill/>
          <a:ln>
            <a:noFill/>
          </a:ln>
        </p:spPr>
        <p:txBody>
          <a:bodyPr anchorCtr="0" anchor="b" bIns="34275" lIns="68575" spcFirstLastPara="1" rIns="68575" wrap="square" tIns="34275">
            <a:no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6" name="Google Shape;86;p18"/>
          <p:cNvSpPr txBox="1"/>
          <p:nvPr>
            <p:ph idx="4" type="body"/>
          </p:nvPr>
        </p:nvSpPr>
        <p:spPr>
          <a:xfrm>
            <a:off x="4645027" y="1631156"/>
            <a:ext cx="4041775" cy="2963466"/>
          </a:xfrm>
          <a:prstGeom prst="rect">
            <a:avLst/>
          </a:prstGeom>
          <a:noFill/>
          <a:ln>
            <a:noFill/>
          </a:ln>
        </p:spPr>
        <p:txBody>
          <a:bodyPr anchorCtr="0" anchor="t" bIns="34275" lIns="68575" spcFirstLastPara="1" rIns="68575" wrap="square" tIns="34275">
            <a:no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7" name="Google Shape;87;p18"/>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8" name="Google Shape;88;p18"/>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9" name="Google Shape;89;p18"/>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0" name="Shape 90"/>
        <p:cNvGrpSpPr/>
        <p:nvPr/>
      </p:nvGrpSpPr>
      <p:grpSpPr>
        <a:xfrm>
          <a:off x="0" y="0"/>
          <a:ext cx="0" cy="0"/>
          <a:chOff x="0" y="0"/>
          <a:chExt cx="0" cy="0"/>
        </a:xfrm>
      </p:grpSpPr>
      <p:sp>
        <p:nvSpPr>
          <p:cNvPr id="91" name="Google Shape;91;p19"/>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92" name="Google Shape;92;p19"/>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9"/>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9"/>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5" name="Shape 95"/>
        <p:cNvGrpSpPr/>
        <p:nvPr/>
      </p:nvGrpSpPr>
      <p:grpSpPr>
        <a:xfrm>
          <a:off x="0" y="0"/>
          <a:ext cx="0" cy="0"/>
          <a:chOff x="0" y="0"/>
          <a:chExt cx="0" cy="0"/>
        </a:xfrm>
      </p:grpSpPr>
      <p:sp>
        <p:nvSpPr>
          <p:cNvPr id="96" name="Google Shape;96;p20"/>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7" name="Google Shape;97;p20"/>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1" y="204788"/>
            <a:ext cx="3008313" cy="871538"/>
          </a:xfrm>
          <a:prstGeom prst="rect">
            <a:avLst/>
          </a:prstGeom>
          <a:noFill/>
          <a:ln>
            <a:noFill/>
          </a:ln>
        </p:spPr>
        <p:txBody>
          <a:bodyPr anchorCtr="0" anchor="b" bIns="34275" lIns="68575" spcFirstLastPara="1" rIns="68575" wrap="square" tIns="34275">
            <a:noAutofit/>
          </a:bodyPr>
          <a:lstStyle>
            <a:lvl1pPr lvl="0" algn="l">
              <a:spcBef>
                <a:spcPts val="0"/>
              </a:spcBef>
              <a:spcAft>
                <a:spcPts val="0"/>
              </a:spcAft>
              <a:buSzPts val="1100"/>
              <a:buNone/>
              <a:defRPr b="1" sz="1500"/>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01" name="Google Shape;101;p21"/>
          <p:cNvSpPr txBox="1"/>
          <p:nvPr>
            <p:ph idx="1" type="body"/>
          </p:nvPr>
        </p:nvSpPr>
        <p:spPr>
          <a:xfrm>
            <a:off x="3575050" y="204790"/>
            <a:ext cx="5111750" cy="4389835"/>
          </a:xfrm>
          <a:prstGeom prst="rect">
            <a:avLst/>
          </a:prstGeom>
          <a:noFill/>
          <a:ln>
            <a:noFill/>
          </a:ln>
        </p:spPr>
        <p:txBody>
          <a:bodyPr anchorCtr="0" anchor="t" bIns="34275" lIns="68575" spcFirstLastPara="1" rIns="68575" wrap="square" tIns="34275">
            <a:noAutofit/>
          </a:bodyPr>
          <a:lstStyle>
            <a:lvl1pPr indent="-381000" lvl="0" marL="457200" algn="l">
              <a:spcBef>
                <a:spcPts val="500"/>
              </a:spcBef>
              <a:spcAft>
                <a:spcPts val="0"/>
              </a:spcAft>
              <a:buClr>
                <a:schemeClr val="dk1"/>
              </a:buClr>
              <a:buSzPts val="2400"/>
              <a:buChar char="•"/>
              <a:defRPr sz="2400"/>
            </a:lvl1pPr>
            <a:lvl2pPr indent="-361950" lvl="1" marL="914400" algn="l">
              <a:spcBef>
                <a:spcPts val="400"/>
              </a:spcBef>
              <a:spcAft>
                <a:spcPts val="0"/>
              </a:spcAft>
              <a:buClr>
                <a:schemeClr val="dk1"/>
              </a:buClr>
              <a:buSzPts val="2100"/>
              <a:buChar char="–"/>
              <a:defRPr sz="2100"/>
            </a:lvl2pPr>
            <a:lvl3pPr indent="-342900" lvl="2" marL="1371600" algn="l">
              <a:spcBef>
                <a:spcPts val="400"/>
              </a:spcBef>
              <a:spcAft>
                <a:spcPts val="0"/>
              </a:spcAft>
              <a:buClr>
                <a:schemeClr val="dk1"/>
              </a:buClr>
              <a:buSzPts val="1800"/>
              <a:buChar char="•"/>
              <a:defRPr sz="1800"/>
            </a:lvl3pPr>
            <a:lvl4pPr indent="-323850" lvl="3" marL="1828800" algn="l">
              <a:spcBef>
                <a:spcPts val="300"/>
              </a:spcBef>
              <a:spcAft>
                <a:spcPts val="0"/>
              </a:spcAft>
              <a:buClr>
                <a:schemeClr val="dk1"/>
              </a:buClr>
              <a:buSzPts val="1500"/>
              <a:buChar char="–"/>
              <a:defRPr sz="1500"/>
            </a:lvl4pPr>
            <a:lvl5pPr indent="-323850" lvl="4" marL="2286000" algn="l">
              <a:spcBef>
                <a:spcPts val="300"/>
              </a:spcBef>
              <a:spcAft>
                <a:spcPts val="0"/>
              </a:spcAft>
              <a:buClr>
                <a:schemeClr val="dk1"/>
              </a:buClr>
              <a:buSzPts val="1500"/>
              <a:buChar char="»"/>
              <a:defRPr sz="1500"/>
            </a:lvl5pPr>
            <a:lvl6pPr indent="-323850" lvl="5" marL="2743200" algn="l">
              <a:spcBef>
                <a:spcPts val="300"/>
              </a:spcBef>
              <a:spcAft>
                <a:spcPts val="0"/>
              </a:spcAft>
              <a:buClr>
                <a:schemeClr val="dk1"/>
              </a:buClr>
              <a:buSzPts val="1500"/>
              <a:buChar char="•"/>
              <a:defRPr sz="1500"/>
            </a:lvl6pPr>
            <a:lvl7pPr indent="-323850" lvl="6" marL="3200400" algn="l">
              <a:spcBef>
                <a:spcPts val="300"/>
              </a:spcBef>
              <a:spcAft>
                <a:spcPts val="0"/>
              </a:spcAft>
              <a:buClr>
                <a:schemeClr val="dk1"/>
              </a:buClr>
              <a:buSzPts val="1500"/>
              <a:buChar char="•"/>
              <a:defRPr sz="1500"/>
            </a:lvl7pPr>
            <a:lvl8pPr indent="-323850" lvl="7" marL="3657600" algn="l">
              <a:spcBef>
                <a:spcPts val="300"/>
              </a:spcBef>
              <a:spcAft>
                <a:spcPts val="0"/>
              </a:spcAft>
              <a:buClr>
                <a:schemeClr val="dk1"/>
              </a:buClr>
              <a:buSzPts val="1500"/>
              <a:buChar char="•"/>
              <a:defRPr sz="1500"/>
            </a:lvl8pPr>
            <a:lvl9pPr indent="-323850" lvl="8" marL="4114800" algn="l">
              <a:spcBef>
                <a:spcPts val="300"/>
              </a:spcBef>
              <a:spcAft>
                <a:spcPts val="0"/>
              </a:spcAft>
              <a:buClr>
                <a:schemeClr val="dk1"/>
              </a:buClr>
              <a:buSzPts val="1500"/>
              <a:buChar char="•"/>
              <a:defRPr sz="1500"/>
            </a:lvl9pPr>
          </a:lstStyle>
          <a:p/>
        </p:txBody>
      </p:sp>
      <p:sp>
        <p:nvSpPr>
          <p:cNvPr id="102" name="Google Shape;102;p21"/>
          <p:cNvSpPr txBox="1"/>
          <p:nvPr>
            <p:ph idx="2" type="body"/>
          </p:nvPr>
        </p:nvSpPr>
        <p:spPr>
          <a:xfrm>
            <a:off x="457201" y="1076327"/>
            <a:ext cx="3008313" cy="3518297"/>
          </a:xfrm>
          <a:prstGeom prst="rect">
            <a:avLst/>
          </a:prstGeom>
          <a:noFill/>
          <a:ln>
            <a:noFill/>
          </a:ln>
        </p:spPr>
        <p:txBody>
          <a:bodyPr anchorCtr="0" anchor="t" bIns="34275" lIns="68575" spcFirstLastPara="1" rIns="68575" wrap="square" tIns="34275">
            <a:no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03" name="Google Shape;103;p21"/>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4" name="Google Shape;104;p21"/>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3600450"/>
            <a:ext cx="5486400" cy="425054"/>
          </a:xfrm>
          <a:prstGeom prst="rect">
            <a:avLst/>
          </a:prstGeom>
          <a:noFill/>
          <a:ln>
            <a:noFill/>
          </a:ln>
        </p:spPr>
        <p:txBody>
          <a:bodyPr anchorCtr="0" anchor="b" bIns="34275" lIns="68575" spcFirstLastPara="1" rIns="68575" wrap="square" tIns="34275">
            <a:noAutofit/>
          </a:bodyPr>
          <a:lstStyle>
            <a:lvl1pPr lvl="0" algn="l">
              <a:spcBef>
                <a:spcPts val="0"/>
              </a:spcBef>
              <a:spcAft>
                <a:spcPts val="0"/>
              </a:spcAft>
              <a:buSzPts val="1100"/>
              <a:buNone/>
              <a:defRPr b="1" sz="1500"/>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08" name="Google Shape;108;p22"/>
          <p:cNvSpPr/>
          <p:nvPr>
            <p:ph idx="2" type="pic"/>
          </p:nvPr>
        </p:nvSpPr>
        <p:spPr>
          <a:xfrm>
            <a:off x="1792288" y="459581"/>
            <a:ext cx="5486400" cy="3086100"/>
          </a:xfrm>
          <a:prstGeom prst="rect">
            <a:avLst/>
          </a:prstGeom>
          <a:noFill/>
          <a:ln>
            <a:noFill/>
          </a:ln>
        </p:spPr>
      </p:sp>
      <p:sp>
        <p:nvSpPr>
          <p:cNvPr id="109" name="Google Shape;109;p22"/>
          <p:cNvSpPr txBox="1"/>
          <p:nvPr>
            <p:ph idx="1" type="body"/>
          </p:nvPr>
        </p:nvSpPr>
        <p:spPr>
          <a:xfrm>
            <a:off x="1792288" y="4025503"/>
            <a:ext cx="5486400" cy="603647"/>
          </a:xfrm>
          <a:prstGeom prst="rect">
            <a:avLst/>
          </a:prstGeom>
          <a:noFill/>
          <a:ln>
            <a:noFill/>
          </a:ln>
        </p:spPr>
        <p:txBody>
          <a:bodyPr anchorCtr="0" anchor="t" bIns="34275" lIns="68575" spcFirstLastPara="1" rIns="68575" wrap="square" tIns="34275">
            <a:no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10" name="Google Shape;110;p22"/>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1" name="Google Shape;111;p22"/>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15" name="Google Shape;115;p23"/>
          <p:cNvSpPr txBox="1"/>
          <p:nvPr>
            <p:ph idx="1" type="body"/>
          </p:nvPr>
        </p:nvSpPr>
        <p:spPr>
          <a:xfrm rot="5400000">
            <a:off x="2685455" y="-1406723"/>
            <a:ext cx="3773091" cy="8229600"/>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16" name="Google Shape;116;p2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5463778" y="1371603"/>
            <a:ext cx="4388644" cy="20574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21" name="Google Shape;121;p24"/>
          <p:cNvSpPr txBox="1"/>
          <p:nvPr>
            <p:ph idx="1" type="body"/>
          </p:nvPr>
        </p:nvSpPr>
        <p:spPr>
          <a:xfrm rot="5400000">
            <a:off x="1272778" y="-609597"/>
            <a:ext cx="4388644" cy="6019800"/>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22" name="Google Shape;122;p2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1" name="Shape 131"/>
        <p:cNvGrpSpPr/>
        <p:nvPr/>
      </p:nvGrpSpPr>
      <p:grpSpPr>
        <a:xfrm>
          <a:off x="0" y="0"/>
          <a:ext cx="0" cy="0"/>
          <a:chOff x="0" y="0"/>
          <a:chExt cx="0" cy="0"/>
        </a:xfrm>
      </p:grpSpPr>
      <p:sp>
        <p:nvSpPr>
          <p:cNvPr id="132" name="Google Shape;132;p26"/>
          <p:cNvSpPr txBox="1"/>
          <p:nvPr>
            <p:ph type="ctrTitle"/>
          </p:nvPr>
        </p:nvSpPr>
        <p:spPr>
          <a:xfrm>
            <a:off x="685800" y="1597821"/>
            <a:ext cx="7772400" cy="1102519"/>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33" name="Google Shape;133;p26"/>
          <p:cNvSpPr txBox="1"/>
          <p:nvPr>
            <p:ph idx="1" type="subTitle"/>
          </p:nvPr>
        </p:nvSpPr>
        <p:spPr>
          <a:xfrm>
            <a:off x="1371600" y="2914650"/>
            <a:ext cx="6400800" cy="131445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50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100"/>
              <a:buNone/>
              <a:defRPr>
                <a:solidFill>
                  <a:srgbClr val="888888"/>
                </a:solidFill>
              </a:defRPr>
            </a:lvl2pPr>
            <a:lvl3pPr lvl="2" algn="ctr">
              <a:lnSpc>
                <a:spcPct val="100000"/>
              </a:lnSpc>
              <a:spcBef>
                <a:spcPts val="400"/>
              </a:spcBef>
              <a:spcAft>
                <a:spcPts val="0"/>
              </a:spcAft>
              <a:buClr>
                <a:srgbClr val="888888"/>
              </a:buClr>
              <a:buSzPts val="1800"/>
              <a:buNone/>
              <a:defRPr>
                <a:solidFill>
                  <a:srgbClr val="888888"/>
                </a:solidFill>
              </a:defRPr>
            </a:lvl3pPr>
            <a:lvl4pPr lvl="3" algn="ctr">
              <a:lnSpc>
                <a:spcPct val="100000"/>
              </a:lnSpc>
              <a:spcBef>
                <a:spcPts val="300"/>
              </a:spcBef>
              <a:spcAft>
                <a:spcPts val="0"/>
              </a:spcAft>
              <a:buClr>
                <a:srgbClr val="888888"/>
              </a:buClr>
              <a:buSzPts val="1500"/>
              <a:buNone/>
              <a:defRPr>
                <a:solidFill>
                  <a:srgbClr val="888888"/>
                </a:solidFill>
              </a:defRPr>
            </a:lvl4pPr>
            <a:lvl5pPr lvl="4" algn="ctr">
              <a:lnSpc>
                <a:spcPct val="100000"/>
              </a:lnSpc>
              <a:spcBef>
                <a:spcPts val="300"/>
              </a:spcBef>
              <a:spcAft>
                <a:spcPts val="0"/>
              </a:spcAft>
              <a:buClr>
                <a:srgbClr val="888888"/>
              </a:buClr>
              <a:buSzPts val="15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p:txBody>
      </p:sp>
      <p:sp>
        <p:nvSpPr>
          <p:cNvPr id="134" name="Google Shape;134;p2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2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2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7" name="Shape 137"/>
        <p:cNvGrpSpPr/>
        <p:nvPr/>
      </p:nvGrpSpPr>
      <p:grpSpPr>
        <a:xfrm>
          <a:off x="0" y="0"/>
          <a:ext cx="0" cy="0"/>
          <a:chOff x="0" y="0"/>
          <a:chExt cx="0" cy="0"/>
        </a:xfrm>
      </p:grpSpPr>
      <p:sp>
        <p:nvSpPr>
          <p:cNvPr id="138" name="Google Shape;138;p27"/>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39" name="Google Shape;139;p27"/>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40" name="Google Shape;140;p27"/>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1" name="Google Shape;141;p27"/>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2" name="Google Shape;142;p27"/>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3" name="Shape 143"/>
        <p:cNvGrpSpPr/>
        <p:nvPr/>
      </p:nvGrpSpPr>
      <p:grpSpPr>
        <a:xfrm>
          <a:off x="0" y="0"/>
          <a:ext cx="0" cy="0"/>
          <a:chOff x="0" y="0"/>
          <a:chExt cx="0" cy="0"/>
        </a:xfrm>
      </p:grpSpPr>
      <p:sp>
        <p:nvSpPr>
          <p:cNvPr id="144" name="Google Shape;144;p28"/>
          <p:cNvSpPr txBox="1"/>
          <p:nvPr>
            <p:ph type="title"/>
          </p:nvPr>
        </p:nvSpPr>
        <p:spPr>
          <a:xfrm>
            <a:off x="722313" y="3305177"/>
            <a:ext cx="7772400" cy="1021556"/>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b="1" sz="3000" cap="none"/>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45" name="Google Shape;145;p28"/>
          <p:cNvSpPr txBox="1"/>
          <p:nvPr>
            <p:ph idx="1" type="body"/>
          </p:nvPr>
        </p:nvSpPr>
        <p:spPr>
          <a:xfrm>
            <a:off x="722313" y="2180035"/>
            <a:ext cx="7772400" cy="1125140"/>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300"/>
              </a:spcBef>
              <a:spcAft>
                <a:spcPts val="0"/>
              </a:spcAft>
              <a:buClr>
                <a:srgbClr val="888888"/>
              </a:buClr>
              <a:buSzPts val="1500"/>
              <a:buNone/>
              <a:defRPr sz="1500">
                <a:solidFill>
                  <a:srgbClr val="888888"/>
                </a:solidFill>
              </a:defRPr>
            </a:lvl1pPr>
            <a:lvl2pPr indent="-228600" lvl="1" marL="914400" algn="l">
              <a:lnSpc>
                <a:spcPct val="100000"/>
              </a:lnSpc>
              <a:spcBef>
                <a:spcPts val="300"/>
              </a:spcBef>
              <a:spcAft>
                <a:spcPts val="0"/>
              </a:spcAft>
              <a:buClr>
                <a:srgbClr val="888888"/>
              </a:buClr>
              <a:buSzPts val="1400"/>
              <a:buNone/>
              <a:defRPr sz="1400">
                <a:solidFill>
                  <a:srgbClr val="888888"/>
                </a:solidFill>
              </a:defRPr>
            </a:lvl2pPr>
            <a:lvl3pPr indent="-228600" lvl="2" marL="1371600" algn="l">
              <a:lnSpc>
                <a:spcPct val="100000"/>
              </a:lnSpc>
              <a:spcBef>
                <a:spcPts val="200"/>
              </a:spcBef>
              <a:spcAft>
                <a:spcPts val="0"/>
              </a:spcAft>
              <a:buClr>
                <a:srgbClr val="888888"/>
              </a:buClr>
              <a:buSzPts val="1200"/>
              <a:buNone/>
              <a:defRPr sz="1200">
                <a:solidFill>
                  <a:srgbClr val="888888"/>
                </a:solidFill>
              </a:defRPr>
            </a:lvl3pPr>
            <a:lvl4pPr indent="-228600" lvl="3" marL="1828800" algn="l">
              <a:lnSpc>
                <a:spcPct val="100000"/>
              </a:lnSpc>
              <a:spcBef>
                <a:spcPts val="200"/>
              </a:spcBef>
              <a:spcAft>
                <a:spcPts val="0"/>
              </a:spcAft>
              <a:buClr>
                <a:srgbClr val="888888"/>
              </a:buClr>
              <a:buSzPts val="1100"/>
              <a:buNone/>
              <a:defRPr sz="1100">
                <a:solidFill>
                  <a:srgbClr val="888888"/>
                </a:solidFill>
              </a:defRPr>
            </a:lvl4pPr>
            <a:lvl5pPr indent="-228600" lvl="4" marL="2286000" algn="l">
              <a:lnSpc>
                <a:spcPct val="100000"/>
              </a:lnSpc>
              <a:spcBef>
                <a:spcPts val="200"/>
              </a:spcBef>
              <a:spcAft>
                <a:spcPts val="0"/>
              </a:spcAft>
              <a:buClr>
                <a:srgbClr val="888888"/>
              </a:buClr>
              <a:buSzPts val="1100"/>
              <a:buNone/>
              <a:defRPr sz="1100">
                <a:solidFill>
                  <a:srgbClr val="888888"/>
                </a:solidFill>
              </a:defRPr>
            </a:lvl5pPr>
            <a:lvl6pPr indent="-228600" lvl="5" marL="2743200" algn="l">
              <a:lnSpc>
                <a:spcPct val="100000"/>
              </a:lnSpc>
              <a:spcBef>
                <a:spcPts val="200"/>
              </a:spcBef>
              <a:spcAft>
                <a:spcPts val="0"/>
              </a:spcAft>
              <a:buClr>
                <a:srgbClr val="888888"/>
              </a:buClr>
              <a:buSzPts val="1100"/>
              <a:buNone/>
              <a:defRPr sz="1100">
                <a:solidFill>
                  <a:srgbClr val="888888"/>
                </a:solidFill>
              </a:defRPr>
            </a:lvl6pPr>
            <a:lvl7pPr indent="-228600" lvl="6" marL="3200400" algn="l">
              <a:lnSpc>
                <a:spcPct val="100000"/>
              </a:lnSpc>
              <a:spcBef>
                <a:spcPts val="200"/>
              </a:spcBef>
              <a:spcAft>
                <a:spcPts val="0"/>
              </a:spcAft>
              <a:buClr>
                <a:srgbClr val="888888"/>
              </a:buClr>
              <a:buSzPts val="1100"/>
              <a:buNone/>
              <a:defRPr sz="1100">
                <a:solidFill>
                  <a:srgbClr val="888888"/>
                </a:solidFill>
              </a:defRPr>
            </a:lvl7pPr>
            <a:lvl8pPr indent="-228600" lvl="7" marL="3657600" algn="l">
              <a:lnSpc>
                <a:spcPct val="100000"/>
              </a:lnSpc>
              <a:spcBef>
                <a:spcPts val="200"/>
              </a:spcBef>
              <a:spcAft>
                <a:spcPts val="0"/>
              </a:spcAft>
              <a:buClr>
                <a:srgbClr val="888888"/>
              </a:buClr>
              <a:buSzPts val="1100"/>
              <a:buNone/>
              <a:defRPr sz="1100">
                <a:solidFill>
                  <a:srgbClr val="888888"/>
                </a:solidFill>
              </a:defRPr>
            </a:lvl8pPr>
            <a:lvl9pPr indent="-228600" lvl="8" marL="4114800" algn="l">
              <a:lnSpc>
                <a:spcPct val="100000"/>
              </a:lnSpc>
              <a:spcBef>
                <a:spcPts val="200"/>
              </a:spcBef>
              <a:spcAft>
                <a:spcPts val="0"/>
              </a:spcAft>
              <a:buClr>
                <a:srgbClr val="888888"/>
              </a:buClr>
              <a:buSzPts val="1100"/>
              <a:buNone/>
              <a:defRPr sz="1100">
                <a:solidFill>
                  <a:srgbClr val="888888"/>
                </a:solidFill>
              </a:defRPr>
            </a:lvl9pPr>
          </a:lstStyle>
          <a:p/>
        </p:txBody>
      </p:sp>
      <p:sp>
        <p:nvSpPr>
          <p:cNvPr id="146" name="Google Shape;146;p28"/>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7" name="Google Shape;147;p28"/>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8" name="Google Shape;148;p28"/>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49" name="Shape 149"/>
        <p:cNvGrpSpPr/>
        <p:nvPr/>
      </p:nvGrpSpPr>
      <p:grpSpPr>
        <a:xfrm>
          <a:off x="0" y="0"/>
          <a:ext cx="0" cy="0"/>
          <a:chOff x="0" y="0"/>
          <a:chExt cx="0" cy="0"/>
        </a:xfrm>
      </p:grpSpPr>
      <p:sp>
        <p:nvSpPr>
          <p:cNvPr id="150" name="Google Shape;150;p29"/>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51" name="Google Shape;151;p29"/>
          <p:cNvSpPr txBox="1"/>
          <p:nvPr>
            <p:ph idx="1" type="body"/>
          </p:nvPr>
        </p:nvSpPr>
        <p:spPr>
          <a:xfrm>
            <a:off x="457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lnSpc>
                <a:spcPct val="100000"/>
              </a:lnSpc>
              <a:spcBef>
                <a:spcPts val="400"/>
              </a:spcBef>
              <a:spcAft>
                <a:spcPts val="0"/>
              </a:spcAft>
              <a:buClr>
                <a:schemeClr val="dk1"/>
              </a:buClr>
              <a:buSzPts val="2100"/>
              <a:buChar char="•"/>
              <a:defRPr sz="2100"/>
            </a:lvl1pPr>
            <a:lvl2pPr indent="-342900" lvl="1" marL="914400" algn="l">
              <a:lnSpc>
                <a:spcPct val="100000"/>
              </a:lnSpc>
              <a:spcBef>
                <a:spcPts val="400"/>
              </a:spcBef>
              <a:spcAft>
                <a:spcPts val="0"/>
              </a:spcAft>
              <a:buClr>
                <a:schemeClr val="dk1"/>
              </a:buClr>
              <a:buSzPts val="1800"/>
              <a:buChar char="–"/>
              <a:defRPr sz="1800"/>
            </a:lvl2pPr>
            <a:lvl3pPr indent="-323850" lvl="2" marL="1371600" algn="l">
              <a:lnSpc>
                <a:spcPct val="100000"/>
              </a:lnSpc>
              <a:spcBef>
                <a:spcPts val="300"/>
              </a:spcBef>
              <a:spcAft>
                <a:spcPts val="0"/>
              </a:spcAft>
              <a:buClr>
                <a:schemeClr val="dk1"/>
              </a:buClr>
              <a:buSzPts val="1500"/>
              <a:buChar char="•"/>
              <a:defRPr sz="1500"/>
            </a:lvl3pPr>
            <a:lvl4pPr indent="-317500" lvl="3" marL="1828800" algn="l">
              <a:lnSpc>
                <a:spcPct val="100000"/>
              </a:lnSpc>
              <a:spcBef>
                <a:spcPts val="300"/>
              </a:spcBef>
              <a:spcAft>
                <a:spcPts val="0"/>
              </a:spcAft>
              <a:buClr>
                <a:schemeClr val="dk1"/>
              </a:buClr>
              <a:buSzPts val="1400"/>
              <a:buChar char="–"/>
              <a:defRPr sz="1400"/>
            </a:lvl4pPr>
            <a:lvl5pPr indent="-317500" lvl="4" marL="2286000" algn="l">
              <a:lnSpc>
                <a:spcPct val="100000"/>
              </a:lnSpc>
              <a:spcBef>
                <a:spcPts val="300"/>
              </a:spcBef>
              <a:spcAft>
                <a:spcPts val="0"/>
              </a:spcAft>
              <a:buClr>
                <a:schemeClr val="dk1"/>
              </a:buClr>
              <a:buSzPts val="1400"/>
              <a:buChar char="»"/>
              <a:defRPr sz="1400"/>
            </a:lvl5pPr>
            <a:lvl6pPr indent="-317500" lvl="5" marL="2743200" algn="l">
              <a:lnSpc>
                <a:spcPct val="100000"/>
              </a:lnSpc>
              <a:spcBef>
                <a:spcPts val="300"/>
              </a:spcBef>
              <a:spcAft>
                <a:spcPts val="0"/>
              </a:spcAft>
              <a:buClr>
                <a:schemeClr val="dk1"/>
              </a:buClr>
              <a:buSzPts val="1400"/>
              <a:buChar char="•"/>
              <a:defRPr sz="1400"/>
            </a:lvl6pPr>
            <a:lvl7pPr indent="-317500" lvl="6" marL="3200400" algn="l">
              <a:lnSpc>
                <a:spcPct val="100000"/>
              </a:lnSpc>
              <a:spcBef>
                <a:spcPts val="300"/>
              </a:spcBef>
              <a:spcAft>
                <a:spcPts val="0"/>
              </a:spcAft>
              <a:buClr>
                <a:schemeClr val="dk1"/>
              </a:buClr>
              <a:buSzPts val="1400"/>
              <a:buChar char="•"/>
              <a:defRPr sz="1400"/>
            </a:lvl7pPr>
            <a:lvl8pPr indent="-317500" lvl="7" marL="3657600" algn="l">
              <a:lnSpc>
                <a:spcPct val="100000"/>
              </a:lnSpc>
              <a:spcBef>
                <a:spcPts val="300"/>
              </a:spcBef>
              <a:spcAft>
                <a:spcPts val="0"/>
              </a:spcAft>
              <a:buClr>
                <a:schemeClr val="dk1"/>
              </a:buClr>
              <a:buSzPts val="1400"/>
              <a:buChar char="•"/>
              <a:defRPr sz="1400"/>
            </a:lvl8pPr>
            <a:lvl9pPr indent="-317500" lvl="8" marL="4114800" algn="l">
              <a:lnSpc>
                <a:spcPct val="100000"/>
              </a:lnSpc>
              <a:spcBef>
                <a:spcPts val="300"/>
              </a:spcBef>
              <a:spcAft>
                <a:spcPts val="0"/>
              </a:spcAft>
              <a:buClr>
                <a:schemeClr val="dk1"/>
              </a:buClr>
              <a:buSzPts val="1400"/>
              <a:buChar char="•"/>
              <a:defRPr sz="1400"/>
            </a:lvl9pPr>
          </a:lstStyle>
          <a:p/>
        </p:txBody>
      </p:sp>
      <p:sp>
        <p:nvSpPr>
          <p:cNvPr id="152" name="Google Shape;152;p29"/>
          <p:cNvSpPr txBox="1"/>
          <p:nvPr>
            <p:ph idx="2" type="body"/>
          </p:nvPr>
        </p:nvSpPr>
        <p:spPr>
          <a:xfrm>
            <a:off x="4648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lnSpc>
                <a:spcPct val="100000"/>
              </a:lnSpc>
              <a:spcBef>
                <a:spcPts val="400"/>
              </a:spcBef>
              <a:spcAft>
                <a:spcPts val="0"/>
              </a:spcAft>
              <a:buClr>
                <a:schemeClr val="dk1"/>
              </a:buClr>
              <a:buSzPts val="2100"/>
              <a:buChar char="•"/>
              <a:defRPr sz="2100"/>
            </a:lvl1pPr>
            <a:lvl2pPr indent="-342900" lvl="1" marL="914400" algn="l">
              <a:lnSpc>
                <a:spcPct val="100000"/>
              </a:lnSpc>
              <a:spcBef>
                <a:spcPts val="400"/>
              </a:spcBef>
              <a:spcAft>
                <a:spcPts val="0"/>
              </a:spcAft>
              <a:buClr>
                <a:schemeClr val="dk1"/>
              </a:buClr>
              <a:buSzPts val="1800"/>
              <a:buChar char="–"/>
              <a:defRPr sz="1800"/>
            </a:lvl2pPr>
            <a:lvl3pPr indent="-323850" lvl="2" marL="1371600" algn="l">
              <a:lnSpc>
                <a:spcPct val="100000"/>
              </a:lnSpc>
              <a:spcBef>
                <a:spcPts val="300"/>
              </a:spcBef>
              <a:spcAft>
                <a:spcPts val="0"/>
              </a:spcAft>
              <a:buClr>
                <a:schemeClr val="dk1"/>
              </a:buClr>
              <a:buSzPts val="1500"/>
              <a:buChar char="•"/>
              <a:defRPr sz="1500"/>
            </a:lvl3pPr>
            <a:lvl4pPr indent="-317500" lvl="3" marL="1828800" algn="l">
              <a:lnSpc>
                <a:spcPct val="100000"/>
              </a:lnSpc>
              <a:spcBef>
                <a:spcPts val="300"/>
              </a:spcBef>
              <a:spcAft>
                <a:spcPts val="0"/>
              </a:spcAft>
              <a:buClr>
                <a:schemeClr val="dk1"/>
              </a:buClr>
              <a:buSzPts val="1400"/>
              <a:buChar char="–"/>
              <a:defRPr sz="1400"/>
            </a:lvl4pPr>
            <a:lvl5pPr indent="-317500" lvl="4" marL="2286000" algn="l">
              <a:lnSpc>
                <a:spcPct val="100000"/>
              </a:lnSpc>
              <a:spcBef>
                <a:spcPts val="300"/>
              </a:spcBef>
              <a:spcAft>
                <a:spcPts val="0"/>
              </a:spcAft>
              <a:buClr>
                <a:schemeClr val="dk1"/>
              </a:buClr>
              <a:buSzPts val="1400"/>
              <a:buChar char="»"/>
              <a:defRPr sz="1400"/>
            </a:lvl5pPr>
            <a:lvl6pPr indent="-317500" lvl="5" marL="2743200" algn="l">
              <a:lnSpc>
                <a:spcPct val="100000"/>
              </a:lnSpc>
              <a:spcBef>
                <a:spcPts val="300"/>
              </a:spcBef>
              <a:spcAft>
                <a:spcPts val="0"/>
              </a:spcAft>
              <a:buClr>
                <a:schemeClr val="dk1"/>
              </a:buClr>
              <a:buSzPts val="1400"/>
              <a:buChar char="•"/>
              <a:defRPr sz="1400"/>
            </a:lvl6pPr>
            <a:lvl7pPr indent="-317500" lvl="6" marL="3200400" algn="l">
              <a:lnSpc>
                <a:spcPct val="100000"/>
              </a:lnSpc>
              <a:spcBef>
                <a:spcPts val="300"/>
              </a:spcBef>
              <a:spcAft>
                <a:spcPts val="0"/>
              </a:spcAft>
              <a:buClr>
                <a:schemeClr val="dk1"/>
              </a:buClr>
              <a:buSzPts val="1400"/>
              <a:buChar char="•"/>
              <a:defRPr sz="1400"/>
            </a:lvl7pPr>
            <a:lvl8pPr indent="-317500" lvl="7" marL="3657600" algn="l">
              <a:lnSpc>
                <a:spcPct val="100000"/>
              </a:lnSpc>
              <a:spcBef>
                <a:spcPts val="300"/>
              </a:spcBef>
              <a:spcAft>
                <a:spcPts val="0"/>
              </a:spcAft>
              <a:buClr>
                <a:schemeClr val="dk1"/>
              </a:buClr>
              <a:buSzPts val="1400"/>
              <a:buChar char="•"/>
              <a:defRPr sz="1400"/>
            </a:lvl8pPr>
            <a:lvl9pPr indent="-317500" lvl="8" marL="4114800" algn="l">
              <a:lnSpc>
                <a:spcPct val="100000"/>
              </a:lnSpc>
              <a:spcBef>
                <a:spcPts val="300"/>
              </a:spcBef>
              <a:spcAft>
                <a:spcPts val="0"/>
              </a:spcAft>
              <a:buClr>
                <a:schemeClr val="dk1"/>
              </a:buClr>
              <a:buSzPts val="1400"/>
              <a:buChar char="•"/>
              <a:defRPr sz="1400"/>
            </a:lvl9pPr>
          </a:lstStyle>
          <a:p/>
        </p:txBody>
      </p:sp>
      <p:sp>
        <p:nvSpPr>
          <p:cNvPr id="153" name="Google Shape;153;p29"/>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4" name="Google Shape;154;p29"/>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5" name="Google Shape;155;p29"/>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56" name="Shape 156"/>
        <p:cNvGrpSpPr/>
        <p:nvPr/>
      </p:nvGrpSpPr>
      <p:grpSpPr>
        <a:xfrm>
          <a:off x="0" y="0"/>
          <a:ext cx="0" cy="0"/>
          <a:chOff x="0" y="0"/>
          <a:chExt cx="0" cy="0"/>
        </a:xfrm>
      </p:grpSpPr>
      <p:sp>
        <p:nvSpPr>
          <p:cNvPr id="157" name="Google Shape;157;p30"/>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58" name="Google Shape;158;p30"/>
          <p:cNvSpPr txBox="1"/>
          <p:nvPr>
            <p:ph idx="1" type="body"/>
          </p:nvPr>
        </p:nvSpPr>
        <p:spPr>
          <a:xfrm>
            <a:off x="457200" y="1151335"/>
            <a:ext cx="4040188" cy="479822"/>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400"/>
              </a:spcBef>
              <a:spcAft>
                <a:spcPts val="0"/>
              </a:spcAft>
              <a:buClr>
                <a:schemeClr val="dk1"/>
              </a:buClr>
              <a:buSzPts val="1800"/>
              <a:buNone/>
              <a:defRPr b="1" sz="1800"/>
            </a:lvl1pPr>
            <a:lvl2pPr indent="-228600" lvl="1" marL="914400" algn="l">
              <a:lnSpc>
                <a:spcPct val="100000"/>
              </a:lnSpc>
              <a:spcBef>
                <a:spcPts val="300"/>
              </a:spcBef>
              <a:spcAft>
                <a:spcPts val="0"/>
              </a:spcAft>
              <a:buClr>
                <a:schemeClr val="dk1"/>
              </a:buClr>
              <a:buSzPts val="1500"/>
              <a:buNone/>
              <a:defRPr b="1" sz="1500"/>
            </a:lvl2pPr>
            <a:lvl3pPr indent="-228600" lvl="2" marL="1371600" algn="l">
              <a:lnSpc>
                <a:spcPct val="100000"/>
              </a:lnSpc>
              <a:spcBef>
                <a:spcPts val="300"/>
              </a:spcBef>
              <a:spcAft>
                <a:spcPts val="0"/>
              </a:spcAft>
              <a:buClr>
                <a:schemeClr val="dk1"/>
              </a:buClr>
              <a:buSzPts val="1400"/>
              <a:buNone/>
              <a:defRPr b="1" sz="1400"/>
            </a:lvl3pPr>
            <a:lvl4pPr indent="-228600" lvl="3" marL="1828800" algn="l">
              <a:lnSpc>
                <a:spcPct val="100000"/>
              </a:lnSpc>
              <a:spcBef>
                <a:spcPts val="200"/>
              </a:spcBef>
              <a:spcAft>
                <a:spcPts val="0"/>
              </a:spcAft>
              <a:buClr>
                <a:schemeClr val="dk1"/>
              </a:buClr>
              <a:buSzPts val="1200"/>
              <a:buNone/>
              <a:defRPr b="1" sz="1200"/>
            </a:lvl4pPr>
            <a:lvl5pPr indent="-228600" lvl="4" marL="2286000" algn="l">
              <a:lnSpc>
                <a:spcPct val="100000"/>
              </a:lnSpc>
              <a:spcBef>
                <a:spcPts val="200"/>
              </a:spcBef>
              <a:spcAft>
                <a:spcPts val="0"/>
              </a:spcAft>
              <a:buClr>
                <a:schemeClr val="dk1"/>
              </a:buClr>
              <a:buSzPts val="1200"/>
              <a:buNone/>
              <a:defRPr b="1" sz="1200"/>
            </a:lvl5pPr>
            <a:lvl6pPr indent="-228600" lvl="5" marL="2743200" algn="l">
              <a:lnSpc>
                <a:spcPct val="100000"/>
              </a:lnSpc>
              <a:spcBef>
                <a:spcPts val="200"/>
              </a:spcBef>
              <a:spcAft>
                <a:spcPts val="0"/>
              </a:spcAft>
              <a:buClr>
                <a:schemeClr val="dk1"/>
              </a:buClr>
              <a:buSzPts val="1200"/>
              <a:buNone/>
              <a:defRPr b="1" sz="1200"/>
            </a:lvl6pPr>
            <a:lvl7pPr indent="-228600" lvl="6" marL="3200400" algn="l">
              <a:lnSpc>
                <a:spcPct val="100000"/>
              </a:lnSpc>
              <a:spcBef>
                <a:spcPts val="200"/>
              </a:spcBef>
              <a:spcAft>
                <a:spcPts val="0"/>
              </a:spcAft>
              <a:buClr>
                <a:schemeClr val="dk1"/>
              </a:buClr>
              <a:buSzPts val="1200"/>
              <a:buNone/>
              <a:defRPr b="1" sz="1200"/>
            </a:lvl7pPr>
            <a:lvl8pPr indent="-228600" lvl="7" marL="3657600" algn="l">
              <a:lnSpc>
                <a:spcPct val="100000"/>
              </a:lnSpc>
              <a:spcBef>
                <a:spcPts val="200"/>
              </a:spcBef>
              <a:spcAft>
                <a:spcPts val="0"/>
              </a:spcAft>
              <a:buClr>
                <a:schemeClr val="dk1"/>
              </a:buClr>
              <a:buSzPts val="1200"/>
              <a:buNone/>
              <a:defRPr b="1" sz="1200"/>
            </a:lvl8pPr>
            <a:lvl9pPr indent="-228600" lvl="8" marL="4114800" algn="l">
              <a:lnSpc>
                <a:spcPct val="100000"/>
              </a:lnSpc>
              <a:spcBef>
                <a:spcPts val="200"/>
              </a:spcBef>
              <a:spcAft>
                <a:spcPts val="0"/>
              </a:spcAft>
              <a:buClr>
                <a:schemeClr val="dk1"/>
              </a:buClr>
              <a:buSzPts val="1200"/>
              <a:buNone/>
              <a:defRPr b="1" sz="1200"/>
            </a:lvl9pPr>
          </a:lstStyle>
          <a:p/>
        </p:txBody>
      </p:sp>
      <p:sp>
        <p:nvSpPr>
          <p:cNvPr id="159" name="Google Shape;159;p30"/>
          <p:cNvSpPr txBox="1"/>
          <p:nvPr>
            <p:ph idx="2" type="body"/>
          </p:nvPr>
        </p:nvSpPr>
        <p:spPr>
          <a:xfrm>
            <a:off x="457200" y="1631156"/>
            <a:ext cx="4040188" cy="2963466"/>
          </a:xfrm>
          <a:prstGeom prst="rect">
            <a:avLst/>
          </a:prstGeom>
          <a:noFill/>
          <a:ln>
            <a:noFill/>
          </a:ln>
        </p:spPr>
        <p:txBody>
          <a:bodyPr anchorCtr="0" anchor="t" bIns="34275" lIns="68575" spcFirstLastPara="1" rIns="68575" wrap="square" tIns="34275">
            <a:noAutofit/>
          </a:bodyPr>
          <a:lstStyle>
            <a:lvl1pPr indent="-342900" lvl="0" marL="457200" algn="l">
              <a:lnSpc>
                <a:spcPct val="100000"/>
              </a:lnSpc>
              <a:spcBef>
                <a:spcPts val="400"/>
              </a:spcBef>
              <a:spcAft>
                <a:spcPts val="0"/>
              </a:spcAft>
              <a:buClr>
                <a:schemeClr val="dk1"/>
              </a:buClr>
              <a:buSzPts val="1800"/>
              <a:buChar char="•"/>
              <a:defRPr sz="1800"/>
            </a:lvl1pPr>
            <a:lvl2pPr indent="-323850" lvl="1" marL="914400" algn="l">
              <a:lnSpc>
                <a:spcPct val="100000"/>
              </a:lnSpc>
              <a:spcBef>
                <a:spcPts val="300"/>
              </a:spcBef>
              <a:spcAft>
                <a:spcPts val="0"/>
              </a:spcAft>
              <a:buClr>
                <a:schemeClr val="dk1"/>
              </a:buClr>
              <a:buSzPts val="1500"/>
              <a:buChar char="–"/>
              <a:defRPr sz="1500"/>
            </a:lvl2pPr>
            <a:lvl3pPr indent="-317500" lvl="2" marL="1371600" algn="l">
              <a:lnSpc>
                <a:spcPct val="100000"/>
              </a:lnSpc>
              <a:spcBef>
                <a:spcPts val="300"/>
              </a:spcBef>
              <a:spcAft>
                <a:spcPts val="0"/>
              </a:spcAft>
              <a:buClr>
                <a:schemeClr val="dk1"/>
              </a:buClr>
              <a:buSzPts val="1400"/>
              <a:buChar char="•"/>
              <a:defRPr sz="14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160" name="Google Shape;160;p30"/>
          <p:cNvSpPr txBox="1"/>
          <p:nvPr>
            <p:ph idx="3" type="body"/>
          </p:nvPr>
        </p:nvSpPr>
        <p:spPr>
          <a:xfrm>
            <a:off x="4645027" y="1151335"/>
            <a:ext cx="4041775" cy="479822"/>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400"/>
              </a:spcBef>
              <a:spcAft>
                <a:spcPts val="0"/>
              </a:spcAft>
              <a:buClr>
                <a:schemeClr val="dk1"/>
              </a:buClr>
              <a:buSzPts val="1800"/>
              <a:buNone/>
              <a:defRPr b="1" sz="1800"/>
            </a:lvl1pPr>
            <a:lvl2pPr indent="-228600" lvl="1" marL="914400" algn="l">
              <a:lnSpc>
                <a:spcPct val="100000"/>
              </a:lnSpc>
              <a:spcBef>
                <a:spcPts val="300"/>
              </a:spcBef>
              <a:spcAft>
                <a:spcPts val="0"/>
              </a:spcAft>
              <a:buClr>
                <a:schemeClr val="dk1"/>
              </a:buClr>
              <a:buSzPts val="1500"/>
              <a:buNone/>
              <a:defRPr b="1" sz="1500"/>
            </a:lvl2pPr>
            <a:lvl3pPr indent="-228600" lvl="2" marL="1371600" algn="l">
              <a:lnSpc>
                <a:spcPct val="100000"/>
              </a:lnSpc>
              <a:spcBef>
                <a:spcPts val="300"/>
              </a:spcBef>
              <a:spcAft>
                <a:spcPts val="0"/>
              </a:spcAft>
              <a:buClr>
                <a:schemeClr val="dk1"/>
              </a:buClr>
              <a:buSzPts val="1400"/>
              <a:buNone/>
              <a:defRPr b="1" sz="1400"/>
            </a:lvl3pPr>
            <a:lvl4pPr indent="-228600" lvl="3" marL="1828800" algn="l">
              <a:lnSpc>
                <a:spcPct val="100000"/>
              </a:lnSpc>
              <a:spcBef>
                <a:spcPts val="200"/>
              </a:spcBef>
              <a:spcAft>
                <a:spcPts val="0"/>
              </a:spcAft>
              <a:buClr>
                <a:schemeClr val="dk1"/>
              </a:buClr>
              <a:buSzPts val="1200"/>
              <a:buNone/>
              <a:defRPr b="1" sz="1200"/>
            </a:lvl4pPr>
            <a:lvl5pPr indent="-228600" lvl="4" marL="2286000" algn="l">
              <a:lnSpc>
                <a:spcPct val="100000"/>
              </a:lnSpc>
              <a:spcBef>
                <a:spcPts val="200"/>
              </a:spcBef>
              <a:spcAft>
                <a:spcPts val="0"/>
              </a:spcAft>
              <a:buClr>
                <a:schemeClr val="dk1"/>
              </a:buClr>
              <a:buSzPts val="1200"/>
              <a:buNone/>
              <a:defRPr b="1" sz="1200"/>
            </a:lvl5pPr>
            <a:lvl6pPr indent="-228600" lvl="5" marL="2743200" algn="l">
              <a:lnSpc>
                <a:spcPct val="100000"/>
              </a:lnSpc>
              <a:spcBef>
                <a:spcPts val="200"/>
              </a:spcBef>
              <a:spcAft>
                <a:spcPts val="0"/>
              </a:spcAft>
              <a:buClr>
                <a:schemeClr val="dk1"/>
              </a:buClr>
              <a:buSzPts val="1200"/>
              <a:buNone/>
              <a:defRPr b="1" sz="1200"/>
            </a:lvl6pPr>
            <a:lvl7pPr indent="-228600" lvl="6" marL="3200400" algn="l">
              <a:lnSpc>
                <a:spcPct val="100000"/>
              </a:lnSpc>
              <a:spcBef>
                <a:spcPts val="200"/>
              </a:spcBef>
              <a:spcAft>
                <a:spcPts val="0"/>
              </a:spcAft>
              <a:buClr>
                <a:schemeClr val="dk1"/>
              </a:buClr>
              <a:buSzPts val="1200"/>
              <a:buNone/>
              <a:defRPr b="1" sz="1200"/>
            </a:lvl7pPr>
            <a:lvl8pPr indent="-228600" lvl="7" marL="3657600" algn="l">
              <a:lnSpc>
                <a:spcPct val="100000"/>
              </a:lnSpc>
              <a:spcBef>
                <a:spcPts val="200"/>
              </a:spcBef>
              <a:spcAft>
                <a:spcPts val="0"/>
              </a:spcAft>
              <a:buClr>
                <a:schemeClr val="dk1"/>
              </a:buClr>
              <a:buSzPts val="1200"/>
              <a:buNone/>
              <a:defRPr b="1" sz="1200"/>
            </a:lvl8pPr>
            <a:lvl9pPr indent="-228600" lvl="8" marL="4114800" algn="l">
              <a:lnSpc>
                <a:spcPct val="100000"/>
              </a:lnSpc>
              <a:spcBef>
                <a:spcPts val="200"/>
              </a:spcBef>
              <a:spcAft>
                <a:spcPts val="0"/>
              </a:spcAft>
              <a:buClr>
                <a:schemeClr val="dk1"/>
              </a:buClr>
              <a:buSzPts val="1200"/>
              <a:buNone/>
              <a:defRPr b="1" sz="1200"/>
            </a:lvl9pPr>
          </a:lstStyle>
          <a:p/>
        </p:txBody>
      </p:sp>
      <p:sp>
        <p:nvSpPr>
          <p:cNvPr id="161" name="Google Shape;161;p30"/>
          <p:cNvSpPr txBox="1"/>
          <p:nvPr>
            <p:ph idx="4" type="body"/>
          </p:nvPr>
        </p:nvSpPr>
        <p:spPr>
          <a:xfrm>
            <a:off x="4645027" y="1631156"/>
            <a:ext cx="4041775" cy="2963466"/>
          </a:xfrm>
          <a:prstGeom prst="rect">
            <a:avLst/>
          </a:prstGeom>
          <a:noFill/>
          <a:ln>
            <a:noFill/>
          </a:ln>
        </p:spPr>
        <p:txBody>
          <a:bodyPr anchorCtr="0" anchor="t" bIns="34275" lIns="68575" spcFirstLastPara="1" rIns="68575" wrap="square" tIns="34275">
            <a:noAutofit/>
          </a:bodyPr>
          <a:lstStyle>
            <a:lvl1pPr indent="-342900" lvl="0" marL="457200" algn="l">
              <a:lnSpc>
                <a:spcPct val="100000"/>
              </a:lnSpc>
              <a:spcBef>
                <a:spcPts val="400"/>
              </a:spcBef>
              <a:spcAft>
                <a:spcPts val="0"/>
              </a:spcAft>
              <a:buClr>
                <a:schemeClr val="dk1"/>
              </a:buClr>
              <a:buSzPts val="1800"/>
              <a:buChar char="•"/>
              <a:defRPr sz="1800"/>
            </a:lvl1pPr>
            <a:lvl2pPr indent="-323850" lvl="1" marL="914400" algn="l">
              <a:lnSpc>
                <a:spcPct val="100000"/>
              </a:lnSpc>
              <a:spcBef>
                <a:spcPts val="300"/>
              </a:spcBef>
              <a:spcAft>
                <a:spcPts val="0"/>
              </a:spcAft>
              <a:buClr>
                <a:schemeClr val="dk1"/>
              </a:buClr>
              <a:buSzPts val="1500"/>
              <a:buChar char="–"/>
              <a:defRPr sz="1500"/>
            </a:lvl2pPr>
            <a:lvl3pPr indent="-317500" lvl="2" marL="1371600" algn="l">
              <a:lnSpc>
                <a:spcPct val="100000"/>
              </a:lnSpc>
              <a:spcBef>
                <a:spcPts val="300"/>
              </a:spcBef>
              <a:spcAft>
                <a:spcPts val="0"/>
              </a:spcAft>
              <a:buClr>
                <a:schemeClr val="dk1"/>
              </a:buClr>
              <a:buSzPts val="1400"/>
              <a:buChar char="•"/>
              <a:defRPr sz="14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162" name="Google Shape;162;p30"/>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3" name="Google Shape;163;p30"/>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4" name="Google Shape;164;p30"/>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31"/>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67" name="Google Shape;167;p31"/>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8" name="Google Shape;168;p31"/>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9" name="Google Shape;169;p31"/>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0" name="Shape 170"/>
        <p:cNvGrpSpPr/>
        <p:nvPr/>
      </p:nvGrpSpPr>
      <p:grpSpPr>
        <a:xfrm>
          <a:off x="0" y="0"/>
          <a:ext cx="0" cy="0"/>
          <a:chOff x="0" y="0"/>
          <a:chExt cx="0" cy="0"/>
        </a:xfrm>
      </p:grpSpPr>
      <p:sp>
        <p:nvSpPr>
          <p:cNvPr id="171" name="Google Shape;171;p32"/>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2" name="Google Shape;172;p32"/>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3" name="Google Shape;173;p32"/>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74" name="Shape 174"/>
        <p:cNvGrpSpPr/>
        <p:nvPr/>
      </p:nvGrpSpPr>
      <p:grpSpPr>
        <a:xfrm>
          <a:off x="0" y="0"/>
          <a:ext cx="0" cy="0"/>
          <a:chOff x="0" y="0"/>
          <a:chExt cx="0" cy="0"/>
        </a:xfrm>
      </p:grpSpPr>
      <p:sp>
        <p:nvSpPr>
          <p:cNvPr id="175" name="Google Shape;175;p33"/>
          <p:cNvSpPr txBox="1"/>
          <p:nvPr>
            <p:ph type="title"/>
          </p:nvPr>
        </p:nvSpPr>
        <p:spPr>
          <a:xfrm>
            <a:off x="457201" y="204788"/>
            <a:ext cx="3008313" cy="871538"/>
          </a:xfrm>
          <a:prstGeom prst="rect">
            <a:avLst/>
          </a:prstGeom>
          <a:noFill/>
          <a:ln>
            <a:noFill/>
          </a:ln>
        </p:spPr>
        <p:txBody>
          <a:bodyPr anchorCtr="0" anchor="b" bIns="34275" lIns="68575" spcFirstLastPara="1" rIns="68575" wrap="square" tIns="34275">
            <a:noAutofit/>
          </a:bodyPr>
          <a:lstStyle>
            <a:lvl1pPr lvl="0" algn="l">
              <a:lnSpc>
                <a:spcPct val="100000"/>
              </a:lnSpc>
              <a:spcBef>
                <a:spcPts val="0"/>
              </a:spcBef>
              <a:spcAft>
                <a:spcPts val="0"/>
              </a:spcAft>
              <a:buSzPts val="1100"/>
              <a:buNone/>
              <a:defRPr b="1" sz="1500"/>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76" name="Google Shape;176;p33"/>
          <p:cNvSpPr txBox="1"/>
          <p:nvPr>
            <p:ph idx="1" type="body"/>
          </p:nvPr>
        </p:nvSpPr>
        <p:spPr>
          <a:xfrm>
            <a:off x="3575050" y="204790"/>
            <a:ext cx="5111750" cy="4389835"/>
          </a:xfrm>
          <a:prstGeom prst="rect">
            <a:avLst/>
          </a:prstGeom>
          <a:noFill/>
          <a:ln>
            <a:noFill/>
          </a:ln>
        </p:spPr>
        <p:txBody>
          <a:bodyPr anchorCtr="0" anchor="t" bIns="34275" lIns="68575" spcFirstLastPara="1" rIns="68575" wrap="square" tIns="34275">
            <a:noAutofit/>
          </a:bodyPr>
          <a:lstStyle>
            <a:lvl1pPr indent="-381000" lvl="0" marL="457200" algn="l">
              <a:lnSpc>
                <a:spcPct val="100000"/>
              </a:lnSpc>
              <a:spcBef>
                <a:spcPts val="500"/>
              </a:spcBef>
              <a:spcAft>
                <a:spcPts val="0"/>
              </a:spcAft>
              <a:buClr>
                <a:schemeClr val="dk1"/>
              </a:buClr>
              <a:buSzPts val="2400"/>
              <a:buChar char="•"/>
              <a:defRPr sz="2400"/>
            </a:lvl1pPr>
            <a:lvl2pPr indent="-361950" lvl="1" marL="914400" algn="l">
              <a:lnSpc>
                <a:spcPct val="100000"/>
              </a:lnSpc>
              <a:spcBef>
                <a:spcPts val="400"/>
              </a:spcBef>
              <a:spcAft>
                <a:spcPts val="0"/>
              </a:spcAft>
              <a:buClr>
                <a:schemeClr val="dk1"/>
              </a:buClr>
              <a:buSzPts val="2100"/>
              <a:buChar char="–"/>
              <a:defRPr sz="2100"/>
            </a:lvl2pPr>
            <a:lvl3pPr indent="-342900" lvl="2" marL="1371600" algn="l">
              <a:lnSpc>
                <a:spcPct val="100000"/>
              </a:lnSpc>
              <a:spcBef>
                <a:spcPts val="400"/>
              </a:spcBef>
              <a:spcAft>
                <a:spcPts val="0"/>
              </a:spcAft>
              <a:buClr>
                <a:schemeClr val="dk1"/>
              </a:buClr>
              <a:buSzPts val="1800"/>
              <a:buChar char="•"/>
              <a:defRPr sz="1800"/>
            </a:lvl3pPr>
            <a:lvl4pPr indent="-323850" lvl="3" marL="1828800" algn="l">
              <a:lnSpc>
                <a:spcPct val="100000"/>
              </a:lnSpc>
              <a:spcBef>
                <a:spcPts val="300"/>
              </a:spcBef>
              <a:spcAft>
                <a:spcPts val="0"/>
              </a:spcAft>
              <a:buClr>
                <a:schemeClr val="dk1"/>
              </a:buClr>
              <a:buSzPts val="1500"/>
              <a:buChar char="–"/>
              <a:defRPr sz="1500"/>
            </a:lvl4pPr>
            <a:lvl5pPr indent="-323850" lvl="4" marL="2286000" algn="l">
              <a:lnSpc>
                <a:spcPct val="100000"/>
              </a:lnSpc>
              <a:spcBef>
                <a:spcPts val="300"/>
              </a:spcBef>
              <a:spcAft>
                <a:spcPts val="0"/>
              </a:spcAft>
              <a:buClr>
                <a:schemeClr val="dk1"/>
              </a:buClr>
              <a:buSzPts val="1500"/>
              <a:buChar char="»"/>
              <a:defRPr sz="1500"/>
            </a:lvl5pPr>
            <a:lvl6pPr indent="-323850" lvl="5" marL="2743200" algn="l">
              <a:lnSpc>
                <a:spcPct val="100000"/>
              </a:lnSpc>
              <a:spcBef>
                <a:spcPts val="300"/>
              </a:spcBef>
              <a:spcAft>
                <a:spcPts val="0"/>
              </a:spcAft>
              <a:buClr>
                <a:schemeClr val="dk1"/>
              </a:buClr>
              <a:buSzPts val="1500"/>
              <a:buChar char="•"/>
              <a:defRPr sz="1500"/>
            </a:lvl6pPr>
            <a:lvl7pPr indent="-323850" lvl="6" marL="3200400" algn="l">
              <a:lnSpc>
                <a:spcPct val="100000"/>
              </a:lnSpc>
              <a:spcBef>
                <a:spcPts val="300"/>
              </a:spcBef>
              <a:spcAft>
                <a:spcPts val="0"/>
              </a:spcAft>
              <a:buClr>
                <a:schemeClr val="dk1"/>
              </a:buClr>
              <a:buSzPts val="1500"/>
              <a:buChar char="•"/>
              <a:defRPr sz="1500"/>
            </a:lvl7pPr>
            <a:lvl8pPr indent="-323850" lvl="7" marL="3657600" algn="l">
              <a:lnSpc>
                <a:spcPct val="100000"/>
              </a:lnSpc>
              <a:spcBef>
                <a:spcPts val="300"/>
              </a:spcBef>
              <a:spcAft>
                <a:spcPts val="0"/>
              </a:spcAft>
              <a:buClr>
                <a:schemeClr val="dk1"/>
              </a:buClr>
              <a:buSzPts val="1500"/>
              <a:buChar char="•"/>
              <a:defRPr sz="1500"/>
            </a:lvl8pPr>
            <a:lvl9pPr indent="-323850" lvl="8" marL="4114800" algn="l">
              <a:lnSpc>
                <a:spcPct val="100000"/>
              </a:lnSpc>
              <a:spcBef>
                <a:spcPts val="300"/>
              </a:spcBef>
              <a:spcAft>
                <a:spcPts val="0"/>
              </a:spcAft>
              <a:buClr>
                <a:schemeClr val="dk1"/>
              </a:buClr>
              <a:buSzPts val="1500"/>
              <a:buChar char="•"/>
              <a:defRPr sz="1500"/>
            </a:lvl9pPr>
          </a:lstStyle>
          <a:p/>
        </p:txBody>
      </p:sp>
      <p:sp>
        <p:nvSpPr>
          <p:cNvPr id="177" name="Google Shape;177;p33"/>
          <p:cNvSpPr txBox="1"/>
          <p:nvPr>
            <p:ph idx="2" type="body"/>
          </p:nvPr>
        </p:nvSpPr>
        <p:spPr>
          <a:xfrm>
            <a:off x="457201" y="1076327"/>
            <a:ext cx="3008313" cy="3518297"/>
          </a:xfrm>
          <a:prstGeom prst="rect">
            <a:avLst/>
          </a:prstGeom>
          <a:noFill/>
          <a:ln>
            <a:noFill/>
          </a:ln>
        </p:spPr>
        <p:txBody>
          <a:bodyPr anchorCtr="0" anchor="t" bIns="34275" lIns="68575" spcFirstLastPara="1" rIns="68575" wrap="square" tIns="34275">
            <a:noAutofit/>
          </a:bodyPr>
          <a:lstStyle>
            <a:lvl1pPr indent="-228600" lvl="0" marL="457200" algn="l">
              <a:lnSpc>
                <a:spcPct val="100000"/>
              </a:lnSpc>
              <a:spcBef>
                <a:spcPts val="200"/>
              </a:spcBef>
              <a:spcAft>
                <a:spcPts val="0"/>
              </a:spcAft>
              <a:buClr>
                <a:schemeClr val="dk1"/>
              </a:buClr>
              <a:buSzPts val="1100"/>
              <a:buNone/>
              <a:defRPr sz="1100"/>
            </a:lvl1pPr>
            <a:lvl2pPr indent="-228600" lvl="1" marL="914400" algn="l">
              <a:lnSpc>
                <a:spcPct val="100000"/>
              </a:lnSpc>
              <a:spcBef>
                <a:spcPts val="200"/>
              </a:spcBef>
              <a:spcAft>
                <a:spcPts val="0"/>
              </a:spcAft>
              <a:buClr>
                <a:schemeClr val="dk1"/>
              </a:buClr>
              <a:buSzPts val="900"/>
              <a:buNone/>
              <a:defRPr sz="900"/>
            </a:lvl2pPr>
            <a:lvl3pPr indent="-228600" lvl="2" marL="1371600" algn="l">
              <a:lnSpc>
                <a:spcPct val="100000"/>
              </a:lnSpc>
              <a:spcBef>
                <a:spcPts val="200"/>
              </a:spcBef>
              <a:spcAft>
                <a:spcPts val="0"/>
              </a:spcAft>
              <a:buClr>
                <a:schemeClr val="dk1"/>
              </a:buClr>
              <a:buSzPts val="800"/>
              <a:buNone/>
              <a:defRPr sz="800"/>
            </a:lvl3pPr>
            <a:lvl4pPr indent="-228600" lvl="3" marL="1828800" algn="l">
              <a:lnSpc>
                <a:spcPct val="100000"/>
              </a:lnSpc>
              <a:spcBef>
                <a:spcPts val="100"/>
              </a:spcBef>
              <a:spcAft>
                <a:spcPts val="0"/>
              </a:spcAft>
              <a:buClr>
                <a:schemeClr val="dk1"/>
              </a:buClr>
              <a:buSzPts val="700"/>
              <a:buNone/>
              <a:defRPr sz="700"/>
            </a:lvl4pPr>
            <a:lvl5pPr indent="-228600" lvl="4" marL="2286000" algn="l">
              <a:lnSpc>
                <a:spcPct val="100000"/>
              </a:lnSpc>
              <a:spcBef>
                <a:spcPts val="100"/>
              </a:spcBef>
              <a:spcAft>
                <a:spcPts val="0"/>
              </a:spcAft>
              <a:buClr>
                <a:schemeClr val="dk1"/>
              </a:buClr>
              <a:buSzPts val="700"/>
              <a:buNone/>
              <a:defRPr sz="700"/>
            </a:lvl5pPr>
            <a:lvl6pPr indent="-228600" lvl="5" marL="2743200" algn="l">
              <a:lnSpc>
                <a:spcPct val="100000"/>
              </a:lnSpc>
              <a:spcBef>
                <a:spcPts val="100"/>
              </a:spcBef>
              <a:spcAft>
                <a:spcPts val="0"/>
              </a:spcAft>
              <a:buClr>
                <a:schemeClr val="dk1"/>
              </a:buClr>
              <a:buSzPts val="700"/>
              <a:buNone/>
              <a:defRPr sz="700"/>
            </a:lvl6pPr>
            <a:lvl7pPr indent="-228600" lvl="6" marL="3200400" algn="l">
              <a:lnSpc>
                <a:spcPct val="100000"/>
              </a:lnSpc>
              <a:spcBef>
                <a:spcPts val="100"/>
              </a:spcBef>
              <a:spcAft>
                <a:spcPts val="0"/>
              </a:spcAft>
              <a:buClr>
                <a:schemeClr val="dk1"/>
              </a:buClr>
              <a:buSzPts val="700"/>
              <a:buNone/>
              <a:defRPr sz="700"/>
            </a:lvl7pPr>
            <a:lvl8pPr indent="-228600" lvl="7" marL="3657600" algn="l">
              <a:lnSpc>
                <a:spcPct val="100000"/>
              </a:lnSpc>
              <a:spcBef>
                <a:spcPts val="100"/>
              </a:spcBef>
              <a:spcAft>
                <a:spcPts val="0"/>
              </a:spcAft>
              <a:buClr>
                <a:schemeClr val="dk1"/>
              </a:buClr>
              <a:buSzPts val="700"/>
              <a:buNone/>
              <a:defRPr sz="700"/>
            </a:lvl8pPr>
            <a:lvl9pPr indent="-228600" lvl="8" marL="4114800" algn="l">
              <a:lnSpc>
                <a:spcPct val="100000"/>
              </a:lnSpc>
              <a:spcBef>
                <a:spcPts val="100"/>
              </a:spcBef>
              <a:spcAft>
                <a:spcPts val="0"/>
              </a:spcAft>
              <a:buClr>
                <a:schemeClr val="dk1"/>
              </a:buClr>
              <a:buSzPts val="700"/>
              <a:buNone/>
              <a:defRPr sz="700"/>
            </a:lvl9pPr>
          </a:lstStyle>
          <a:p/>
        </p:txBody>
      </p:sp>
      <p:sp>
        <p:nvSpPr>
          <p:cNvPr id="178" name="Google Shape;178;p3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9" name="Google Shape;179;p3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0" name="Google Shape;180;p3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81" name="Shape 181"/>
        <p:cNvGrpSpPr/>
        <p:nvPr/>
      </p:nvGrpSpPr>
      <p:grpSpPr>
        <a:xfrm>
          <a:off x="0" y="0"/>
          <a:ext cx="0" cy="0"/>
          <a:chOff x="0" y="0"/>
          <a:chExt cx="0" cy="0"/>
        </a:xfrm>
      </p:grpSpPr>
      <p:sp>
        <p:nvSpPr>
          <p:cNvPr id="182" name="Google Shape;182;p34"/>
          <p:cNvSpPr txBox="1"/>
          <p:nvPr>
            <p:ph type="title"/>
          </p:nvPr>
        </p:nvSpPr>
        <p:spPr>
          <a:xfrm>
            <a:off x="1792288" y="3600450"/>
            <a:ext cx="5486400" cy="425054"/>
          </a:xfrm>
          <a:prstGeom prst="rect">
            <a:avLst/>
          </a:prstGeom>
          <a:noFill/>
          <a:ln>
            <a:noFill/>
          </a:ln>
        </p:spPr>
        <p:txBody>
          <a:bodyPr anchorCtr="0" anchor="b" bIns="34275" lIns="68575" spcFirstLastPara="1" rIns="68575" wrap="square" tIns="34275">
            <a:noAutofit/>
          </a:bodyPr>
          <a:lstStyle>
            <a:lvl1pPr lvl="0" algn="l">
              <a:lnSpc>
                <a:spcPct val="100000"/>
              </a:lnSpc>
              <a:spcBef>
                <a:spcPts val="0"/>
              </a:spcBef>
              <a:spcAft>
                <a:spcPts val="0"/>
              </a:spcAft>
              <a:buSzPts val="1100"/>
              <a:buNone/>
              <a:defRPr b="1" sz="1500"/>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83" name="Google Shape;183;p34"/>
          <p:cNvSpPr/>
          <p:nvPr>
            <p:ph idx="2" type="pic"/>
          </p:nvPr>
        </p:nvSpPr>
        <p:spPr>
          <a:xfrm>
            <a:off x="1792288" y="459581"/>
            <a:ext cx="5486400" cy="3086100"/>
          </a:xfrm>
          <a:prstGeom prst="rect">
            <a:avLst/>
          </a:prstGeom>
          <a:noFill/>
          <a:ln>
            <a:noFill/>
          </a:ln>
        </p:spPr>
      </p:sp>
      <p:sp>
        <p:nvSpPr>
          <p:cNvPr id="184" name="Google Shape;184;p34"/>
          <p:cNvSpPr txBox="1"/>
          <p:nvPr>
            <p:ph idx="1" type="body"/>
          </p:nvPr>
        </p:nvSpPr>
        <p:spPr>
          <a:xfrm>
            <a:off x="1792288" y="4025503"/>
            <a:ext cx="5486400" cy="603647"/>
          </a:xfrm>
          <a:prstGeom prst="rect">
            <a:avLst/>
          </a:prstGeom>
          <a:noFill/>
          <a:ln>
            <a:noFill/>
          </a:ln>
        </p:spPr>
        <p:txBody>
          <a:bodyPr anchorCtr="0" anchor="t" bIns="34275" lIns="68575" spcFirstLastPara="1" rIns="68575" wrap="square" tIns="34275">
            <a:noAutofit/>
          </a:bodyPr>
          <a:lstStyle>
            <a:lvl1pPr indent="-228600" lvl="0" marL="457200" algn="l">
              <a:lnSpc>
                <a:spcPct val="100000"/>
              </a:lnSpc>
              <a:spcBef>
                <a:spcPts val="200"/>
              </a:spcBef>
              <a:spcAft>
                <a:spcPts val="0"/>
              </a:spcAft>
              <a:buClr>
                <a:schemeClr val="dk1"/>
              </a:buClr>
              <a:buSzPts val="1100"/>
              <a:buNone/>
              <a:defRPr sz="1100"/>
            </a:lvl1pPr>
            <a:lvl2pPr indent="-228600" lvl="1" marL="914400" algn="l">
              <a:lnSpc>
                <a:spcPct val="100000"/>
              </a:lnSpc>
              <a:spcBef>
                <a:spcPts val="200"/>
              </a:spcBef>
              <a:spcAft>
                <a:spcPts val="0"/>
              </a:spcAft>
              <a:buClr>
                <a:schemeClr val="dk1"/>
              </a:buClr>
              <a:buSzPts val="900"/>
              <a:buNone/>
              <a:defRPr sz="900"/>
            </a:lvl2pPr>
            <a:lvl3pPr indent="-228600" lvl="2" marL="1371600" algn="l">
              <a:lnSpc>
                <a:spcPct val="100000"/>
              </a:lnSpc>
              <a:spcBef>
                <a:spcPts val="200"/>
              </a:spcBef>
              <a:spcAft>
                <a:spcPts val="0"/>
              </a:spcAft>
              <a:buClr>
                <a:schemeClr val="dk1"/>
              </a:buClr>
              <a:buSzPts val="800"/>
              <a:buNone/>
              <a:defRPr sz="800"/>
            </a:lvl3pPr>
            <a:lvl4pPr indent="-228600" lvl="3" marL="1828800" algn="l">
              <a:lnSpc>
                <a:spcPct val="100000"/>
              </a:lnSpc>
              <a:spcBef>
                <a:spcPts val="100"/>
              </a:spcBef>
              <a:spcAft>
                <a:spcPts val="0"/>
              </a:spcAft>
              <a:buClr>
                <a:schemeClr val="dk1"/>
              </a:buClr>
              <a:buSzPts val="700"/>
              <a:buNone/>
              <a:defRPr sz="700"/>
            </a:lvl4pPr>
            <a:lvl5pPr indent="-228600" lvl="4" marL="2286000" algn="l">
              <a:lnSpc>
                <a:spcPct val="100000"/>
              </a:lnSpc>
              <a:spcBef>
                <a:spcPts val="100"/>
              </a:spcBef>
              <a:spcAft>
                <a:spcPts val="0"/>
              </a:spcAft>
              <a:buClr>
                <a:schemeClr val="dk1"/>
              </a:buClr>
              <a:buSzPts val="700"/>
              <a:buNone/>
              <a:defRPr sz="700"/>
            </a:lvl5pPr>
            <a:lvl6pPr indent="-228600" lvl="5" marL="2743200" algn="l">
              <a:lnSpc>
                <a:spcPct val="100000"/>
              </a:lnSpc>
              <a:spcBef>
                <a:spcPts val="100"/>
              </a:spcBef>
              <a:spcAft>
                <a:spcPts val="0"/>
              </a:spcAft>
              <a:buClr>
                <a:schemeClr val="dk1"/>
              </a:buClr>
              <a:buSzPts val="700"/>
              <a:buNone/>
              <a:defRPr sz="700"/>
            </a:lvl6pPr>
            <a:lvl7pPr indent="-228600" lvl="6" marL="3200400" algn="l">
              <a:lnSpc>
                <a:spcPct val="100000"/>
              </a:lnSpc>
              <a:spcBef>
                <a:spcPts val="100"/>
              </a:spcBef>
              <a:spcAft>
                <a:spcPts val="0"/>
              </a:spcAft>
              <a:buClr>
                <a:schemeClr val="dk1"/>
              </a:buClr>
              <a:buSzPts val="700"/>
              <a:buNone/>
              <a:defRPr sz="700"/>
            </a:lvl7pPr>
            <a:lvl8pPr indent="-228600" lvl="7" marL="3657600" algn="l">
              <a:lnSpc>
                <a:spcPct val="100000"/>
              </a:lnSpc>
              <a:spcBef>
                <a:spcPts val="100"/>
              </a:spcBef>
              <a:spcAft>
                <a:spcPts val="0"/>
              </a:spcAft>
              <a:buClr>
                <a:schemeClr val="dk1"/>
              </a:buClr>
              <a:buSzPts val="700"/>
              <a:buNone/>
              <a:defRPr sz="700"/>
            </a:lvl8pPr>
            <a:lvl9pPr indent="-228600" lvl="8" marL="4114800" algn="l">
              <a:lnSpc>
                <a:spcPct val="100000"/>
              </a:lnSpc>
              <a:spcBef>
                <a:spcPts val="100"/>
              </a:spcBef>
              <a:spcAft>
                <a:spcPts val="0"/>
              </a:spcAft>
              <a:buClr>
                <a:schemeClr val="dk1"/>
              </a:buClr>
              <a:buSzPts val="700"/>
              <a:buNone/>
              <a:defRPr sz="700"/>
            </a:lvl9pPr>
          </a:lstStyle>
          <a:p/>
        </p:txBody>
      </p:sp>
      <p:sp>
        <p:nvSpPr>
          <p:cNvPr id="185" name="Google Shape;185;p3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6" name="Google Shape;186;p3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7" name="Google Shape;187;p3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88" name="Shape 188"/>
        <p:cNvGrpSpPr/>
        <p:nvPr/>
      </p:nvGrpSpPr>
      <p:grpSpPr>
        <a:xfrm>
          <a:off x="0" y="0"/>
          <a:ext cx="0" cy="0"/>
          <a:chOff x="0" y="0"/>
          <a:chExt cx="0" cy="0"/>
        </a:xfrm>
      </p:grpSpPr>
      <p:sp>
        <p:nvSpPr>
          <p:cNvPr id="189" name="Google Shape;189;p3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90" name="Google Shape;190;p35"/>
          <p:cNvSpPr txBox="1"/>
          <p:nvPr>
            <p:ph idx="1" type="body"/>
          </p:nvPr>
        </p:nvSpPr>
        <p:spPr>
          <a:xfrm rot="5400000">
            <a:off x="2685455" y="-1406723"/>
            <a:ext cx="3773091" cy="82296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91" name="Google Shape;191;p3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2" name="Google Shape;192;p3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3" name="Google Shape;193;p3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4" name="Shape 194"/>
        <p:cNvGrpSpPr/>
        <p:nvPr/>
      </p:nvGrpSpPr>
      <p:grpSpPr>
        <a:xfrm>
          <a:off x="0" y="0"/>
          <a:ext cx="0" cy="0"/>
          <a:chOff x="0" y="0"/>
          <a:chExt cx="0" cy="0"/>
        </a:xfrm>
      </p:grpSpPr>
      <p:sp>
        <p:nvSpPr>
          <p:cNvPr id="195" name="Google Shape;195;p36"/>
          <p:cNvSpPr txBox="1"/>
          <p:nvPr>
            <p:ph type="title"/>
          </p:nvPr>
        </p:nvSpPr>
        <p:spPr>
          <a:xfrm rot="5400000">
            <a:off x="5463778" y="1371603"/>
            <a:ext cx="4388644" cy="20574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96" name="Google Shape;196;p36"/>
          <p:cNvSpPr txBox="1"/>
          <p:nvPr>
            <p:ph idx="1" type="body"/>
          </p:nvPr>
        </p:nvSpPr>
        <p:spPr>
          <a:xfrm rot="5400000">
            <a:off x="1272778" y="-609597"/>
            <a:ext cx="4388644" cy="60198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97" name="Google Shape;197;p3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8" name="Google Shape;198;p3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9" name="Google Shape;199;p3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4.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1pPr>
            <a:lvl2pPr lvl="1"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2pPr>
            <a:lvl3pPr lvl="2"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3pPr>
            <a:lvl4pPr lvl="3"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4pPr>
            <a:lvl5pPr lvl="4"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5pPr>
            <a:lvl6pPr lvl="5"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6pPr>
            <a:lvl7pPr lvl="6"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7pPr>
            <a:lvl8pPr lvl="7"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8pPr>
            <a:lvl9pPr lvl="8"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9pPr>
          </a:lstStyle>
          <a:p/>
        </p:txBody>
      </p:sp>
      <p:sp>
        <p:nvSpPr>
          <p:cNvPr id="52" name="Google Shape;52;p13"/>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81000" lvl="0" marL="457200" marR="0" rtl="0" algn="l">
              <a:spcBef>
                <a:spcPts val="50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1pPr>
            <a:lvl2pPr indent="-361950" lvl="1" marL="914400" marR="0" rtl="0" algn="l">
              <a:spcBef>
                <a:spcPts val="400"/>
              </a:spcBef>
              <a:spcAft>
                <a:spcPts val="0"/>
              </a:spcAft>
              <a:buClr>
                <a:schemeClr val="dk1"/>
              </a:buClr>
              <a:buSzPts val="2100"/>
              <a:buFont typeface="Arial"/>
              <a:buChar char="–"/>
              <a:defRPr b="0" i="0" sz="2100" u="none" cap="none" strike="noStrike">
                <a:solidFill>
                  <a:schemeClr val="dk1"/>
                </a:solidFill>
                <a:latin typeface="Oswald"/>
                <a:ea typeface="Oswald"/>
                <a:cs typeface="Oswald"/>
                <a:sym typeface="Oswald"/>
              </a:defRPr>
            </a:lvl2pPr>
            <a:lvl3pPr indent="-342900" lvl="2" marL="1371600" marR="0" rtl="0" algn="l">
              <a:spcBef>
                <a:spcPts val="400"/>
              </a:spcBef>
              <a:spcAft>
                <a:spcPts val="0"/>
              </a:spcAft>
              <a:buClr>
                <a:schemeClr val="dk1"/>
              </a:buClr>
              <a:buSzPts val="1800"/>
              <a:buFont typeface="Arial"/>
              <a:buChar char="•"/>
              <a:defRPr b="0" i="0" sz="1800" u="none" cap="none" strike="noStrike">
                <a:solidFill>
                  <a:schemeClr val="dk1"/>
                </a:solidFill>
                <a:latin typeface="Oswald"/>
                <a:ea typeface="Oswald"/>
                <a:cs typeface="Oswald"/>
                <a:sym typeface="Oswald"/>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98989"/>
                </a:solidFill>
                <a:latin typeface="Oswald"/>
                <a:ea typeface="Oswald"/>
                <a:cs typeface="Oswald"/>
                <a:sym typeface="Oswald"/>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Oswald"/>
                <a:ea typeface="Oswald"/>
                <a:cs typeface="Oswald"/>
                <a:sym typeface="Oswald"/>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spcAft>
                <a:spcPts val="0"/>
              </a:spcAft>
              <a:buNone/>
              <a:defRPr b="0" i="0" sz="900" u="none" cap="none" strike="noStrike">
                <a:solidFill>
                  <a:srgbClr val="898989"/>
                </a:solidFill>
                <a:latin typeface="Oswald"/>
                <a:ea typeface="Oswald"/>
                <a:cs typeface="Oswald"/>
                <a:sym typeface="Oswald"/>
              </a:defRPr>
            </a:lvl1pPr>
            <a:lvl2pPr indent="0" lvl="1" marL="0" marR="0" rtl="0" algn="r">
              <a:spcBef>
                <a:spcPts val="0"/>
              </a:spcBef>
              <a:spcAft>
                <a:spcPts val="0"/>
              </a:spcAft>
              <a:buNone/>
              <a:defRPr b="0" i="0" sz="900" u="none" cap="none" strike="noStrike">
                <a:solidFill>
                  <a:srgbClr val="898989"/>
                </a:solidFill>
                <a:latin typeface="Oswald"/>
                <a:ea typeface="Oswald"/>
                <a:cs typeface="Oswald"/>
                <a:sym typeface="Oswald"/>
              </a:defRPr>
            </a:lvl2pPr>
            <a:lvl3pPr indent="0" lvl="2" marL="0" marR="0" rtl="0" algn="r">
              <a:spcBef>
                <a:spcPts val="0"/>
              </a:spcBef>
              <a:spcAft>
                <a:spcPts val="0"/>
              </a:spcAft>
              <a:buNone/>
              <a:defRPr b="0" i="0" sz="900" u="none" cap="none" strike="noStrike">
                <a:solidFill>
                  <a:srgbClr val="898989"/>
                </a:solidFill>
                <a:latin typeface="Oswald"/>
                <a:ea typeface="Oswald"/>
                <a:cs typeface="Oswald"/>
                <a:sym typeface="Oswald"/>
              </a:defRPr>
            </a:lvl3pPr>
            <a:lvl4pPr indent="0" lvl="3" marL="0" marR="0" rtl="0" algn="r">
              <a:spcBef>
                <a:spcPts val="0"/>
              </a:spcBef>
              <a:spcAft>
                <a:spcPts val="0"/>
              </a:spcAft>
              <a:buNone/>
              <a:defRPr b="0" i="0" sz="900" u="none" cap="none" strike="noStrike">
                <a:solidFill>
                  <a:srgbClr val="898989"/>
                </a:solidFill>
                <a:latin typeface="Oswald"/>
                <a:ea typeface="Oswald"/>
                <a:cs typeface="Oswald"/>
                <a:sym typeface="Oswald"/>
              </a:defRPr>
            </a:lvl4pPr>
            <a:lvl5pPr indent="0" lvl="4" marL="0" marR="0" rtl="0" algn="r">
              <a:spcBef>
                <a:spcPts val="0"/>
              </a:spcBef>
              <a:spcAft>
                <a:spcPts val="0"/>
              </a:spcAft>
              <a:buNone/>
              <a:defRPr b="0" i="0" sz="900" u="none" cap="none" strike="noStrike">
                <a:solidFill>
                  <a:srgbClr val="898989"/>
                </a:solidFill>
                <a:latin typeface="Oswald"/>
                <a:ea typeface="Oswald"/>
                <a:cs typeface="Oswald"/>
                <a:sym typeface="Oswald"/>
              </a:defRPr>
            </a:lvl5pPr>
            <a:lvl6pPr indent="0" lvl="5" marL="0" marR="0" rtl="0" algn="r">
              <a:spcBef>
                <a:spcPts val="0"/>
              </a:spcBef>
              <a:spcAft>
                <a:spcPts val="0"/>
              </a:spcAft>
              <a:buNone/>
              <a:defRPr b="0" i="0" sz="900" u="none" cap="none" strike="noStrike">
                <a:solidFill>
                  <a:srgbClr val="898989"/>
                </a:solidFill>
                <a:latin typeface="Oswald"/>
                <a:ea typeface="Oswald"/>
                <a:cs typeface="Oswald"/>
                <a:sym typeface="Oswald"/>
              </a:defRPr>
            </a:lvl6pPr>
            <a:lvl7pPr indent="0" lvl="6" marL="0" marR="0" rtl="0" algn="r">
              <a:spcBef>
                <a:spcPts val="0"/>
              </a:spcBef>
              <a:spcAft>
                <a:spcPts val="0"/>
              </a:spcAft>
              <a:buNone/>
              <a:defRPr b="0" i="0" sz="900" u="none" cap="none" strike="noStrike">
                <a:solidFill>
                  <a:srgbClr val="898989"/>
                </a:solidFill>
                <a:latin typeface="Oswald"/>
                <a:ea typeface="Oswald"/>
                <a:cs typeface="Oswald"/>
                <a:sym typeface="Oswald"/>
              </a:defRPr>
            </a:lvl7pPr>
            <a:lvl8pPr indent="0" lvl="7" marL="0" marR="0" rtl="0" algn="r">
              <a:spcBef>
                <a:spcPts val="0"/>
              </a:spcBef>
              <a:spcAft>
                <a:spcPts val="0"/>
              </a:spcAft>
              <a:buNone/>
              <a:defRPr b="0" i="0" sz="900" u="none" cap="none" strike="noStrike">
                <a:solidFill>
                  <a:srgbClr val="898989"/>
                </a:solidFill>
                <a:latin typeface="Oswald"/>
                <a:ea typeface="Oswald"/>
                <a:cs typeface="Oswald"/>
                <a:sym typeface="Oswald"/>
              </a:defRPr>
            </a:lvl8pPr>
            <a:lvl9pPr indent="0" lvl="8" marL="0" marR="0" rtl="0" algn="r">
              <a:spcBef>
                <a:spcPts val="0"/>
              </a:spcBef>
              <a:spcAft>
                <a:spcPts val="0"/>
              </a:spcAft>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1pPr>
            <a:lvl2pPr lvl="1"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2pPr>
            <a:lvl3pPr lvl="2"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3pPr>
            <a:lvl4pPr lvl="3"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4pPr>
            <a:lvl5pPr lvl="4"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5pPr>
            <a:lvl6pPr lvl="5"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6pPr>
            <a:lvl7pPr lvl="6"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7pPr>
            <a:lvl8pPr lvl="7"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8pPr>
            <a:lvl9pPr lvl="8"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9pPr>
          </a:lstStyle>
          <a:p/>
        </p:txBody>
      </p:sp>
      <p:sp>
        <p:nvSpPr>
          <p:cNvPr id="127" name="Google Shape;127;p25"/>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81000" lvl="0" marL="457200" marR="0" rtl="0" algn="l">
              <a:lnSpc>
                <a:spcPct val="100000"/>
              </a:lnSpc>
              <a:spcBef>
                <a:spcPts val="50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1pPr>
            <a:lvl2pPr indent="-361950" lvl="1" marL="914400" marR="0" rtl="0" algn="l">
              <a:lnSpc>
                <a:spcPct val="100000"/>
              </a:lnSpc>
              <a:spcBef>
                <a:spcPts val="400"/>
              </a:spcBef>
              <a:spcAft>
                <a:spcPts val="0"/>
              </a:spcAft>
              <a:buClr>
                <a:schemeClr val="dk1"/>
              </a:buClr>
              <a:buSzPts val="2100"/>
              <a:buFont typeface="Arial"/>
              <a:buChar char="–"/>
              <a:defRPr b="0" i="0" sz="2100" u="none" cap="none" strike="noStrike">
                <a:solidFill>
                  <a:schemeClr val="dk1"/>
                </a:solidFill>
                <a:latin typeface="Oswald"/>
                <a:ea typeface="Oswald"/>
                <a:cs typeface="Oswald"/>
                <a:sym typeface="Oswald"/>
              </a:defRPr>
            </a:lvl2pPr>
            <a:lvl3pPr indent="-342900" lvl="2" marL="13716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Oswald"/>
                <a:ea typeface="Oswald"/>
                <a:cs typeface="Oswald"/>
                <a:sym typeface="Oswald"/>
              </a:defRPr>
            </a:lvl3pPr>
            <a:lvl4pPr indent="-323850" lvl="3" marL="18288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4pPr>
            <a:lvl5pPr indent="-323850" lvl="4" marL="22860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5pPr>
            <a:lvl6pPr indent="-323850" lvl="5" marL="27432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128" name="Google Shape;128;p2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98989"/>
                </a:solidFill>
                <a:latin typeface="Oswald"/>
                <a:ea typeface="Oswald"/>
                <a:cs typeface="Oswald"/>
                <a:sym typeface="Oswald"/>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29" name="Google Shape;129;p2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Oswald"/>
                <a:ea typeface="Oswald"/>
                <a:cs typeface="Oswald"/>
                <a:sym typeface="Oswald"/>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30" name="Google Shape;130;p2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hyperlink" Target="https://erddap.incois.gov.in/erddap/index.html" TargetMode="External"/><Relationship Id="rId7" Type="http://schemas.openxmlformats.org/officeDocument/2006/relationships/hyperlink" Target="https://data-argo.ifremer.fr/" TargetMode="External"/><Relationship Id="rId8" Type="http://schemas.openxmlformats.org/officeDocument/2006/relationships/hyperlink" Target="https://www.pmel.noaa.gov/gtmba/pmel-theme/indian-ocean-rama" TargetMode="External"/><Relationship Id="rId9" Type="http://schemas.openxmlformats.org/officeDocument/2006/relationships/hyperlink" Target="https://www.mdpi.com/2076-3417/15/5/2782" TargetMode="External"/><Relationship Id="rId10" Type="http://schemas.openxmlformats.org/officeDocument/2006/relationships/hyperlink" Target="https://doi.org/10.1080/1755876X.2015.1022330" TargetMode="External"/><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hyperlink" Target="http://docs.oasis-open.org/emergency/cap/v1.2/CAP-v1.2-os.html" TargetMode="External"/><Relationship Id="rId14" Type="http://schemas.openxmlformats.org/officeDocument/2006/relationships/hyperlink" Target="https://sachet.ndma.gov.in/" TargetMode="External"/><Relationship Id="rId15" Type="http://schemas.openxmlformats.org/officeDocument/2006/relationships/hyperlink" Target="https://www.ogc.org/standards/wms" TargetMode="External"/><Relationship Id="rId16" Type="http://schemas.openxmlformats.org/officeDocument/2006/relationships/hyperlink" Target="https://www.ogc.org/standards/wc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18.png"/><Relationship Id="rId9" Type="http://schemas.openxmlformats.org/officeDocument/2006/relationships/image" Target="../media/image21.png"/><Relationship Id="rId10" Type="http://schemas.openxmlformats.org/officeDocument/2006/relationships/image" Target="../media/image10.png"/><Relationship Id="rId11" Type="http://schemas.openxmlformats.org/officeDocument/2006/relationships/image" Target="../media/image15.png"/><Relationship Id="rId12" Type="http://schemas.openxmlformats.org/officeDocument/2006/relationships/image" Target="../media/image12.png"/><Relationship Id="rId13" Type="http://schemas.openxmlformats.org/officeDocument/2006/relationships/image" Target="../media/image17.png"/><Relationship Id="rId14" Type="http://schemas.openxmlformats.org/officeDocument/2006/relationships/image" Target="../media/image25.png"/><Relationship Id="rId15" Type="http://schemas.openxmlformats.org/officeDocument/2006/relationships/image" Target="../media/image20.png"/><Relationship Id="rId16" Type="http://schemas.openxmlformats.org/officeDocument/2006/relationships/image" Target="../media/image23.png"/><Relationship Id="rId17" Type="http://schemas.openxmlformats.org/officeDocument/2006/relationships/image" Target="../media/image6.png"/><Relationship Id="rId18" Type="http://schemas.openxmlformats.org/officeDocument/2006/relationships/image" Target="../media/image22.png"/><Relationship Id="rId19" Type="http://schemas.openxmlformats.org/officeDocument/2006/relationships/image" Target="../media/image8.png"/><Relationship Id="rId20" Type="http://schemas.openxmlformats.org/officeDocument/2006/relationships/image" Target="../media/image9.png"/><Relationship Id="rId21" Type="http://schemas.openxmlformats.org/officeDocument/2006/relationships/image" Target="../media/image19.png"/><Relationship Id="rId22" Type="http://schemas.openxmlformats.org/officeDocument/2006/relationships/image" Target="../media/image26.png"/><Relationship Id="rId23" Type="http://schemas.openxmlformats.org/officeDocument/2006/relationships/image" Target="../media/image27.png"/><Relationship Id="rId24" Type="http://schemas.openxmlformats.org/officeDocument/2006/relationships/image" Target="../media/image28.png"/><Relationship Id="rId25" Type="http://schemas.openxmlformats.org/officeDocument/2006/relationships/hyperlink" Target="https://erddap.incois.gov.in/erddap/index.html" TargetMode="External"/><Relationship Id="rId26" Type="http://schemas.openxmlformats.org/officeDocument/2006/relationships/hyperlink" Target="https://data-argo.ifremer.fr/" TargetMode="External"/><Relationship Id="rId27" Type="http://schemas.openxmlformats.org/officeDocument/2006/relationships/hyperlink" Target="https://www.pmel.noaa.gov/gtmba/pmel-theme/indian-ocean-rama" TargetMode="External"/><Relationship Id="rId28" Type="http://schemas.openxmlformats.org/officeDocument/2006/relationships/hyperlink" Target="https://sachet.ndma.gov.in/" TargetMode="External"/><Relationship Id="rId29" Type="http://schemas.openxmlformats.org/officeDocument/2006/relationships/hyperlink" Target="https://cfconventions.org/" TargetMode="External"/><Relationship Id="rId30" Type="http://schemas.openxmlformats.org/officeDocument/2006/relationships/hyperlink" Target="https://doi.org/10.3389/fmars.2020.00700" TargetMode="External"/><Relationship Id="rId31" Type="http://schemas.openxmlformats.org/officeDocument/2006/relationships/hyperlink" Target="https://www.mdpi.com/2077-1312/7/4/110" TargetMode="External"/><Relationship Id="rId32" Type="http://schemas.openxmlformats.org/officeDocument/2006/relationships/hyperlink" Target="https://doi.org/10.1175/JTECH-D-19-0041.1" TargetMode="External"/><Relationship Id="rId33" Type="http://schemas.openxmlformats.org/officeDocument/2006/relationships/hyperlink" Target="https://www.ogc.org/standards/wms" TargetMode="External"/><Relationship Id="rId34" Type="http://schemas.openxmlformats.org/officeDocument/2006/relationships/hyperlink" Target="https://www.ogc.org/standards/wcs" TargetMode="External"/><Relationship Id="rId35" Type="http://schemas.openxmlformats.org/officeDocument/2006/relationships/hyperlink" Target="https://doi.org/10.1080/1755876X.2015.1022330" TargetMode="External"/><Relationship Id="rId36" Type="http://schemas.openxmlformats.org/officeDocument/2006/relationships/hyperlink" Target="https://www.mdpi.com/2076-3417/15/5/2782"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hyperlink" Target="https://www.mdpi.com/2076-3417/15/5/2782" TargetMode="External"/><Relationship Id="rId7" Type="http://schemas.openxmlformats.org/officeDocument/2006/relationships/hyperlink" Target="https://www.mdpi.com/2077-1312/7/4/110"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https://doi.org/10.1080/1755876X.2015.1022330" TargetMode="External"/><Relationship Id="rId5" Type="http://schemas.openxmlformats.org/officeDocument/2006/relationships/hyperlink" Target="https://doi.org/10.3389/fmars.2020.00700" TargetMode="External"/><Relationship Id="rId6" Type="http://schemas.openxmlformats.org/officeDocument/2006/relationships/hyperlink" Target="https://www.teos-10.org/" TargetMode="External"/><Relationship Id="rId7" Type="http://schemas.openxmlformats.org/officeDocument/2006/relationships/hyperlink" Target="https://www.currentscience.ac.in/Volumes/105/02/0175.pdf" TargetMode="External"/><Relationship Id="rId8" Type="http://schemas.openxmlformats.org/officeDocument/2006/relationships/hyperlink" Target="https://www.sciencedirect.com/science/article/pii/S1364815220309658" TargetMode="External"/><Relationship Id="rId9" Type="http://schemas.openxmlformats.org/officeDocument/2006/relationships/hyperlink" Target="https://www.mdpi.com/2076-3417/15/5/2782" TargetMode="External"/><Relationship Id="rId10" Type="http://schemas.openxmlformats.org/officeDocument/2006/relationships/hyperlink" Target="https://doi.org/10.1175/JTECH-D-19-0041.1" TargetMode="External"/><Relationship Id="rId11" Type="http://schemas.openxmlformats.org/officeDocument/2006/relationships/hyperlink" Target="https://www.sciencedirect.com/science/article/pii/S1364815213000947" TargetMode="External"/><Relationship Id="rId12" Type="http://schemas.openxmlformats.org/officeDocument/2006/relationships/hyperlink" Target="https://www.mdpi.com/2077-1312/7/4/110" TargetMode="External"/><Relationship Id="rId13" Type="http://schemas.openxmlformats.org/officeDocument/2006/relationships/hyperlink" Target="https://arxiv.org/abs/2309.14328" TargetMode="External"/><Relationship Id="rId14" Type="http://schemas.openxmlformats.org/officeDocument/2006/relationships/hyperlink" Target="https://erddap.incois.gov.in/erddap/index.html" TargetMode="External"/><Relationship Id="rId15" Type="http://schemas.openxmlformats.org/officeDocument/2006/relationships/hyperlink" Target="https://data-argo.ifremer.fr/" TargetMode="External"/><Relationship Id="rId16" Type="http://schemas.openxmlformats.org/officeDocument/2006/relationships/hyperlink" Target="https://data.marine.copernicus.eu/product/GLOBAL_ANALYSISFORECAST_PHY_001_024/description" TargetMode="External"/><Relationship Id="rId17" Type="http://schemas.openxmlformats.org/officeDocument/2006/relationships/hyperlink" Target="https://www.pmel.noaa.gov/gtmba/pmel-theme/indian-ocean-rama" TargetMode="External"/><Relationship Id="rId18" Type="http://schemas.openxmlformats.org/officeDocument/2006/relationships/hyperlink" Target="https://sachet.ndma.gov.in/" TargetMode="External"/><Relationship Id="rId19" Type="http://schemas.openxmlformats.org/officeDocument/2006/relationships/hyperlink" Target="https://incois.gov.in/" TargetMode="External"/><Relationship Id="rId20" Type="http://schemas.openxmlformats.org/officeDocument/2006/relationships/hyperlink" Target="https://cfconventions.org/" TargetMode="External"/><Relationship Id="rId21" Type="http://schemas.openxmlformats.org/officeDocument/2006/relationships/hyperlink" Target="https://www.ogc.org/standards/wms" TargetMode="External"/><Relationship Id="rId22" Type="http://schemas.openxmlformats.org/officeDocument/2006/relationships/hyperlink" Target="https://www.ogc.org/standards/wcs" TargetMode="External"/><Relationship Id="rId23" Type="http://schemas.openxmlformats.org/officeDocument/2006/relationships/hyperlink" Target="http://docs.oasis-open.org/emergency/cap/v1.2/CAP-v1.2-os.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3" name="Shape 203"/>
        <p:cNvGrpSpPr/>
        <p:nvPr/>
      </p:nvGrpSpPr>
      <p:grpSpPr>
        <a:xfrm>
          <a:off x="0" y="0"/>
          <a:ext cx="0" cy="0"/>
          <a:chOff x="0" y="0"/>
          <a:chExt cx="0" cy="0"/>
        </a:xfrm>
      </p:grpSpPr>
      <p:sp>
        <p:nvSpPr>
          <p:cNvPr id="204" name="Google Shape;204;p37"/>
          <p:cNvSpPr/>
          <p:nvPr/>
        </p:nvSpPr>
        <p:spPr>
          <a:xfrm>
            <a:off x="5415063" y="228036"/>
            <a:ext cx="3478953" cy="3866225"/>
          </a:xfrm>
          <a:custGeom>
            <a:rect b="b" l="l" r="r" t="t"/>
            <a:pathLst>
              <a:path extrusionOk="0" h="5154967" w="6184806">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rgbClr val="7F7F7F">
              <a:alpha val="1490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205" name="Google Shape;205;p37"/>
          <p:cNvSpPr txBox="1"/>
          <p:nvPr>
            <p:ph type="ctrTitle"/>
          </p:nvPr>
        </p:nvSpPr>
        <p:spPr>
          <a:xfrm>
            <a:off x="646675" y="106173"/>
            <a:ext cx="6908400" cy="452700"/>
          </a:xfrm>
          <a:prstGeom prst="rect">
            <a:avLst/>
          </a:prstGeom>
          <a:noFill/>
          <a:ln>
            <a:noFill/>
          </a:ln>
        </p:spPr>
        <p:txBody>
          <a:bodyPr anchorCtr="0" anchor="ctr" bIns="34275" lIns="68575" spcFirstLastPara="1" rIns="68575" wrap="square" tIns="34275">
            <a:noAutofit/>
          </a:bodyPr>
          <a:lstStyle/>
          <a:p>
            <a:pPr indent="0" lvl="0" marL="0" rtl="0" algn="ctr">
              <a:spcBef>
                <a:spcPts val="0"/>
              </a:spcBef>
              <a:spcAft>
                <a:spcPts val="0"/>
              </a:spcAft>
              <a:buNone/>
            </a:pPr>
            <a:r>
              <a:rPr b="1" lang="en-GB" sz="3000">
                <a:solidFill>
                  <a:schemeClr val="dk2"/>
                </a:solidFill>
                <a:latin typeface="Garamond"/>
                <a:ea typeface="Garamond"/>
                <a:cs typeface="Garamond"/>
                <a:sym typeface="Garamond"/>
              </a:rPr>
              <a:t>SMART INDIA HACKATHON 2026</a:t>
            </a:r>
            <a:endParaRPr b="1" sz="3000">
              <a:solidFill>
                <a:schemeClr val="dk2"/>
              </a:solidFill>
              <a:latin typeface="Garamond"/>
              <a:ea typeface="Garamond"/>
              <a:cs typeface="Garamond"/>
              <a:sym typeface="Garamond"/>
            </a:endParaRPr>
          </a:p>
        </p:txBody>
      </p:sp>
      <p:sp>
        <p:nvSpPr>
          <p:cNvPr id="206" name="Google Shape;206;p37"/>
          <p:cNvSpPr txBox="1"/>
          <p:nvPr/>
        </p:nvSpPr>
        <p:spPr>
          <a:xfrm>
            <a:off x="277794" y="809251"/>
            <a:ext cx="4149000" cy="836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i="0" lang="en-GB" sz="3300" u="none" cap="none" strike="noStrike">
                <a:solidFill>
                  <a:srgbClr val="0B2E4F"/>
                </a:solidFill>
                <a:latin typeface="Calibri"/>
                <a:ea typeface="Calibri"/>
                <a:cs typeface="Calibri"/>
                <a:sym typeface="Calibri"/>
              </a:rPr>
              <a:t>SagarDrishti</a:t>
            </a:r>
            <a:endParaRPr b="1" sz="3300">
              <a:solidFill>
                <a:srgbClr val="0B2E4F"/>
              </a:solidFill>
              <a:latin typeface="Calibri"/>
              <a:ea typeface="Calibri"/>
              <a:cs typeface="Calibri"/>
              <a:sym typeface="Calibri"/>
            </a:endParaRPr>
          </a:p>
          <a:p>
            <a:pPr indent="0" lvl="0" marL="0" marR="0" rtl="0" algn="l">
              <a:spcBef>
                <a:spcPts val="100"/>
              </a:spcBef>
              <a:spcAft>
                <a:spcPts val="0"/>
              </a:spcAft>
              <a:buNone/>
            </a:pPr>
            <a:r>
              <a:rPr b="0" i="1" lang="en-GB" sz="1600" u="none" cap="none" strike="noStrike">
                <a:solidFill>
                  <a:srgbClr val="12688F"/>
                </a:solidFill>
                <a:latin typeface="Calibri"/>
                <a:ea typeface="Calibri"/>
                <a:cs typeface="Calibri"/>
                <a:sym typeface="Calibri"/>
              </a:rPr>
              <a:t>A browser-native 3D digital twin of India's ocean</a:t>
            </a:r>
            <a:endParaRPr sz="1700"/>
          </a:p>
        </p:txBody>
      </p:sp>
      <p:pic>
        <p:nvPicPr>
          <p:cNvPr id="207" name="Google Shape;207;p37"/>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08" name="Google Shape;208;p37"/>
          <p:cNvSpPr txBox="1"/>
          <p:nvPr/>
        </p:nvSpPr>
        <p:spPr>
          <a:xfrm>
            <a:off x="4571994" y="3694045"/>
            <a:ext cx="44505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GB" sz="1300" u="none" cap="none" strike="noStrike">
                <a:solidFill>
                  <a:srgbClr val="556471"/>
                </a:solidFill>
                <a:latin typeface="Calibri"/>
                <a:ea typeface="Calibri"/>
                <a:cs typeface="Calibri"/>
                <a:sym typeface="Calibri"/>
              </a:rPr>
              <a:t>Running today, offline: </a:t>
            </a:r>
            <a:r>
              <a:rPr b="1" i="0" lang="en-GB" sz="1300" u="none" cap="none" strike="noStrike">
                <a:solidFill>
                  <a:srgbClr val="556471"/>
                </a:solidFill>
                <a:latin typeface="Calibri"/>
                <a:ea typeface="Calibri"/>
                <a:cs typeface="Calibri"/>
                <a:sym typeface="Calibri"/>
              </a:rPr>
              <a:t>24 depth levels from 5 m to 2000 m, the </a:t>
            </a:r>
            <a:r>
              <a:rPr b="1" lang="en-GB" sz="1300">
                <a:solidFill>
                  <a:srgbClr val="556471"/>
                </a:solidFill>
                <a:latin typeface="Calibri"/>
                <a:ea typeface="Calibri"/>
                <a:cs typeface="Calibri"/>
                <a:sym typeface="Calibri"/>
              </a:rPr>
              <a:t>26°C </a:t>
            </a:r>
            <a:r>
              <a:rPr b="1" i="0" lang="en-GB" sz="1300" u="none" cap="none" strike="noStrike">
                <a:solidFill>
                  <a:srgbClr val="556471"/>
                </a:solidFill>
                <a:latin typeface="Calibri"/>
                <a:ea typeface="Calibri"/>
                <a:cs typeface="Calibri"/>
                <a:sym typeface="Calibri"/>
              </a:rPr>
              <a:t>isosurface, 337 current vectors and CAP warning areas.</a:t>
            </a:r>
            <a:endParaRPr b="1" sz="1800"/>
          </a:p>
        </p:txBody>
      </p:sp>
      <p:sp>
        <p:nvSpPr>
          <p:cNvPr id="209" name="Google Shape;209;p37"/>
          <p:cNvSpPr/>
          <p:nvPr/>
        </p:nvSpPr>
        <p:spPr>
          <a:xfrm>
            <a:off x="288036" y="1693518"/>
            <a:ext cx="1577400" cy="309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10" name="Google Shape;210;p37"/>
          <p:cNvSpPr txBox="1"/>
          <p:nvPr/>
        </p:nvSpPr>
        <p:spPr>
          <a:xfrm>
            <a:off x="277800" y="1896027"/>
            <a:ext cx="4149000" cy="192660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Problem Statement ID - </a:t>
            </a:r>
            <a:r>
              <a:rPr b="0" i="0" lang="en-GB" u="none" cap="none" strike="noStrike">
                <a:solidFill>
                  <a:srgbClr val="14202B"/>
                </a:solidFill>
                <a:latin typeface="Calibri"/>
                <a:ea typeface="Calibri"/>
                <a:cs typeface="Calibri"/>
                <a:sym typeface="Calibri"/>
              </a:rPr>
              <a:t>SIH26067</a:t>
            </a:r>
            <a:endParaRPr sz="1700">
              <a:latin typeface="Calibri"/>
              <a:ea typeface="Calibri"/>
              <a:cs typeface="Calibri"/>
              <a:sym typeface="Calibri"/>
            </a:endParaRPr>
          </a:p>
          <a:p>
            <a:pPr indent="0" lvl="0" marL="0" marR="0" rtl="0" algn="l">
              <a:lnSpc>
                <a:spcPct val="100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Problem Statement Title - </a:t>
            </a:r>
            <a:r>
              <a:rPr lang="en-GB">
                <a:solidFill>
                  <a:srgbClr val="212529"/>
                </a:solidFill>
                <a:highlight>
                  <a:srgbClr val="FFFFFF"/>
                </a:highlight>
                <a:latin typeface="Calibri"/>
                <a:ea typeface="Calibri"/>
                <a:cs typeface="Calibri"/>
                <a:sym typeface="Calibri"/>
              </a:rPr>
              <a:t>Develop </a:t>
            </a:r>
            <a:r>
              <a:rPr lang="en-GB">
                <a:solidFill>
                  <a:srgbClr val="212529"/>
                </a:solidFill>
                <a:highlight>
                  <a:srgbClr val="FFFFFF"/>
                </a:highlight>
                <a:latin typeface="Calibri"/>
                <a:ea typeface="Calibri"/>
                <a:cs typeface="Calibri"/>
                <a:sym typeface="Calibri"/>
              </a:rPr>
              <a:t>a web-based interactive 3D visualization platform that integrates numerical ocean model outputs and in-situ observations.</a:t>
            </a:r>
            <a:r>
              <a:rPr lang="en-GB" sz="1100">
                <a:solidFill>
                  <a:schemeClr val="dk1"/>
                </a:solidFill>
              </a:rPr>
              <a:t> </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Theme - </a:t>
            </a:r>
            <a:r>
              <a:rPr b="0" i="0" lang="en-GB" u="none" cap="none" strike="noStrike">
                <a:solidFill>
                  <a:srgbClr val="14202B"/>
                </a:solidFill>
                <a:latin typeface="Calibri"/>
                <a:ea typeface="Calibri"/>
                <a:cs typeface="Calibri"/>
                <a:sym typeface="Calibri"/>
              </a:rPr>
              <a:t>Disaster Management</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PS Category - </a:t>
            </a:r>
            <a:r>
              <a:rPr b="0" i="0" lang="en-GB" u="none" cap="none" strike="noStrike">
                <a:solidFill>
                  <a:srgbClr val="14202B"/>
                </a:solidFill>
                <a:latin typeface="Calibri"/>
                <a:ea typeface="Calibri"/>
                <a:cs typeface="Calibri"/>
                <a:sym typeface="Calibri"/>
              </a:rPr>
              <a:t>Software</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Team ID </a:t>
            </a:r>
            <a:r>
              <a:rPr b="1" i="0" lang="en-GB" u="none" cap="none" strike="noStrike">
                <a:solidFill>
                  <a:srgbClr val="0B2E4F"/>
                </a:solidFill>
                <a:latin typeface="Calibri"/>
                <a:ea typeface="Calibri"/>
                <a:cs typeface="Calibri"/>
                <a:sym typeface="Calibri"/>
              </a:rPr>
              <a:t>-  </a:t>
            </a:r>
            <a:r>
              <a:rPr lang="en-GB" sz="1200">
                <a:solidFill>
                  <a:srgbClr val="222222"/>
                </a:solidFill>
                <a:highlight>
                  <a:srgbClr val="FFFFFF"/>
                </a:highlight>
                <a:latin typeface="Roboto"/>
                <a:ea typeface="Roboto"/>
                <a:cs typeface="Roboto"/>
                <a:sym typeface="Roboto"/>
              </a:rPr>
              <a:t>158120</a:t>
            </a:r>
            <a:r>
              <a:rPr lang="en-GB" sz="1100">
                <a:solidFill>
                  <a:schemeClr val="dk1"/>
                </a:solidFill>
              </a:rPr>
              <a:t> </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Team Name - </a:t>
            </a:r>
            <a:r>
              <a:rPr lang="en-GB">
                <a:solidFill>
                  <a:srgbClr val="14202B"/>
                </a:solidFill>
                <a:latin typeface="Calibri"/>
                <a:ea typeface="Calibri"/>
                <a:cs typeface="Calibri"/>
                <a:sym typeface="Calibri"/>
              </a:rPr>
              <a:t>PixelPaws</a:t>
            </a:r>
            <a:endParaRPr sz="1700"/>
          </a:p>
        </p:txBody>
      </p:sp>
      <p:sp>
        <p:nvSpPr>
          <p:cNvPr id="211" name="Google Shape;211;p37"/>
          <p:cNvSpPr/>
          <p:nvPr/>
        </p:nvSpPr>
        <p:spPr>
          <a:xfrm>
            <a:off x="288025" y="4319825"/>
            <a:ext cx="8606100" cy="4878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12" name="Google Shape;212;p37"/>
          <p:cNvSpPr/>
          <p:nvPr/>
        </p:nvSpPr>
        <p:spPr>
          <a:xfrm>
            <a:off x="288024" y="4319750"/>
            <a:ext cx="67800" cy="4878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13" name="Google Shape;213;p37"/>
          <p:cNvSpPr txBox="1"/>
          <p:nvPr/>
        </p:nvSpPr>
        <p:spPr>
          <a:xfrm>
            <a:off x="452625" y="4350554"/>
            <a:ext cx="8441400" cy="394800"/>
          </a:xfrm>
          <a:prstGeom prst="rect">
            <a:avLst/>
          </a:prstGeom>
          <a:noFill/>
          <a:ln>
            <a:noFill/>
          </a:ln>
        </p:spPr>
        <p:txBody>
          <a:bodyPr anchorCtr="0" anchor="ctr" bIns="0" lIns="0" spcFirstLastPara="1" rIns="0" wrap="square" tIns="0">
            <a:spAutoFit/>
          </a:bodyPr>
          <a:lstStyle/>
          <a:p>
            <a:pPr indent="0" lvl="0" marL="0" marR="0" rtl="0" algn="l">
              <a:lnSpc>
                <a:spcPct val="95000"/>
              </a:lnSpc>
              <a:spcBef>
                <a:spcPts val="0"/>
              </a:spcBef>
              <a:spcAft>
                <a:spcPts val="0"/>
              </a:spcAft>
              <a:buNone/>
            </a:pPr>
            <a:r>
              <a:rPr b="1" i="0" lang="en-GB" u="none" cap="none" strike="noStrike">
                <a:solidFill>
                  <a:srgbClr val="6FD4D0"/>
                </a:solidFill>
                <a:latin typeface="Calibri"/>
                <a:ea typeface="Calibri"/>
                <a:cs typeface="Calibri"/>
                <a:sym typeface="Calibri"/>
              </a:rPr>
              <a:t>Not a proposal on paper.   </a:t>
            </a:r>
            <a:r>
              <a:rPr b="0" i="0" lang="en-GB" sz="1300" u="none" cap="none" strike="noStrike">
                <a:solidFill>
                  <a:srgbClr val="D3E3EC"/>
                </a:solidFill>
                <a:latin typeface="Calibri"/>
                <a:ea typeface="Calibri"/>
                <a:cs typeface="Calibri"/>
                <a:sym typeface="Calibri"/>
              </a:rPr>
              <a:t>5</a:t>
            </a:r>
            <a:r>
              <a:rPr lang="en-GB" sz="1300">
                <a:solidFill>
                  <a:srgbClr val="D3E3EC"/>
                </a:solidFill>
                <a:latin typeface="Calibri"/>
                <a:ea typeface="Calibri"/>
                <a:cs typeface="Calibri"/>
                <a:sym typeface="Calibri"/>
              </a:rPr>
              <a:t>95</a:t>
            </a:r>
            <a:r>
              <a:rPr b="0" i="0" lang="en-GB" sz="1300" u="none" cap="none" strike="noStrike">
                <a:solidFill>
                  <a:srgbClr val="D3E3EC"/>
                </a:solidFill>
                <a:latin typeface="Calibri"/>
                <a:ea typeface="Calibri"/>
                <a:cs typeface="Calibri"/>
                <a:sym typeface="Calibri"/>
              </a:rPr>
              <a:t> automated tests · 51 fps at 1080p on integrated graphics · 10.5 M gridded values · </a:t>
            </a:r>
            <a:r>
              <a:rPr lang="en-GB" sz="1300">
                <a:solidFill>
                  <a:srgbClr val="D3E3EC"/>
                </a:solidFill>
                <a:latin typeface="Calibri"/>
                <a:ea typeface="Calibri"/>
                <a:cs typeface="Calibri"/>
                <a:sym typeface="Calibri"/>
              </a:rPr>
              <a:t>30,012</a:t>
            </a:r>
            <a:r>
              <a:rPr b="0" i="0" lang="en-GB" sz="1300" u="none" cap="none" strike="noStrike">
                <a:solidFill>
                  <a:srgbClr val="D3E3EC"/>
                </a:solidFill>
                <a:latin typeface="Calibri"/>
                <a:ea typeface="Calibri"/>
                <a:cs typeface="Calibri"/>
                <a:sym typeface="Calibri"/>
              </a:rPr>
              <a:t> QC-passed instrument levels · zero requests that leave the machine. Every figure in this deck was measured, not estimated.</a:t>
            </a:r>
            <a:endParaRPr sz="1700"/>
          </a:p>
        </p:txBody>
      </p:sp>
      <p:pic>
        <p:nvPicPr>
          <p:cNvPr id="214" name="Google Shape;214;p37"/>
          <p:cNvPicPr preferRelativeResize="0"/>
          <p:nvPr/>
        </p:nvPicPr>
        <p:blipFill rotWithShape="1">
          <a:blip r:embed="rId4">
            <a:alphaModFix/>
          </a:blip>
          <a:srcRect b="0" l="738" r="59179" t="0"/>
          <a:stretch/>
        </p:blipFill>
        <p:spPr>
          <a:xfrm>
            <a:off x="6304747" y="809250"/>
            <a:ext cx="2530002" cy="27896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8"/>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volumetric rendering depth-slice navigation isosurface extraction time-step animation Argo profiling float glider CTD BGC biogeochemical moored buoy in-situ instrument profile depth-vs-variable chart geospatially accurate markers co-visualization single interactive environment</a:t>
            </a:r>
            <a:endParaRPr/>
          </a:p>
        </p:txBody>
      </p:sp>
      <p:sp>
        <p:nvSpPr>
          <p:cNvPr id="221" name="Google Shape;221;p38"/>
          <p:cNvSpPr/>
          <p:nvPr/>
        </p:nvSpPr>
        <p:spPr>
          <a:xfrm>
            <a:off x="0" y="4766072"/>
            <a:ext cx="9144000" cy="3774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953734"/>
              </a:solidFill>
              <a:latin typeface="Calibri"/>
              <a:ea typeface="Calibri"/>
              <a:cs typeface="Calibri"/>
              <a:sym typeface="Calibri"/>
            </a:endParaRPr>
          </a:p>
        </p:txBody>
      </p:sp>
      <p:sp>
        <p:nvSpPr>
          <p:cNvPr id="222" name="Google Shape;222;p38"/>
          <p:cNvSpPr txBox="1"/>
          <p:nvPr>
            <p:ph type="title"/>
          </p:nvPr>
        </p:nvSpPr>
        <p:spPr>
          <a:xfrm>
            <a:off x="1472175" y="149525"/>
            <a:ext cx="6108600" cy="6054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lang="en-GB" sz="2500">
                <a:solidFill>
                  <a:srgbClr val="0B2E4F"/>
                </a:solidFill>
                <a:latin typeface="Times New Roman"/>
                <a:ea typeface="Times New Roman"/>
                <a:cs typeface="Times New Roman"/>
                <a:sym typeface="Times New Roman"/>
              </a:rPr>
              <a:t>The Problem &amp; Our Solution</a:t>
            </a:r>
            <a:endParaRPr sz="2500"/>
          </a:p>
        </p:txBody>
      </p:sp>
      <p:sp>
        <p:nvSpPr>
          <p:cNvPr id="223" name="Google Shape;223;p38"/>
          <p:cNvSpPr txBox="1"/>
          <p:nvPr>
            <p:ph idx="12" type="sldNum"/>
          </p:nvPr>
        </p:nvSpPr>
        <p:spPr>
          <a:xfrm>
            <a:off x="6553200" y="4817396"/>
            <a:ext cx="21336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1100"/>
              <a:buNone/>
            </a:pPr>
            <a:fld id="{00000000-1234-1234-1234-123412341234}" type="slidenum">
              <a:rPr b="1" lang="en-GB" sz="1100">
                <a:solidFill>
                  <a:schemeClr val="lt1"/>
                </a:solidFill>
              </a:rPr>
              <a:t>‹#›</a:t>
            </a:fld>
            <a:endParaRPr b="1" sz="1100">
              <a:solidFill>
                <a:schemeClr val="lt1"/>
              </a:solidFill>
            </a:endParaRPr>
          </a:p>
        </p:txBody>
      </p:sp>
      <p:sp>
        <p:nvSpPr>
          <p:cNvPr id="224" name="Google Shape;224;p38"/>
          <p:cNvSpPr txBox="1"/>
          <p:nvPr>
            <p:ph idx="11" type="ftr"/>
          </p:nvPr>
        </p:nvSpPr>
        <p:spPr>
          <a:xfrm>
            <a:off x="3227220" y="4802772"/>
            <a:ext cx="2983500" cy="273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700">
                <a:solidFill>
                  <a:srgbClr val="FFFFFF"/>
                </a:solidFill>
                <a:latin typeface="Calibri"/>
                <a:ea typeface="Calibri"/>
                <a:cs typeface="Calibri"/>
                <a:sym typeface="Calibri"/>
              </a:rPr>
              <a:t>SagarDrishti  ·  PS SIH26067  ·  @SIH Idea Submission</a:t>
            </a:r>
            <a:endParaRPr sz="1300">
              <a:solidFill>
                <a:schemeClr val="lt1"/>
              </a:solidFill>
            </a:endParaRPr>
          </a:p>
        </p:txBody>
      </p:sp>
      <p:sp>
        <p:nvSpPr>
          <p:cNvPr descr="Your startup LOGO" id="225" name="Google Shape;225;p38"/>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l">
              <a:lnSpc>
                <a:spcPct val="95000"/>
              </a:lnSpc>
              <a:spcBef>
                <a:spcPts val="400"/>
              </a:spcBef>
              <a:spcAft>
                <a:spcPts val="0"/>
              </a:spcAft>
              <a:buClr>
                <a:schemeClr val="dk1"/>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pic>
        <p:nvPicPr>
          <p:cNvPr id="226" name="Google Shape;226;p38"/>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27" name="Google Shape;227;p38"/>
          <p:cNvSpPr/>
          <p:nvPr/>
        </p:nvSpPr>
        <p:spPr>
          <a:xfrm>
            <a:off x="178308" y="850392"/>
            <a:ext cx="8785200" cy="356700"/>
          </a:xfrm>
          <a:prstGeom prst="rect">
            <a:avLst/>
          </a:prstGeom>
          <a:solidFill>
            <a:schemeClr val="accent1"/>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28" name="Google Shape;228;p38"/>
          <p:cNvSpPr txBox="1"/>
          <p:nvPr/>
        </p:nvSpPr>
        <p:spPr>
          <a:xfrm>
            <a:off x="266879" y="906344"/>
            <a:ext cx="8593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GB" sz="1300" u="none" cap="none" strike="noStrike">
                <a:solidFill>
                  <a:srgbClr val="FFFFFF"/>
                </a:solidFill>
                <a:latin typeface="Calibri"/>
                <a:ea typeface="Calibri"/>
                <a:cs typeface="Calibri"/>
                <a:sym typeface="Calibri"/>
              </a:rPr>
              <a:t>Bay of Bengal: model fields and the instruments in the water, on one screen, with a number for the gap between them.</a:t>
            </a:r>
            <a:endParaRPr b="1" i="0" sz="1200" u="none" cap="none" strike="noStrike">
              <a:solidFill>
                <a:srgbClr val="000000"/>
              </a:solidFill>
              <a:latin typeface="Arial"/>
              <a:ea typeface="Arial"/>
              <a:cs typeface="Arial"/>
              <a:sym typeface="Arial"/>
            </a:endParaRPr>
          </a:p>
        </p:txBody>
      </p:sp>
      <p:sp>
        <p:nvSpPr>
          <p:cNvPr id="229" name="Google Shape;229;p38"/>
          <p:cNvSpPr/>
          <p:nvPr/>
        </p:nvSpPr>
        <p:spPr>
          <a:xfrm>
            <a:off x="178308" y="1250584"/>
            <a:ext cx="2229000" cy="1920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THE PROBLEM  ·  INCOIS'S OWN WORDS</a:t>
            </a:r>
            <a:endParaRPr b="0" i="0" sz="1100" u="none" cap="none" strike="noStrike">
              <a:solidFill>
                <a:srgbClr val="000000"/>
              </a:solidFill>
              <a:latin typeface="Arial"/>
              <a:ea typeface="Arial"/>
              <a:cs typeface="Arial"/>
              <a:sym typeface="Arial"/>
            </a:endParaRPr>
          </a:p>
        </p:txBody>
      </p:sp>
      <p:sp>
        <p:nvSpPr>
          <p:cNvPr id="230" name="Google Shape;230;p38"/>
          <p:cNvSpPr/>
          <p:nvPr/>
        </p:nvSpPr>
        <p:spPr>
          <a:xfrm>
            <a:off x="178300" y="1495050"/>
            <a:ext cx="4725900" cy="566928"/>
          </a:xfrm>
          <a:prstGeom prst="rect">
            <a:avLst/>
          </a:prstGeom>
          <a:solidFill>
            <a:srgbClr val="EFF4F7"/>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1" name="Google Shape;231;p38"/>
          <p:cNvSpPr txBox="1"/>
          <p:nvPr/>
        </p:nvSpPr>
        <p:spPr>
          <a:xfrm>
            <a:off x="288600" y="1553375"/>
            <a:ext cx="4643700" cy="406500"/>
          </a:xfrm>
          <a:prstGeom prst="rect">
            <a:avLst/>
          </a:prstGeom>
          <a:noFill/>
          <a:ln>
            <a:noFill/>
          </a:ln>
        </p:spPr>
        <p:txBody>
          <a:bodyPr anchorCtr="0" anchor="t" bIns="0" lIns="0" spcFirstLastPara="1" rIns="0" wrap="square" tIns="0">
            <a:spAutoFit/>
          </a:bodyPr>
          <a:lstStyle/>
          <a:p>
            <a:pPr indent="0" lvl="0" marL="0" marR="0" rtl="0" algn="l">
              <a:lnSpc>
                <a:spcPct val="88000"/>
              </a:lnSpc>
              <a:spcBef>
                <a:spcPts val="0"/>
              </a:spcBef>
              <a:spcAft>
                <a:spcPts val="0"/>
              </a:spcAft>
              <a:buClr>
                <a:srgbClr val="000000"/>
              </a:buClr>
              <a:buSzPts val="900"/>
              <a:buFont typeface="Arial"/>
              <a:buNone/>
            </a:pPr>
            <a:r>
              <a:rPr b="1" i="0" lang="en-GB" sz="1000" u="none" cap="none" strike="noStrike">
                <a:solidFill>
                  <a:srgbClr val="12688F"/>
                </a:solidFill>
                <a:latin typeface="Calibri"/>
                <a:ea typeface="Calibri"/>
                <a:cs typeface="Calibri"/>
                <a:sym typeface="Calibri"/>
              </a:rPr>
              <a:t>▪  </a:t>
            </a:r>
            <a:r>
              <a:rPr b="1" i="0" lang="en-GB" sz="1000" u="none" cap="none" strike="noStrike">
                <a:solidFill>
                  <a:srgbClr val="C44528"/>
                </a:solidFill>
                <a:latin typeface="Calibri"/>
                <a:ea typeface="Calibri"/>
                <a:cs typeface="Calibri"/>
                <a:sym typeface="Calibri"/>
              </a:rPr>
              <a:t>“No integrated, web-based 3D visualization platform currently exists”</a:t>
            </a:r>
            <a:r>
              <a:rPr b="0" i="0" lang="en-GB" sz="1000" u="none" cap="none" strike="noStrike">
                <a:solidFill>
                  <a:srgbClr val="14202B"/>
                </a:solidFill>
                <a:latin typeface="Calibri"/>
                <a:ea typeface="Calibri"/>
                <a:cs typeface="Calibri"/>
                <a:sym typeface="Calibri"/>
              </a:rPr>
              <a:t> so forecasters toggle between disparate software packages, which impedes hazard assessment, search and rescue, fishery advisories and climate monitoring.</a:t>
            </a:r>
            <a:endParaRPr b="0" i="0" sz="1100" u="none" cap="none" strike="noStrike">
              <a:solidFill>
                <a:srgbClr val="000000"/>
              </a:solidFill>
              <a:latin typeface="Arial"/>
              <a:ea typeface="Arial"/>
              <a:cs typeface="Arial"/>
              <a:sym typeface="Arial"/>
            </a:endParaRPr>
          </a:p>
        </p:txBody>
      </p:sp>
      <p:sp>
        <p:nvSpPr>
          <p:cNvPr id="232" name="Google Shape;232;p38"/>
          <p:cNvSpPr/>
          <p:nvPr/>
        </p:nvSpPr>
        <p:spPr>
          <a:xfrm>
            <a:off x="178308" y="2139696"/>
            <a:ext cx="3326100" cy="1920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PROPOSED SOLUTION  ·  HOW IT ADDRESSES THE PROBLEM</a:t>
            </a:r>
            <a:endParaRPr b="0" i="0" sz="1100" u="none" cap="none" strike="noStrike">
              <a:solidFill>
                <a:srgbClr val="000000"/>
              </a:solidFill>
              <a:latin typeface="Arial"/>
              <a:ea typeface="Arial"/>
              <a:cs typeface="Arial"/>
              <a:sym typeface="Arial"/>
            </a:endParaRPr>
          </a:p>
        </p:txBody>
      </p:sp>
      <p:sp>
        <p:nvSpPr>
          <p:cNvPr id="233" name="Google Shape;233;p38"/>
          <p:cNvSpPr/>
          <p:nvPr/>
        </p:nvSpPr>
        <p:spPr>
          <a:xfrm>
            <a:off x="178300" y="2377449"/>
            <a:ext cx="4725900" cy="9561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4" name="Google Shape;234;p38"/>
          <p:cNvSpPr txBox="1"/>
          <p:nvPr/>
        </p:nvSpPr>
        <p:spPr>
          <a:xfrm>
            <a:off x="288600" y="2432300"/>
            <a:ext cx="4602600" cy="795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Volumetric column in a browser.</a:t>
            </a:r>
            <a:r>
              <a:rPr b="0" i="0" lang="en-GB" sz="1000" u="none" cap="none" strike="noStrike">
                <a:solidFill>
                  <a:srgbClr val="14202B"/>
                </a:solidFill>
                <a:latin typeface="Calibri"/>
                <a:ea typeface="Calibri"/>
                <a:cs typeface="Calibri"/>
                <a:sym typeface="Calibri"/>
              </a:rPr>
              <a:t>  24 levels, 5 m to 2000 m.</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All four instrument classes.</a:t>
            </a:r>
            <a:r>
              <a:rPr b="0" i="0" lang="en-GB" sz="1000" u="none" cap="none" strike="noStrike">
                <a:solidFill>
                  <a:srgbClr val="14202B"/>
                </a:solidFill>
                <a:latin typeface="Calibri"/>
                <a:ea typeface="Calibri"/>
                <a:cs typeface="Calibri"/>
                <a:sym typeface="Calibri"/>
              </a:rPr>
              <a:t>  149 casts: temperature, salinity, oxygen, chlorophyll.</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12688F"/>
                </a:solidFill>
                <a:latin typeface="Calibri"/>
                <a:ea typeface="Calibri"/>
                <a:cs typeface="Calibri"/>
                <a:sym typeface="Calibri"/>
              </a:rPr>
              <a:t>A skill number beside the field.</a:t>
            </a:r>
            <a:r>
              <a:rPr b="0" i="0" lang="en-GB" sz="1000" u="none" cap="none" strike="noStrike">
                <a:solidFill>
                  <a:srgbClr val="14202B"/>
                </a:solidFill>
                <a:latin typeface="Calibri"/>
                <a:ea typeface="Calibri"/>
                <a:cs typeface="Calibri"/>
                <a:sym typeface="Calibri"/>
              </a:rPr>
              <a:t>  Bias and RMSE per depth band.</a:t>
            </a:r>
            <a:r>
              <a:rPr sz="650" b="1" baseline="28000">
                <a:solidFill>
                  <a:srgbClr val="12688F"/>
                </a:solidFill>
                <a:latin typeface="Calibri"/>
                <a:hlinkClick r:id="rId10"/>
              </a:rPr>
              <a:t>[1]</a:t>
            </a:r>
            <a:r>
              <a:rPr sz="650">
                <a:latin typeface="Calibri"/>
              </a:rPr>
              <a:t> </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Hazards drawn over the water.</a:t>
            </a:r>
            <a:r>
              <a:rPr b="0" i="0" lang="en-GB" sz="1000" u="none" cap="none" strike="noStrike">
                <a:solidFill>
                  <a:srgbClr val="14202B"/>
                </a:solidFill>
                <a:latin typeface="Calibri"/>
                <a:ea typeface="Calibri"/>
                <a:cs typeface="Calibri"/>
                <a:sym typeface="Calibri"/>
              </a:rPr>
              <a:t>  Live CAP v1.2 from NDMA SACHET.</a:t>
            </a:r>
            <a:r>
              <a:rPr sz="650" b="1" baseline="28000">
                <a:solidFill>
                  <a:srgbClr val="12688F"/>
                </a:solidFill>
                <a:latin typeface="Calibri"/>
                <a:hlinkClick r:id="rId13"/>
              </a:rPr>
              <a:t>[20]</a:t>
            </a:r>
            <a:r>
              <a:rPr sz="650" b="1" baseline="28000">
                <a:solidFill>
                  <a:srgbClr val="12688F"/>
                </a:solidFill>
                <a:latin typeface="Calibri"/>
                <a:hlinkClick r:id="rId14"/>
              </a:rPr>
              <a:t>[15]</a:t>
            </a:r>
            <a:r>
              <a:rPr sz="650">
                <a:latin typeface="Calibri"/>
              </a:rPr>
              <a:t> </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A new source is config, not code.</a:t>
            </a:r>
            <a:r>
              <a:rPr b="0" i="0" lang="en-GB" sz="1000" u="none" cap="none" strike="noStrike">
                <a:solidFill>
                  <a:srgbClr val="14202B"/>
                </a:solidFill>
                <a:latin typeface="Calibri"/>
                <a:ea typeface="Calibri"/>
                <a:cs typeface="Calibri"/>
                <a:sym typeface="Calibri"/>
              </a:rPr>
              <a:t>  YAML plus a plugin. OGC WMS/WCS served.</a:t>
            </a:r>
            <a:r>
              <a:rPr sz="650" b="1" baseline="28000">
                <a:solidFill>
                  <a:srgbClr val="12688F"/>
                </a:solidFill>
                <a:latin typeface="Calibri"/>
                <a:hlinkClick r:id="rId15"/>
              </a:rPr>
              <a:t>[18]</a:t>
            </a:r>
            <a:r>
              <a:rPr sz="650" b="1" baseline="28000">
                <a:solidFill>
                  <a:srgbClr val="12688F"/>
                </a:solidFill>
                <a:latin typeface="Calibri"/>
                <a:hlinkClick r:id="rId16"/>
              </a:rPr>
              <a:t>[19]</a:t>
            </a:r>
            <a:r>
              <a:rPr sz="650">
                <a:latin typeface="Calibri"/>
              </a:rPr>
              <a:t> </a:t>
            </a:r>
            <a:endParaRPr b="0" i="0" sz="1300" u="none" cap="none" strike="noStrike">
              <a:solidFill>
                <a:srgbClr val="000000"/>
              </a:solidFill>
              <a:latin typeface="Arial"/>
              <a:ea typeface="Arial"/>
              <a:cs typeface="Arial"/>
              <a:sym typeface="Arial"/>
            </a:endParaRPr>
          </a:p>
        </p:txBody>
      </p:sp>
      <p:sp>
        <p:nvSpPr>
          <p:cNvPr id="235" name="Rectangle 234"/>
          <p:cNvSpPr/>
          <p:nvPr/>
        </p:nvSpPr>
        <p:spPr>
          <a:xfrm>
            <a:off x="5074920" y="1252728"/>
            <a:ext cx="1536192" cy="192024"/>
          </a:xfrm>
          <a:prstGeom prst="rect">
            <a:avLst/>
          </a:prstGeom>
          <a:solidFill>
            <a:srgbClr val="0B2E4F"/>
          </a:solidFill>
          <a:ln w="9525">
            <a:solidFill>
              <a:srgbClr val="0B2E4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r>
              <a:rPr sz="750" b="1" i="0">
                <a:solidFill>
                  <a:srgbClr val="FFFFFF"/>
                </a:solidFill>
                <a:latin typeface="Calibri"/>
              </a:rPr>
              <a:t>HOW ONE ANSWER GETS MADE</a:t>
            </a:r>
          </a:p>
        </p:txBody>
      </p:sp>
      <p:sp>
        <p:nvSpPr>
          <p:cNvPr id="236" name="Rectangle 235"/>
          <p:cNvSpPr/>
          <p:nvPr/>
        </p:nvSpPr>
        <p:spPr>
          <a:xfrm>
            <a:off x="5074920" y="1463040"/>
            <a:ext cx="3895344" cy="274320"/>
          </a:xfrm>
          <a:prstGeom prst="rect">
            <a:avLst/>
          </a:prstGeom>
          <a:solidFill>
            <a:srgbClr val="0B2E4F"/>
          </a:solidFill>
          <a:ln w="9525">
            <a:solidFill>
              <a:srgbClr val="0B2E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7" name="TextBox 236"/>
          <p:cNvSpPr txBox="1"/>
          <p:nvPr/>
        </p:nvSpPr>
        <p:spPr>
          <a:xfrm>
            <a:off x="5129783" y="1504188"/>
            <a:ext cx="3785616" cy="192024"/>
          </a:xfrm>
          <a:prstGeom prst="rect">
            <a:avLst/>
          </a:prstGeom>
          <a:noFill/>
        </p:spPr>
        <p:txBody>
          <a:bodyPr wrap="square" lIns="0" rIns="0" tIns="0" bIns="0" anchor="ctr">
            <a:spAutoFit/>
          </a:bodyPr>
          <a:lstStyle/>
          <a:p>
            <a:pPr algn="ctr"/>
            <a:r>
              <a:rPr sz="900" b="1" i="0">
                <a:solidFill>
                  <a:srgbClr val="FFFFFF"/>
                </a:solidFill>
                <a:latin typeface="Calibri"/>
              </a:rPr>
              <a:t>A FORECASTER OPENS ONE PAGE</a:t>
            </a:r>
          </a:p>
        </p:txBody>
      </p:sp>
      <p:sp>
        <p:nvSpPr>
          <p:cNvPr id="238" name="Rectangle 237"/>
          <p:cNvSpPr/>
          <p:nvPr/>
        </p:nvSpPr>
        <p:spPr>
          <a:xfrm>
            <a:off x="7017105" y="1737360"/>
            <a:ext cx="10972" cy="100584"/>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9" name="Rectangle 238"/>
          <p:cNvSpPr/>
          <p:nvPr/>
        </p:nvSpPr>
        <p:spPr>
          <a:xfrm>
            <a:off x="6012180" y="1832457"/>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0" name="Rectangle 239"/>
          <p:cNvSpPr/>
          <p:nvPr/>
        </p:nvSpPr>
        <p:spPr>
          <a:xfrm>
            <a:off x="6006693" y="1837944"/>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1" name="Isosceles Triangle 240"/>
          <p:cNvSpPr/>
          <p:nvPr/>
        </p:nvSpPr>
        <p:spPr>
          <a:xfrm rot="10800000">
            <a:off x="5971032" y="1874520"/>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2" name="Rectangle 241"/>
          <p:cNvSpPr/>
          <p:nvPr/>
        </p:nvSpPr>
        <p:spPr>
          <a:xfrm>
            <a:off x="8027517" y="1837944"/>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3" name="Isosceles Triangle 242"/>
          <p:cNvSpPr/>
          <p:nvPr/>
        </p:nvSpPr>
        <p:spPr>
          <a:xfrm rot="10800000">
            <a:off x="7991856" y="1874520"/>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4" name="Rectangle 243"/>
          <p:cNvSpPr/>
          <p:nvPr/>
        </p:nvSpPr>
        <p:spPr>
          <a:xfrm>
            <a:off x="5074920" y="1938528"/>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5" name="TextBox 244"/>
          <p:cNvSpPr txBox="1"/>
          <p:nvPr/>
        </p:nvSpPr>
        <p:spPr>
          <a:xfrm>
            <a:off x="5129783" y="1979676"/>
            <a:ext cx="1764792" cy="320040"/>
          </a:xfrm>
          <a:prstGeom prst="rect">
            <a:avLst/>
          </a:prstGeom>
          <a:noFill/>
        </p:spPr>
        <p:txBody>
          <a:bodyPr wrap="square" lIns="0" rIns="0" tIns="0" bIns="0" anchor="ctr">
            <a:spAutoFit/>
          </a:bodyPr>
          <a:lstStyle/>
          <a:p>
            <a:pPr algn="ctr"/>
            <a:r>
              <a:rPr sz="850" b="1" i="0">
                <a:solidFill>
                  <a:srgbClr val="0B2E4F"/>
                </a:solidFill>
                <a:latin typeface="Calibri"/>
              </a:rPr>
              <a:t>THE MODEL FIELD</a:t>
            </a:r>
            <a:r>
              <a:rPr sz="620" b="1" baseline="28000">
                <a:solidFill>
                  <a:srgbClr val="0B2E4F"/>
                </a:solidFill>
                <a:latin typeface="Calibri"/>
                <a:hlinkClick r:id="rId6"/>
              </a:rPr>
              <a:t>[11]</a:t>
            </a:r>
            <a:r>
              <a:rPr sz="620">
                <a:latin typeface="Calibri"/>
              </a:rPr>
              <a:t> </a:t>
            </a:r>
          </a:p>
          <a:p>
            <a:pPr algn="ctr"/>
            <a:r>
              <a:rPr sz="720" b="0" i="0">
                <a:solidFill>
                  <a:srgbClr val="556471"/>
                </a:solidFill>
                <a:latin typeface="Calibri"/>
              </a:rPr>
              <a:t>INCOIS ERDDAP  ·  24 levels, 5 m to 2000 m</a:t>
            </a:r>
          </a:p>
        </p:txBody>
      </p:sp>
      <p:sp>
        <p:nvSpPr>
          <p:cNvPr id="246" name="Rectangle 245"/>
          <p:cNvSpPr/>
          <p:nvPr/>
        </p:nvSpPr>
        <p:spPr>
          <a:xfrm>
            <a:off x="7095744" y="1938528"/>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7" name="TextBox 246"/>
          <p:cNvSpPr txBox="1"/>
          <p:nvPr/>
        </p:nvSpPr>
        <p:spPr>
          <a:xfrm>
            <a:off x="7150607" y="1979676"/>
            <a:ext cx="1764792" cy="320040"/>
          </a:xfrm>
          <a:prstGeom prst="rect">
            <a:avLst/>
          </a:prstGeom>
          <a:noFill/>
        </p:spPr>
        <p:txBody>
          <a:bodyPr wrap="square" lIns="0" rIns="0" tIns="0" bIns="0" anchor="ctr">
            <a:spAutoFit/>
          </a:bodyPr>
          <a:lstStyle/>
          <a:p>
            <a:pPr algn="ctr"/>
            <a:r>
              <a:rPr sz="850" b="1" i="0">
                <a:solidFill>
                  <a:srgbClr val="0B2E4F"/>
                </a:solidFill>
                <a:latin typeface="Calibri"/>
              </a:rPr>
              <a:t>THE INSTRUMENTS</a:t>
            </a:r>
            <a:r>
              <a:rPr sz="620" b="1" baseline="28000">
                <a:solidFill>
                  <a:srgbClr val="0B2E4F"/>
                </a:solidFill>
                <a:latin typeface="Calibri"/>
                <a:hlinkClick r:id="rId7"/>
              </a:rPr>
              <a:t>[12]</a:t>
            </a:r>
            <a:r>
              <a:rPr sz="620" b="1" baseline="28000">
                <a:solidFill>
                  <a:srgbClr val="0B2E4F"/>
                </a:solidFill>
                <a:latin typeface="Calibri"/>
                <a:hlinkClick r:id="rId8"/>
              </a:rPr>
              <a:t>[14]</a:t>
            </a:r>
            <a:r>
              <a:rPr sz="620">
                <a:latin typeface="Calibri"/>
              </a:rPr>
              <a:t> </a:t>
            </a:r>
          </a:p>
          <a:p>
            <a:pPr algn="ctr"/>
            <a:r>
              <a:rPr sz="720" b="0" i="0">
                <a:solidFill>
                  <a:srgbClr val="556471"/>
                </a:solidFill>
                <a:latin typeface="Calibri"/>
              </a:rPr>
              <a:t>Argo  ·  BGC  ·  glider  ·  CTD  ·  RAMA buoy</a:t>
            </a:r>
          </a:p>
        </p:txBody>
      </p:sp>
      <p:sp>
        <p:nvSpPr>
          <p:cNvPr id="248" name="Rectangle 247"/>
          <p:cNvSpPr/>
          <p:nvPr/>
        </p:nvSpPr>
        <p:spPr>
          <a:xfrm>
            <a:off x="6006693" y="2340864"/>
            <a:ext cx="10972" cy="100584"/>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9" name="Isosceles Triangle 248"/>
          <p:cNvSpPr/>
          <p:nvPr/>
        </p:nvSpPr>
        <p:spPr>
          <a:xfrm rot="10800000">
            <a:off x="5971032" y="244144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0" name="Rectangle 249"/>
          <p:cNvSpPr/>
          <p:nvPr/>
        </p:nvSpPr>
        <p:spPr>
          <a:xfrm>
            <a:off x="8027517" y="2340864"/>
            <a:ext cx="10972" cy="100584"/>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1" name="Isosceles Triangle 250"/>
          <p:cNvSpPr/>
          <p:nvPr/>
        </p:nvSpPr>
        <p:spPr>
          <a:xfrm rot="10800000">
            <a:off x="7991856" y="244144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2" name="Rectangle 251"/>
          <p:cNvSpPr/>
          <p:nvPr/>
        </p:nvSpPr>
        <p:spPr>
          <a:xfrm>
            <a:off x="5074920" y="2505456"/>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3" name="TextBox 252"/>
          <p:cNvSpPr txBox="1"/>
          <p:nvPr/>
        </p:nvSpPr>
        <p:spPr>
          <a:xfrm>
            <a:off x="5129783" y="2546604"/>
            <a:ext cx="1764792" cy="320040"/>
          </a:xfrm>
          <a:prstGeom prst="rect">
            <a:avLst/>
          </a:prstGeom>
          <a:noFill/>
        </p:spPr>
        <p:txBody>
          <a:bodyPr wrap="square" lIns="0" rIns="0" tIns="0" bIns="0" anchor="ctr">
            <a:spAutoFit/>
          </a:bodyPr>
          <a:lstStyle/>
          <a:p>
            <a:pPr algn="ctr"/>
            <a:r>
              <a:rPr sz="850" b="1" i="0">
                <a:solidFill>
                  <a:srgbClr val="0B2E4F"/>
                </a:solidFill>
                <a:latin typeface="Calibri"/>
              </a:rPr>
              <a:t>VOLUMETRIC SCENE</a:t>
            </a:r>
            <a:r>
              <a:rPr sz="620" b="1" baseline="28000">
                <a:solidFill>
                  <a:srgbClr val="0B2E4F"/>
                </a:solidFill>
                <a:latin typeface="Calibri"/>
                <a:hlinkClick r:id="rId9"/>
              </a:rPr>
              <a:t>[6]</a:t>
            </a:r>
            <a:r>
              <a:rPr sz="620">
                <a:latin typeface="Calibri"/>
              </a:rPr>
              <a:t> </a:t>
            </a:r>
          </a:p>
          <a:p>
            <a:pPr algn="ctr"/>
            <a:r>
              <a:rPr sz="720" b="0" i="0">
                <a:solidFill>
                  <a:srgbClr val="556471"/>
                </a:solidFill>
                <a:latin typeface="Calibri"/>
              </a:rPr>
              <a:t>ray marched on the GPU, in a browser</a:t>
            </a:r>
          </a:p>
        </p:txBody>
      </p:sp>
      <p:sp>
        <p:nvSpPr>
          <p:cNvPr id="254" name="Rectangle 253"/>
          <p:cNvSpPr/>
          <p:nvPr/>
        </p:nvSpPr>
        <p:spPr>
          <a:xfrm>
            <a:off x="7095744" y="2505456"/>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5" name="TextBox 254"/>
          <p:cNvSpPr txBox="1"/>
          <p:nvPr/>
        </p:nvSpPr>
        <p:spPr>
          <a:xfrm>
            <a:off x="7150607" y="2546604"/>
            <a:ext cx="1764792" cy="320040"/>
          </a:xfrm>
          <a:prstGeom prst="rect">
            <a:avLst/>
          </a:prstGeom>
          <a:noFill/>
        </p:spPr>
        <p:txBody>
          <a:bodyPr wrap="square" lIns="0" rIns="0" tIns="0" bIns="0" anchor="ctr">
            <a:spAutoFit/>
          </a:bodyPr>
          <a:lstStyle/>
          <a:p>
            <a:pPr algn="ctr"/>
            <a:r>
              <a:rPr sz="850" b="1" i="0">
                <a:solidFill>
                  <a:srgbClr val="0B2E4F"/>
                </a:solidFill>
                <a:latin typeface="Calibri"/>
              </a:rPr>
              <a:t>ON THE SAME GLOBE</a:t>
            </a:r>
          </a:p>
          <a:p>
            <a:pPr algn="ctr"/>
            <a:r>
              <a:rPr sz="720" b="0" i="0">
                <a:solidFill>
                  <a:srgbClr val="556471"/>
                </a:solidFill>
                <a:latin typeface="Calibri"/>
              </a:rPr>
              <a:t>149 casts  ·  30,012 QC-passed levels</a:t>
            </a:r>
          </a:p>
        </p:txBody>
      </p:sp>
      <p:sp>
        <p:nvSpPr>
          <p:cNvPr id="256" name="Rectangle 255"/>
          <p:cNvSpPr/>
          <p:nvPr/>
        </p:nvSpPr>
        <p:spPr>
          <a:xfrm>
            <a:off x="6006693" y="2907792"/>
            <a:ext cx="10972" cy="109727"/>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7" name="Rectangle 256"/>
          <p:cNvSpPr/>
          <p:nvPr/>
        </p:nvSpPr>
        <p:spPr>
          <a:xfrm>
            <a:off x="8027517" y="2907792"/>
            <a:ext cx="10972" cy="109727"/>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8" name="Rectangle 257"/>
          <p:cNvSpPr/>
          <p:nvPr/>
        </p:nvSpPr>
        <p:spPr>
          <a:xfrm>
            <a:off x="6012180" y="3012033"/>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9" name="Rectangle 258"/>
          <p:cNvSpPr/>
          <p:nvPr/>
        </p:nvSpPr>
        <p:spPr>
          <a:xfrm>
            <a:off x="7017105" y="3017520"/>
            <a:ext cx="10972" cy="45720"/>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0" name="Isosceles Triangle 259"/>
          <p:cNvSpPr/>
          <p:nvPr/>
        </p:nvSpPr>
        <p:spPr>
          <a:xfrm rot="10800000">
            <a:off x="6981444" y="3063240"/>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1" name="Rectangle 260"/>
          <p:cNvSpPr/>
          <p:nvPr/>
        </p:nvSpPr>
        <p:spPr>
          <a:xfrm>
            <a:off x="5074920" y="3127248"/>
            <a:ext cx="3895344" cy="365760"/>
          </a:xfrm>
          <a:prstGeom prst="rect">
            <a:avLst/>
          </a:prstGeom>
          <a:solidFill>
            <a:srgbClr val="E4ECF1"/>
          </a:solidFill>
          <a:ln w="9525">
            <a:solidFill>
              <a:srgbClr val="1268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2" name="TextBox 261"/>
          <p:cNvSpPr txBox="1"/>
          <p:nvPr/>
        </p:nvSpPr>
        <p:spPr>
          <a:xfrm>
            <a:off x="5129783" y="3168396"/>
            <a:ext cx="3785616" cy="283464"/>
          </a:xfrm>
          <a:prstGeom prst="rect">
            <a:avLst/>
          </a:prstGeom>
          <a:noFill/>
        </p:spPr>
        <p:txBody>
          <a:bodyPr wrap="square" lIns="0" rIns="0" tIns="0" bIns="0" anchor="ctr">
            <a:spAutoFit/>
          </a:bodyPr>
          <a:lstStyle/>
          <a:p>
            <a:pPr algn="ctr"/>
            <a:r>
              <a:rPr sz="850" b="1" i="0">
                <a:solidFill>
                  <a:srgbClr val="0B2E4F"/>
                </a:solidFill>
                <a:latin typeface="Calibri"/>
              </a:rPr>
              <a:t>CLASS-4 CO-LOCATION IN OBSERVATION SPACE</a:t>
            </a:r>
            <a:r>
              <a:rPr sz="620" b="1" baseline="28000">
                <a:solidFill>
                  <a:srgbClr val="0B2E4F"/>
                </a:solidFill>
                <a:latin typeface="Calibri"/>
                <a:hlinkClick r:id="rId10"/>
              </a:rPr>
              <a:t>[1]</a:t>
            </a:r>
            <a:r>
              <a:rPr sz="620">
                <a:latin typeface="Calibri"/>
              </a:rPr>
              <a:t> </a:t>
            </a:r>
          </a:p>
          <a:p>
            <a:pPr algn="ctr"/>
            <a:r>
              <a:rPr sz="720" b="0" i="0">
                <a:solidFill>
                  <a:srgbClr val="556471"/>
                </a:solidFill>
                <a:latin typeface="Calibri"/>
              </a:rPr>
              <a:t>interpolated to each cast's own position and depth  ·  Ryan et al. 2015</a:t>
            </a:r>
          </a:p>
        </p:txBody>
      </p:sp>
      <p:sp>
        <p:nvSpPr>
          <p:cNvPr id="263" name="Rectangle 262"/>
          <p:cNvSpPr/>
          <p:nvPr/>
        </p:nvSpPr>
        <p:spPr>
          <a:xfrm>
            <a:off x="7017105" y="3493008"/>
            <a:ext cx="10972" cy="100583"/>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4" name="Rectangle 263"/>
          <p:cNvSpPr/>
          <p:nvPr/>
        </p:nvSpPr>
        <p:spPr>
          <a:xfrm>
            <a:off x="6012180" y="3588105"/>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5" name="Rectangle 264"/>
          <p:cNvSpPr/>
          <p:nvPr/>
        </p:nvSpPr>
        <p:spPr>
          <a:xfrm>
            <a:off x="6006693" y="3593591"/>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6" name="Isosceles Triangle 265"/>
          <p:cNvSpPr/>
          <p:nvPr/>
        </p:nvSpPr>
        <p:spPr>
          <a:xfrm rot="10800000">
            <a:off x="5971032" y="363016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7" name="Rectangle 266"/>
          <p:cNvSpPr/>
          <p:nvPr/>
        </p:nvSpPr>
        <p:spPr>
          <a:xfrm>
            <a:off x="8027517" y="3593591"/>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8" name="Isosceles Triangle 267"/>
          <p:cNvSpPr/>
          <p:nvPr/>
        </p:nvSpPr>
        <p:spPr>
          <a:xfrm rot="10800000">
            <a:off x="7991856" y="363016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9" name="Rectangle 268"/>
          <p:cNvSpPr/>
          <p:nvPr/>
        </p:nvSpPr>
        <p:spPr>
          <a:xfrm>
            <a:off x="5074920" y="3694176"/>
            <a:ext cx="1874520" cy="402336"/>
          </a:xfrm>
          <a:prstGeom prst="rect">
            <a:avLst/>
          </a:prstGeom>
          <a:solidFill>
            <a:srgbClr val="FFFFFF"/>
          </a:solidFill>
          <a:ln w="9525">
            <a:solidFill>
              <a:srgbClr val="0E8C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0" name="TextBox 269"/>
          <p:cNvSpPr txBox="1"/>
          <p:nvPr/>
        </p:nvSpPr>
        <p:spPr>
          <a:xfrm>
            <a:off x="5129783" y="3735324"/>
            <a:ext cx="1764792" cy="320040"/>
          </a:xfrm>
          <a:prstGeom prst="rect">
            <a:avLst/>
          </a:prstGeom>
          <a:noFill/>
        </p:spPr>
        <p:txBody>
          <a:bodyPr wrap="square" lIns="0" rIns="0" tIns="0" bIns="0" anchor="ctr">
            <a:spAutoFit/>
          </a:bodyPr>
          <a:lstStyle/>
          <a:p>
            <a:pPr algn="ctr"/>
            <a:r>
              <a:rPr sz="850" b="1" i="0">
                <a:solidFill>
                  <a:srgbClr val="0E8C9A"/>
                </a:solidFill>
                <a:latin typeface="Calibri"/>
              </a:rPr>
              <a:t>BIAS +0.026  ·  RMSE 0.602</a:t>
            </a:r>
          </a:p>
          <a:p>
            <a:pPr algn="ctr"/>
            <a:r>
              <a:rPr sz="720" b="0" i="0">
                <a:solidFill>
                  <a:srgbClr val="556471"/>
                </a:solidFill>
                <a:latin typeface="Calibri"/>
              </a:rPr>
              <a:t>degC, and per depth band</a:t>
            </a:r>
          </a:p>
        </p:txBody>
      </p:sp>
      <p:sp>
        <p:nvSpPr>
          <p:cNvPr id="271" name="Rectangle 270"/>
          <p:cNvSpPr/>
          <p:nvPr/>
        </p:nvSpPr>
        <p:spPr>
          <a:xfrm>
            <a:off x="7095744" y="3694176"/>
            <a:ext cx="1874520" cy="402336"/>
          </a:xfrm>
          <a:prstGeom prst="rect">
            <a:avLst/>
          </a:prstGeom>
          <a:solidFill>
            <a:srgbClr val="FFFFFF"/>
          </a:solidFill>
          <a:ln w="9525">
            <a:solidFill>
              <a:srgbClr val="C445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2" name="TextBox 271"/>
          <p:cNvSpPr txBox="1"/>
          <p:nvPr/>
        </p:nvSpPr>
        <p:spPr>
          <a:xfrm>
            <a:off x="7150607" y="3735324"/>
            <a:ext cx="1764792" cy="320040"/>
          </a:xfrm>
          <a:prstGeom prst="rect">
            <a:avLst/>
          </a:prstGeom>
          <a:noFill/>
        </p:spPr>
        <p:txBody>
          <a:bodyPr wrap="square" lIns="0" rIns="0" tIns="0" bIns="0" anchor="ctr">
            <a:spAutoFit/>
          </a:bodyPr>
          <a:lstStyle/>
          <a:p>
            <a:pPr algn="ctr"/>
            <a:r>
              <a:rPr sz="850" b="1" i="0">
                <a:solidFill>
                  <a:srgbClr val="C44528"/>
                </a:solidFill>
                <a:latin typeface="Calibri"/>
              </a:rPr>
              <a:t>13,622 LEVELS REFUSED</a:t>
            </a:r>
          </a:p>
          <a:p>
            <a:pPr algn="ctr"/>
            <a:r>
              <a:rPr sz="720" b="0" i="0">
                <a:solidFill>
                  <a:srgbClr val="556471"/>
                </a:solidFill>
                <a:latin typeface="Calibri"/>
              </a:rPr>
              <a:t>a printed reason for every one</a:t>
            </a:r>
          </a:p>
        </p:txBody>
      </p:sp>
      <p:sp>
        <p:nvSpPr>
          <p:cNvPr id="273" name="Rectangle 272"/>
          <p:cNvSpPr/>
          <p:nvPr/>
        </p:nvSpPr>
        <p:spPr>
          <a:xfrm>
            <a:off x="6006693" y="4096512"/>
            <a:ext cx="10972" cy="100583"/>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4" name="Rectangle 273"/>
          <p:cNvSpPr/>
          <p:nvPr/>
        </p:nvSpPr>
        <p:spPr>
          <a:xfrm>
            <a:off x="8027517" y="4096512"/>
            <a:ext cx="10972" cy="100583"/>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5" name="Rectangle 274"/>
          <p:cNvSpPr/>
          <p:nvPr/>
        </p:nvSpPr>
        <p:spPr>
          <a:xfrm>
            <a:off x="6012180" y="4191609"/>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6" name="Rectangle 275"/>
          <p:cNvSpPr/>
          <p:nvPr/>
        </p:nvSpPr>
        <p:spPr>
          <a:xfrm>
            <a:off x="7017105" y="4197096"/>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7" name="Isosceles Triangle 276"/>
          <p:cNvSpPr/>
          <p:nvPr/>
        </p:nvSpPr>
        <p:spPr>
          <a:xfrm rot="10800000">
            <a:off x="6981444" y="4233672"/>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8" name="Rectangle 277"/>
          <p:cNvSpPr/>
          <p:nvPr/>
        </p:nvSpPr>
        <p:spPr>
          <a:xfrm>
            <a:off x="5074920" y="4297680"/>
            <a:ext cx="3895344" cy="292608"/>
          </a:xfrm>
          <a:prstGeom prst="rect">
            <a:avLst/>
          </a:prstGeom>
          <a:solidFill>
            <a:srgbClr val="12688F"/>
          </a:solidFill>
          <a:ln w="9525">
            <a:solidFill>
              <a:srgbClr val="1268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9" name="TextBox 278"/>
          <p:cNvSpPr txBox="1"/>
          <p:nvPr/>
        </p:nvSpPr>
        <p:spPr>
          <a:xfrm>
            <a:off x="5129783" y="4338828"/>
            <a:ext cx="3785616" cy="210312"/>
          </a:xfrm>
          <a:prstGeom prst="rect">
            <a:avLst/>
          </a:prstGeom>
          <a:noFill/>
        </p:spPr>
        <p:txBody>
          <a:bodyPr wrap="square" lIns="0" rIns="0" tIns="0" bIns="0" anchor="ctr">
            <a:spAutoFit/>
          </a:bodyPr>
          <a:lstStyle/>
          <a:p>
            <a:pPr algn="ctr"/>
            <a:r>
              <a:rPr sz="900" b="1" i="0">
                <a:solidFill>
                  <a:srgbClr val="FFFFFF"/>
                </a:solidFill>
                <a:latin typeface="Calibri"/>
              </a:rPr>
              <a:t>A NUMBER A FORECASTER CAN DEFEND</a:t>
            </a:r>
          </a:p>
        </p:txBody>
      </p:sp>
      <p:sp>
        <p:nvSpPr>
          <p:cNvPr id="280" name="Rectangle 279"/>
          <p:cNvSpPr/>
          <p:nvPr/>
        </p:nvSpPr>
        <p:spPr>
          <a:xfrm>
            <a:off x="173736" y="3383280"/>
            <a:ext cx="2304288" cy="192024"/>
          </a:xfrm>
          <a:prstGeom prst="rect">
            <a:avLst/>
          </a:prstGeom>
          <a:solidFill>
            <a:srgbClr val="0B2E4F"/>
          </a:solidFill>
          <a:ln w="9525">
            <a:solidFill>
              <a:srgbClr val="0B2E4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r>
              <a:rPr sz="750" b="1" i="0">
                <a:solidFill>
                  <a:srgbClr val="FFFFFF"/>
                </a:solidFill>
                <a:latin typeface="Calibri"/>
              </a:rPr>
              <a:t>THE RUNNING SYSTEM  ·  PHOTOGRAPHED TODAY</a:t>
            </a:r>
          </a:p>
        </p:txBody>
      </p:sp>
      <p:sp>
        <p:nvSpPr>
          <p:cNvPr id="281" name="Rectangle 280"/>
          <p:cNvSpPr/>
          <p:nvPr/>
        </p:nvSpPr>
        <p:spPr>
          <a:xfrm>
            <a:off x="162763" y="3591763"/>
            <a:ext cx="2307945" cy="991209"/>
          </a:xfrm>
          <a:prstGeom prst="rect">
            <a:avLst/>
          </a:prstGeom>
          <a:solidFill>
            <a:srgbClr val="C3D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2" name="Picture 281" descr="crop-ui-scene-strip.png"/>
          <p:cNvPicPr>
            <a:picLocks noChangeAspect="1"/>
          </p:cNvPicPr>
          <p:nvPr/>
        </p:nvPicPr>
        <p:blipFill>
          <a:blip r:embed="rId11"/>
          <a:stretch>
            <a:fillRect/>
          </a:stretch>
        </p:blipFill>
        <p:spPr>
          <a:xfrm>
            <a:off x="173736" y="3602736"/>
            <a:ext cx="2286000" cy="969264"/>
          </a:xfrm>
          <a:prstGeom prst="rect">
            <a:avLst/>
          </a:prstGeom>
        </p:spPr>
      </p:pic>
      <p:sp>
        <p:nvSpPr>
          <p:cNvPr id="283" name="TextBox 282"/>
          <p:cNvSpPr txBox="1"/>
          <p:nvPr/>
        </p:nvSpPr>
        <p:spPr>
          <a:xfrm>
            <a:off x="173736" y="4617720"/>
            <a:ext cx="2286000" cy="128016"/>
          </a:xfrm>
          <a:prstGeom prst="rect">
            <a:avLst/>
          </a:prstGeom>
          <a:noFill/>
        </p:spPr>
        <p:txBody>
          <a:bodyPr wrap="square" lIns="0" rIns="0" tIns="0" bIns="0" anchor="t">
            <a:spAutoFit/>
          </a:bodyPr>
          <a:lstStyle/>
          <a:p>
            <a:r>
              <a:rPr sz="680" b="0" i="0">
                <a:solidFill>
                  <a:srgbClr val="556471"/>
                </a:solidFill>
                <a:latin typeface="Calibri"/>
              </a:rPr>
              <a:t>One scene: the model volume, the instruments, a live CAP area</a:t>
            </a:r>
          </a:p>
        </p:txBody>
      </p:sp>
      <p:sp>
        <p:nvSpPr>
          <p:cNvPr id="284" name="Rectangle 283"/>
          <p:cNvSpPr/>
          <p:nvPr/>
        </p:nvSpPr>
        <p:spPr>
          <a:xfrm>
            <a:off x="2604211" y="3591763"/>
            <a:ext cx="2307945" cy="991209"/>
          </a:xfrm>
          <a:prstGeom prst="rect">
            <a:avLst/>
          </a:prstGeom>
          <a:solidFill>
            <a:srgbClr val="C3D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5" name="Picture 284" descr="crop-ui-studio-cube.png"/>
          <p:cNvPicPr>
            <a:picLocks noChangeAspect="1"/>
          </p:cNvPicPr>
          <p:nvPr/>
        </p:nvPicPr>
        <p:blipFill>
          <a:blip r:embed="rId12"/>
          <a:stretch>
            <a:fillRect/>
          </a:stretch>
        </p:blipFill>
        <p:spPr>
          <a:xfrm>
            <a:off x="2615184" y="3602736"/>
            <a:ext cx="2286000" cy="969264"/>
          </a:xfrm>
          <a:prstGeom prst="rect">
            <a:avLst/>
          </a:prstGeom>
        </p:spPr>
      </p:pic>
      <p:sp>
        <p:nvSpPr>
          <p:cNvPr id="286" name="TextBox 285"/>
          <p:cNvSpPr txBox="1"/>
          <p:nvPr/>
        </p:nvSpPr>
        <p:spPr>
          <a:xfrm>
            <a:off x="2615184" y="4617720"/>
            <a:ext cx="2286000" cy="128016"/>
          </a:xfrm>
          <a:prstGeom prst="rect">
            <a:avLst/>
          </a:prstGeom>
          <a:noFill/>
        </p:spPr>
        <p:txBody>
          <a:bodyPr wrap="square" lIns="0" rIns="0" tIns="0" bIns="0" anchor="t">
            <a:spAutoFit/>
          </a:bodyPr>
          <a:lstStyle/>
          <a:p>
            <a:r>
              <a:rPr sz="680" b="0" i="0">
                <a:solidFill>
                  <a:srgbClr val="556471"/>
                </a:solidFill>
                <a:latin typeface="Calibri"/>
              </a:rPr>
              <a:t>The cube, the measured profile, and the Class-4 number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39"/>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Clr>
                <a:srgbClr val="000000"/>
              </a:buClr>
              <a:buSzPts val="100"/>
              <a:buFont typeface="Arial"/>
              <a:buNone/>
            </a:pPr>
            <a:r>
              <a:rPr b="0" i="0" lang="en-GB" sz="100" u="none" cap="none" strike="noStrike">
                <a:solidFill>
                  <a:srgbClr val="FFFFFF"/>
                </a:solidFill>
                <a:latin typeface="Arial"/>
                <a:ea typeface="Arial"/>
                <a:cs typeface="Arial"/>
                <a:sym typeface="Arial"/>
              </a:rPr>
              <a:t>NetCDF ASCII delimited text xarray Zarr chunked store CF Conventions FastAPI REST API OGC WMS 1.3.0 WCS 1.0.0 CesiumJS WebGL2 Next.js TypeScript Python 3.11 Docker plugin architecture modular extensible source registry HF-radar ADCP additional sensors minimal code change</a:t>
            </a:r>
            <a:endParaRPr b="0" i="0" sz="1400" u="none" cap="none" strike="noStrike">
              <a:solidFill>
                <a:srgbClr val="000000"/>
              </a:solidFill>
              <a:latin typeface="Arial"/>
              <a:ea typeface="Arial"/>
              <a:cs typeface="Arial"/>
              <a:sym typeface="Arial"/>
            </a:endParaRPr>
          </a:p>
        </p:txBody>
      </p:sp>
      <p:sp>
        <p:nvSpPr>
          <p:cNvPr id="256" name="Google Shape;256;p39"/>
          <p:cNvSpPr/>
          <p:nvPr/>
        </p:nvSpPr>
        <p:spPr>
          <a:xfrm>
            <a:off x="0" y="4869574"/>
            <a:ext cx="9144000" cy="273900"/>
          </a:xfrm>
          <a:prstGeom prst="rect">
            <a:avLst/>
          </a:prstGeom>
          <a:solidFill>
            <a:schemeClr val="accent1"/>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953734"/>
              </a:solidFill>
              <a:latin typeface="Calibri"/>
              <a:ea typeface="Calibri"/>
              <a:cs typeface="Calibri"/>
              <a:sym typeface="Calibri"/>
            </a:endParaRPr>
          </a:p>
        </p:txBody>
      </p:sp>
      <p:sp>
        <p:nvSpPr>
          <p:cNvPr id="257" name="Google Shape;257;p39"/>
          <p:cNvSpPr txBox="1"/>
          <p:nvPr>
            <p:ph type="title"/>
          </p:nvPr>
        </p:nvSpPr>
        <p:spPr>
          <a:xfrm>
            <a:off x="1148825" y="43800"/>
            <a:ext cx="6723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TECHNICAL APPROACH</a:t>
            </a:r>
            <a:endParaRPr sz="1100"/>
          </a:p>
        </p:txBody>
      </p:sp>
      <p:sp>
        <p:nvSpPr>
          <p:cNvPr id="258" name="Google Shape;258;p39"/>
          <p:cNvSpPr txBox="1"/>
          <p:nvPr>
            <p:ph idx="12" type="sldNum"/>
          </p:nvPr>
        </p:nvSpPr>
        <p:spPr>
          <a:xfrm>
            <a:off x="6553200" y="4867528"/>
            <a:ext cx="21336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1100"/>
              <a:buNone/>
            </a:pPr>
            <a:fld id="{00000000-1234-1234-1234-123412341234}" type="slidenum">
              <a:rPr b="1" lang="en-GB" sz="1100">
                <a:solidFill>
                  <a:schemeClr val="lt1"/>
                </a:solidFill>
              </a:rPr>
              <a:t>‹#›</a:t>
            </a:fld>
            <a:endParaRPr b="1" sz="1100">
              <a:solidFill>
                <a:schemeClr val="lt1"/>
              </a:solidFill>
            </a:endParaRPr>
          </a:p>
        </p:txBody>
      </p:sp>
      <p:sp>
        <p:nvSpPr>
          <p:cNvPr id="259" name="Google Shape;259;p39"/>
          <p:cNvSpPr txBox="1"/>
          <p:nvPr>
            <p:ph idx="11" type="ftr"/>
          </p:nvPr>
        </p:nvSpPr>
        <p:spPr>
          <a:xfrm>
            <a:off x="3481450" y="4862912"/>
            <a:ext cx="2403000" cy="273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700">
                <a:solidFill>
                  <a:srgbClr val="FFFFFF"/>
                </a:solidFill>
                <a:latin typeface="Calibri"/>
                <a:ea typeface="Calibri"/>
                <a:cs typeface="Calibri"/>
                <a:sym typeface="Calibri"/>
              </a:rPr>
              <a:t>SagarDrishti  ·  PS SIH26067  ·  @SIH Idea Submission</a:t>
            </a:r>
            <a:endParaRPr sz="1100">
              <a:solidFill>
                <a:schemeClr val="lt1"/>
              </a:solidFill>
            </a:endParaRPr>
          </a:p>
        </p:txBody>
      </p:sp>
      <p:pic>
        <p:nvPicPr>
          <p:cNvPr id="260" name="Google Shape;260;p39"/>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61" name="Google Shape;261;p39"/>
          <p:cNvSpPr txBox="1"/>
          <p:nvPr/>
        </p:nvSpPr>
        <p:spPr>
          <a:xfrm>
            <a:off x="155820" y="3880886"/>
            <a:ext cx="2057400" cy="107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50"/>
              <a:buFont typeface="Arial"/>
              <a:buNone/>
            </a:pPr>
            <a:r>
              <a:rPr b="1" i="0" lang="en-GB" sz="650" u="none" cap="none" strike="noStrike">
                <a:solidFill>
                  <a:schemeClr val="dk1"/>
                </a:solidFill>
                <a:latin typeface="Calibri"/>
                <a:ea typeface="Calibri"/>
                <a:cs typeface="Calibri"/>
                <a:sym typeface="Calibri"/>
              </a:rPr>
              <a:t>TECHNOLOGIES USED</a:t>
            </a:r>
            <a:endParaRPr b="1" i="0" sz="1200" u="none" cap="none" strike="noStrike">
              <a:solidFill>
                <a:schemeClr val="dk1"/>
              </a:solidFill>
              <a:latin typeface="Arial"/>
              <a:ea typeface="Arial"/>
              <a:cs typeface="Arial"/>
              <a:sym typeface="Arial"/>
            </a:endParaRPr>
          </a:p>
        </p:txBody>
      </p:sp>
      <p:sp>
        <p:nvSpPr>
          <p:cNvPr id="262" name="Google Shape;262;p39"/>
          <p:cNvSpPr/>
          <p:nvPr/>
        </p:nvSpPr>
        <p:spPr>
          <a:xfrm>
            <a:off x="1664631" y="4430931"/>
            <a:ext cx="513900" cy="1662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CesiumJS</a:t>
            </a:r>
            <a:endParaRPr b="0" i="0" sz="1100" u="none" cap="none" strike="noStrike">
              <a:solidFill>
                <a:srgbClr val="000000"/>
              </a:solidFill>
              <a:latin typeface="Arial"/>
              <a:ea typeface="Arial"/>
              <a:cs typeface="Arial"/>
              <a:sym typeface="Arial"/>
            </a:endParaRPr>
          </a:p>
        </p:txBody>
      </p:sp>
      <p:sp>
        <p:nvSpPr>
          <p:cNvPr id="263" name="Google Shape;263;p39"/>
          <p:cNvSpPr/>
          <p:nvPr/>
        </p:nvSpPr>
        <p:spPr>
          <a:xfrm>
            <a:off x="2255378" y="4436967"/>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ECharts</a:t>
            </a:r>
            <a:endParaRPr b="0" i="0" sz="1100" u="none" cap="none" strike="noStrike">
              <a:solidFill>
                <a:srgbClr val="000000"/>
              </a:solidFill>
              <a:latin typeface="Arial"/>
              <a:ea typeface="Arial"/>
              <a:cs typeface="Arial"/>
              <a:sym typeface="Arial"/>
            </a:endParaRPr>
          </a:p>
        </p:txBody>
      </p:sp>
      <p:sp>
        <p:nvSpPr>
          <p:cNvPr id="264" name="Google Shape;264;p39"/>
          <p:cNvSpPr/>
          <p:nvPr/>
        </p:nvSpPr>
        <p:spPr>
          <a:xfrm>
            <a:off x="2907915" y="4438664"/>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Python 3.11</a:t>
            </a:r>
            <a:endParaRPr b="0" i="0" sz="1100" u="none" cap="none" strike="noStrike">
              <a:solidFill>
                <a:srgbClr val="000000"/>
              </a:solidFill>
              <a:latin typeface="Arial"/>
              <a:ea typeface="Arial"/>
              <a:cs typeface="Arial"/>
              <a:sym typeface="Arial"/>
            </a:endParaRPr>
          </a:p>
        </p:txBody>
      </p:sp>
      <p:sp>
        <p:nvSpPr>
          <p:cNvPr id="265" name="Google Shape;265;p39"/>
          <p:cNvSpPr/>
          <p:nvPr/>
        </p:nvSpPr>
        <p:spPr>
          <a:xfrm>
            <a:off x="3623021" y="443868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FastAPI</a:t>
            </a:r>
            <a:endParaRPr b="0" i="0" sz="1100" u="none" cap="none" strike="noStrike">
              <a:solidFill>
                <a:srgbClr val="000000"/>
              </a:solidFill>
              <a:latin typeface="Arial"/>
              <a:ea typeface="Arial"/>
              <a:cs typeface="Arial"/>
              <a:sym typeface="Arial"/>
            </a:endParaRPr>
          </a:p>
        </p:txBody>
      </p:sp>
      <p:sp>
        <p:nvSpPr>
          <p:cNvPr id="266" name="Google Shape;266;p39"/>
          <p:cNvSpPr/>
          <p:nvPr/>
        </p:nvSpPr>
        <p:spPr>
          <a:xfrm>
            <a:off x="4410263" y="443868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xarray · Zarr</a:t>
            </a:r>
            <a:endParaRPr b="0" i="0" sz="1100" u="none" cap="none" strike="noStrike">
              <a:solidFill>
                <a:srgbClr val="000000"/>
              </a:solidFill>
              <a:latin typeface="Arial"/>
              <a:ea typeface="Arial"/>
              <a:cs typeface="Arial"/>
              <a:sym typeface="Arial"/>
            </a:endParaRPr>
          </a:p>
        </p:txBody>
      </p:sp>
      <p:sp>
        <p:nvSpPr>
          <p:cNvPr id="267" name="Google Shape;267;p39"/>
          <p:cNvSpPr/>
          <p:nvPr/>
        </p:nvSpPr>
        <p:spPr>
          <a:xfrm>
            <a:off x="5136085" y="4439060"/>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NumPy · SciPy</a:t>
            </a:r>
            <a:endParaRPr b="0" i="0" sz="1100" u="none" cap="none" strike="noStrike">
              <a:solidFill>
                <a:srgbClr val="000000"/>
              </a:solidFill>
              <a:latin typeface="Arial"/>
              <a:ea typeface="Arial"/>
              <a:cs typeface="Arial"/>
              <a:sym typeface="Arial"/>
            </a:endParaRPr>
          </a:p>
        </p:txBody>
      </p:sp>
      <p:sp>
        <p:nvSpPr>
          <p:cNvPr id="268" name="Google Shape;268;p39"/>
          <p:cNvSpPr/>
          <p:nvPr/>
        </p:nvSpPr>
        <p:spPr>
          <a:xfrm>
            <a:off x="8063261" y="4101084"/>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gsw (TEOS-10)</a:t>
            </a:r>
            <a:endParaRPr b="0" i="0" sz="1100" u="none" cap="none" strike="noStrike">
              <a:solidFill>
                <a:srgbClr val="000000"/>
              </a:solidFill>
              <a:latin typeface="Arial"/>
              <a:ea typeface="Arial"/>
              <a:cs typeface="Arial"/>
              <a:sym typeface="Arial"/>
            </a:endParaRPr>
          </a:p>
        </p:txBody>
      </p:sp>
      <p:sp>
        <p:nvSpPr>
          <p:cNvPr id="269" name="Google Shape;269;p39"/>
          <p:cNvSpPr/>
          <p:nvPr/>
        </p:nvSpPr>
        <p:spPr>
          <a:xfrm>
            <a:off x="7218741" y="4416406"/>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scikit-image</a:t>
            </a:r>
            <a:endParaRPr b="0" i="0" sz="1100" u="none" cap="none" strike="noStrike">
              <a:solidFill>
                <a:srgbClr val="000000"/>
              </a:solidFill>
              <a:latin typeface="Arial"/>
              <a:ea typeface="Arial"/>
              <a:cs typeface="Arial"/>
              <a:sym typeface="Arial"/>
            </a:endParaRPr>
          </a:p>
        </p:txBody>
      </p:sp>
      <p:sp>
        <p:nvSpPr>
          <p:cNvPr id="270" name="Google Shape;270;p39"/>
          <p:cNvSpPr/>
          <p:nvPr/>
        </p:nvSpPr>
        <p:spPr>
          <a:xfrm>
            <a:off x="8063246" y="4475988"/>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Parquet</a:t>
            </a:r>
            <a:endParaRPr b="0" i="0" sz="1100" u="none" cap="none" strike="noStrike">
              <a:solidFill>
                <a:srgbClr val="000000"/>
              </a:solidFill>
              <a:latin typeface="Arial"/>
              <a:ea typeface="Arial"/>
              <a:cs typeface="Arial"/>
              <a:sym typeface="Arial"/>
            </a:endParaRPr>
          </a:p>
        </p:txBody>
      </p:sp>
      <p:sp>
        <p:nvSpPr>
          <p:cNvPr id="271" name="Google Shape;271;p39"/>
          <p:cNvSpPr/>
          <p:nvPr/>
        </p:nvSpPr>
        <p:spPr>
          <a:xfrm>
            <a:off x="5788543" y="4434468"/>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Docker</a:t>
            </a:r>
            <a:endParaRPr b="0" i="0" sz="1100" u="none" cap="none" strike="noStrike">
              <a:solidFill>
                <a:srgbClr val="000000"/>
              </a:solidFill>
              <a:latin typeface="Arial"/>
              <a:ea typeface="Arial"/>
              <a:cs typeface="Arial"/>
              <a:sym typeface="Arial"/>
            </a:endParaRPr>
          </a:p>
        </p:txBody>
      </p:sp>
      <p:sp>
        <p:nvSpPr>
          <p:cNvPr id="272" name="Google Shape;272;p39"/>
          <p:cNvSpPr/>
          <p:nvPr/>
        </p:nvSpPr>
        <p:spPr>
          <a:xfrm>
            <a:off x="8063244" y="4288536"/>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Playwright</a:t>
            </a:r>
            <a:endParaRPr b="0" i="0" sz="1100" u="none" cap="none" strike="noStrike">
              <a:solidFill>
                <a:srgbClr val="000000"/>
              </a:solidFill>
              <a:latin typeface="Arial"/>
              <a:ea typeface="Arial"/>
              <a:cs typeface="Arial"/>
              <a:sym typeface="Arial"/>
            </a:endParaRPr>
          </a:p>
        </p:txBody>
      </p:sp>
      <p:sp>
        <p:nvSpPr>
          <p:cNvPr id="273" name="Google Shape;273;p39"/>
          <p:cNvSpPr/>
          <p:nvPr/>
        </p:nvSpPr>
        <p:spPr>
          <a:xfrm>
            <a:off x="6503649" y="441724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pytest</a:t>
            </a:r>
            <a:endParaRPr b="0" i="0" sz="1100" u="none" cap="none" strike="noStrike">
              <a:solidFill>
                <a:srgbClr val="000000"/>
              </a:solidFill>
              <a:latin typeface="Arial"/>
              <a:ea typeface="Arial"/>
              <a:cs typeface="Arial"/>
              <a:sym typeface="Arial"/>
            </a:endParaRPr>
          </a:p>
        </p:txBody>
      </p:sp>
      <p:sp>
        <p:nvSpPr>
          <p:cNvPr id="274" name="Google Shape;274;p39"/>
          <p:cNvSpPr txBox="1"/>
          <p:nvPr/>
        </p:nvSpPr>
        <p:spPr>
          <a:xfrm>
            <a:off x="1792300" y="4685997"/>
            <a:ext cx="8593200" cy="1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50"/>
              <a:buFont typeface="Arial"/>
              <a:buNone/>
            </a:pPr>
            <a:r>
              <a:rPr b="1" i="0" lang="en-GB" sz="650" u="none" cap="none" strike="noStrike">
                <a:solidFill>
                  <a:schemeClr val="dk1"/>
                </a:solidFill>
                <a:latin typeface="Calibri"/>
                <a:ea typeface="Calibri"/>
                <a:cs typeface="Calibri"/>
                <a:sym typeface="Calibri"/>
              </a:rPr>
              <a:t>Standards:   CF Conventions   ·   OGC WMS 1.3.0   ·   OGC WCS 1.0.0   ·   OASIS CAP v1.2   ·   TEOS-10   ·   Argo QC (Wong 2020)   ·   Class 4 (Ryan 2015)</a:t>
            </a:r>
            <a:endParaRPr b="1" i="0" sz="1100" u="none" cap="none" strike="noStrike">
              <a:solidFill>
                <a:schemeClr val="dk1"/>
              </a:solidFill>
              <a:latin typeface="Arial"/>
              <a:ea typeface="Arial"/>
              <a:cs typeface="Arial"/>
              <a:sym typeface="Arial"/>
            </a:endParaRPr>
          </a:p>
        </p:txBody>
      </p:sp>
      <p:sp>
        <p:nvSpPr>
          <p:cNvPr descr="Your startup LOGO" id="275" name="Google Shape;275;p39"/>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ctr">
              <a:lnSpc>
                <a:spcPct val="95000"/>
              </a:lnSpc>
              <a:spcBef>
                <a:spcPts val="400"/>
              </a:spcBef>
              <a:spcAft>
                <a:spcPts val="0"/>
              </a:spcAft>
              <a:buClr>
                <a:srgbClr val="000000"/>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pic>
        <p:nvPicPr>
          <p:cNvPr id="276" name="Google Shape;276;p39"/>
          <p:cNvPicPr preferRelativeResize="0"/>
          <p:nvPr/>
        </p:nvPicPr>
        <p:blipFill rotWithShape="1">
          <a:blip r:embed="rId4">
            <a:alphaModFix/>
          </a:blip>
          <a:srcRect b="0" l="0" r="0" t="0"/>
          <a:stretch/>
        </p:blipFill>
        <p:spPr>
          <a:xfrm>
            <a:off x="345992" y="4013667"/>
            <a:ext cx="386700" cy="386700"/>
          </a:xfrm>
          <a:prstGeom prst="rect">
            <a:avLst/>
          </a:prstGeom>
          <a:noFill/>
          <a:ln>
            <a:noFill/>
          </a:ln>
        </p:spPr>
      </p:pic>
      <p:pic>
        <p:nvPicPr>
          <p:cNvPr id="277" name="Google Shape;277;p39"/>
          <p:cNvPicPr preferRelativeResize="0"/>
          <p:nvPr/>
        </p:nvPicPr>
        <p:blipFill rotWithShape="1">
          <a:blip r:embed="rId5">
            <a:alphaModFix/>
          </a:blip>
          <a:srcRect b="0" l="0" r="0" t="0"/>
          <a:stretch/>
        </p:blipFill>
        <p:spPr>
          <a:xfrm>
            <a:off x="1058328" y="4052640"/>
            <a:ext cx="332401" cy="332401"/>
          </a:xfrm>
          <a:prstGeom prst="rect">
            <a:avLst/>
          </a:prstGeom>
          <a:noFill/>
          <a:ln>
            <a:noFill/>
          </a:ln>
        </p:spPr>
      </p:pic>
      <p:pic>
        <p:nvPicPr>
          <p:cNvPr id="278" name="Google Shape;278;p39"/>
          <p:cNvPicPr preferRelativeResize="0"/>
          <p:nvPr/>
        </p:nvPicPr>
        <p:blipFill rotWithShape="1">
          <a:blip r:embed="rId6">
            <a:alphaModFix/>
          </a:blip>
          <a:srcRect b="0" l="0" r="0" t="0"/>
          <a:stretch/>
        </p:blipFill>
        <p:spPr>
          <a:xfrm>
            <a:off x="1722354" y="4037457"/>
            <a:ext cx="431950" cy="362793"/>
          </a:xfrm>
          <a:prstGeom prst="rect">
            <a:avLst/>
          </a:prstGeom>
          <a:noFill/>
          <a:ln>
            <a:noFill/>
          </a:ln>
        </p:spPr>
      </p:pic>
      <p:pic>
        <p:nvPicPr>
          <p:cNvPr id="279" name="Google Shape;279;p39"/>
          <p:cNvPicPr preferRelativeResize="0"/>
          <p:nvPr/>
        </p:nvPicPr>
        <p:blipFill rotWithShape="1">
          <a:blip r:embed="rId7">
            <a:alphaModFix/>
          </a:blip>
          <a:srcRect b="0" l="0" r="0" t="0"/>
          <a:stretch/>
        </p:blipFill>
        <p:spPr>
          <a:xfrm>
            <a:off x="2389722" y="4085043"/>
            <a:ext cx="307011" cy="267600"/>
          </a:xfrm>
          <a:prstGeom prst="rect">
            <a:avLst/>
          </a:prstGeom>
          <a:noFill/>
          <a:ln>
            <a:noFill/>
          </a:ln>
        </p:spPr>
      </p:pic>
      <p:pic>
        <p:nvPicPr>
          <p:cNvPr id="280" name="Google Shape;280;p39"/>
          <p:cNvPicPr preferRelativeResize="0"/>
          <p:nvPr/>
        </p:nvPicPr>
        <p:blipFill rotWithShape="1">
          <a:blip r:embed="rId8">
            <a:alphaModFix/>
          </a:blip>
          <a:srcRect b="0" l="0" r="0" t="0"/>
          <a:stretch/>
        </p:blipFill>
        <p:spPr>
          <a:xfrm>
            <a:off x="2560870" y="3536045"/>
            <a:ext cx="1294638" cy="1294638"/>
          </a:xfrm>
          <a:prstGeom prst="rect">
            <a:avLst/>
          </a:prstGeom>
          <a:noFill/>
          <a:ln>
            <a:noFill/>
          </a:ln>
        </p:spPr>
      </p:pic>
      <p:pic>
        <p:nvPicPr>
          <p:cNvPr id="281" name="Google Shape;281;p39"/>
          <p:cNvPicPr preferRelativeResize="0"/>
          <p:nvPr/>
        </p:nvPicPr>
        <p:blipFill rotWithShape="1">
          <a:blip r:embed="rId9">
            <a:alphaModFix/>
          </a:blip>
          <a:srcRect b="0" l="0" r="0" t="0"/>
          <a:stretch/>
        </p:blipFill>
        <p:spPr>
          <a:xfrm>
            <a:off x="3717514" y="3990937"/>
            <a:ext cx="386705" cy="383999"/>
          </a:xfrm>
          <a:prstGeom prst="rect">
            <a:avLst/>
          </a:prstGeom>
          <a:noFill/>
          <a:ln>
            <a:noFill/>
          </a:ln>
        </p:spPr>
      </p:pic>
      <p:pic>
        <p:nvPicPr>
          <p:cNvPr id="282" name="Google Shape;282;p39"/>
          <p:cNvPicPr preferRelativeResize="0"/>
          <p:nvPr/>
        </p:nvPicPr>
        <p:blipFill rotWithShape="1">
          <a:blip r:embed="rId10">
            <a:alphaModFix/>
          </a:blip>
          <a:srcRect b="17601" l="0" r="0" t="0"/>
          <a:stretch/>
        </p:blipFill>
        <p:spPr>
          <a:xfrm>
            <a:off x="4353762" y="4119700"/>
            <a:ext cx="691812" cy="219600"/>
          </a:xfrm>
          <a:prstGeom prst="rect">
            <a:avLst/>
          </a:prstGeom>
          <a:noFill/>
          <a:ln>
            <a:noFill/>
          </a:ln>
        </p:spPr>
      </p:pic>
      <p:pic>
        <p:nvPicPr>
          <p:cNvPr id="283" name="Google Shape;283;p39"/>
          <p:cNvPicPr preferRelativeResize="0"/>
          <p:nvPr/>
        </p:nvPicPr>
        <p:blipFill rotWithShape="1">
          <a:blip r:embed="rId11">
            <a:alphaModFix/>
          </a:blip>
          <a:srcRect b="0" l="0" r="0" t="0"/>
          <a:stretch/>
        </p:blipFill>
        <p:spPr>
          <a:xfrm>
            <a:off x="5214813" y="3996277"/>
            <a:ext cx="431950" cy="431950"/>
          </a:xfrm>
          <a:prstGeom prst="rect">
            <a:avLst/>
          </a:prstGeom>
          <a:noFill/>
          <a:ln>
            <a:noFill/>
          </a:ln>
        </p:spPr>
      </p:pic>
      <p:sp>
        <p:nvSpPr>
          <p:cNvPr id="284" name="Google Shape;284;p39"/>
          <p:cNvSpPr/>
          <p:nvPr/>
        </p:nvSpPr>
        <p:spPr>
          <a:xfrm>
            <a:off x="936457" y="441639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Typescript</a:t>
            </a:r>
            <a:endParaRPr b="0" i="0" sz="1100" u="none" cap="none" strike="noStrike">
              <a:solidFill>
                <a:srgbClr val="000000"/>
              </a:solidFill>
              <a:latin typeface="Arial"/>
              <a:ea typeface="Arial"/>
              <a:cs typeface="Arial"/>
              <a:sym typeface="Arial"/>
            </a:endParaRPr>
          </a:p>
        </p:txBody>
      </p:sp>
      <p:sp>
        <p:nvSpPr>
          <p:cNvPr id="285" name="Google Shape;285;p39"/>
          <p:cNvSpPr/>
          <p:nvPr/>
        </p:nvSpPr>
        <p:spPr>
          <a:xfrm>
            <a:off x="246907" y="4396833"/>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Nextjs</a:t>
            </a:r>
            <a:endParaRPr b="0" i="0" sz="1100" u="none" cap="none" strike="noStrike">
              <a:solidFill>
                <a:srgbClr val="000000"/>
              </a:solidFill>
              <a:latin typeface="Arial"/>
              <a:ea typeface="Arial"/>
              <a:cs typeface="Arial"/>
              <a:sym typeface="Arial"/>
            </a:endParaRPr>
          </a:p>
        </p:txBody>
      </p:sp>
      <p:pic>
        <p:nvPicPr>
          <p:cNvPr id="286" name="Google Shape;286;p39"/>
          <p:cNvPicPr preferRelativeResize="0"/>
          <p:nvPr/>
        </p:nvPicPr>
        <p:blipFill rotWithShape="1">
          <a:blip r:embed="rId12">
            <a:alphaModFix/>
          </a:blip>
          <a:srcRect b="0" l="0" r="0" t="0"/>
          <a:stretch/>
        </p:blipFill>
        <p:spPr>
          <a:xfrm>
            <a:off x="5882449" y="3988762"/>
            <a:ext cx="457800" cy="457800"/>
          </a:xfrm>
          <a:prstGeom prst="rect">
            <a:avLst/>
          </a:prstGeom>
          <a:noFill/>
          <a:ln>
            <a:noFill/>
          </a:ln>
        </p:spPr>
      </p:pic>
      <p:pic>
        <p:nvPicPr>
          <p:cNvPr id="287" name="Google Shape;287;p39"/>
          <p:cNvPicPr preferRelativeResize="0"/>
          <p:nvPr/>
        </p:nvPicPr>
        <p:blipFill rotWithShape="1">
          <a:blip r:embed="rId13">
            <a:alphaModFix/>
          </a:blip>
          <a:srcRect b="0" l="0" r="0" t="0"/>
          <a:stretch/>
        </p:blipFill>
        <p:spPr>
          <a:xfrm>
            <a:off x="6543332" y="4024952"/>
            <a:ext cx="457800" cy="381489"/>
          </a:xfrm>
          <a:prstGeom prst="rect">
            <a:avLst/>
          </a:prstGeom>
          <a:noFill/>
          <a:ln>
            <a:noFill/>
          </a:ln>
        </p:spPr>
      </p:pic>
      <p:pic>
        <p:nvPicPr>
          <p:cNvPr id="288" name="Google Shape;288;p39"/>
          <p:cNvPicPr preferRelativeResize="0"/>
          <p:nvPr/>
        </p:nvPicPr>
        <p:blipFill rotWithShape="1">
          <a:blip r:embed="rId14">
            <a:alphaModFix/>
          </a:blip>
          <a:srcRect b="0" l="0" r="0" t="0"/>
          <a:stretch/>
        </p:blipFill>
        <p:spPr>
          <a:xfrm>
            <a:off x="7073675" y="3901132"/>
            <a:ext cx="798225" cy="560344"/>
          </a:xfrm>
          <a:prstGeom prst="rect">
            <a:avLst/>
          </a:prstGeom>
          <a:noFill/>
          <a:ln>
            <a:noFill/>
          </a:ln>
        </p:spPr>
      </p:pic>
      <p:sp>
        <p:nvSpPr>
          <p:cNvPr id="289" name="Google Shape;289;p39"/>
          <p:cNvSpPr/>
          <p:nvPr/>
        </p:nvSpPr>
        <p:spPr>
          <a:xfrm>
            <a:off x="173725" y="1097275"/>
            <a:ext cx="1883700" cy="2003100"/>
          </a:xfrm>
          <a:prstGeom prst="roundRect">
            <a:avLst>
              <a:gd fmla="val 3500" name="adj"/>
            </a:avLst>
          </a:prstGeom>
          <a:solidFill>
            <a:srgbClr val="F6F8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0" name="Google Shape;290;p39"/>
          <p:cNvSpPr/>
          <p:nvPr/>
        </p:nvSpPr>
        <p:spPr>
          <a:xfrm>
            <a:off x="173725" y="1012800"/>
            <a:ext cx="1883700" cy="432000"/>
          </a:xfrm>
          <a:prstGeom prst="roundRect">
            <a:avLst>
              <a:gd fmla="val 16000" name="adj"/>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1" name="Google Shape;291;p39"/>
          <p:cNvSpPr/>
          <p:nvPr/>
        </p:nvSpPr>
        <p:spPr>
          <a:xfrm>
            <a:off x="173736" y="1353312"/>
            <a:ext cx="1883664" cy="91440"/>
          </a:xfrm>
          <a:prstGeom prst="rect">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2" name="Google Shape;292;p39"/>
          <p:cNvSpPr/>
          <p:nvPr/>
        </p:nvSpPr>
        <p:spPr>
          <a:xfrm>
            <a:off x="173736" y="1426464"/>
            <a:ext cx="1883664" cy="18288"/>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3" name="Google Shape;293;p39"/>
          <p:cNvSpPr/>
          <p:nvPr/>
        </p:nvSpPr>
        <p:spPr>
          <a:xfrm>
            <a:off x="246888" y="1179576"/>
            <a:ext cx="182880" cy="182880"/>
          </a:xfrm>
          <a:prstGeom prst="ellipse">
            <a:avLst/>
          </a:prstGeom>
          <a:solidFill>
            <a:srgbClr val="1F4E7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1</a:t>
            </a:r>
            <a:endParaRPr/>
          </a:p>
        </p:txBody>
      </p:sp>
      <p:sp>
        <p:nvSpPr>
          <p:cNvPr id="294" name="Google Shape;294;p39"/>
          <p:cNvSpPr txBox="1"/>
          <p:nvPr/>
        </p:nvSpPr>
        <p:spPr>
          <a:xfrm>
            <a:off x="475488" y="1133856"/>
            <a:ext cx="1316736" cy="27432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F4E79"/>
                </a:solidFill>
                <a:latin typeface="Arial"/>
                <a:ea typeface="Arial"/>
                <a:cs typeface="Arial"/>
                <a:sym typeface="Arial"/>
              </a:rPr>
              <a:t>SOURCES</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13 enabled  ·  10 kinds</a:t>
            </a:r>
            <a:endParaRPr/>
          </a:p>
        </p:txBody>
      </p:sp>
      <p:sp>
        <p:nvSpPr>
          <p:cNvPr id="295" name="Google Shape;295;p39"/>
          <p:cNvSpPr/>
          <p:nvPr/>
        </p:nvSpPr>
        <p:spPr>
          <a:xfrm>
            <a:off x="2478024" y="1097280"/>
            <a:ext cx="1883664" cy="1920240"/>
          </a:xfrm>
          <a:prstGeom prst="roundRect">
            <a:avLst>
              <a:gd fmla="val 3500" name="adj"/>
            </a:avLst>
          </a:prstGeom>
          <a:solidFill>
            <a:srgbClr val="F6F8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6" name="Google Shape;296;p39"/>
          <p:cNvSpPr/>
          <p:nvPr/>
        </p:nvSpPr>
        <p:spPr>
          <a:xfrm>
            <a:off x="2478025" y="1012800"/>
            <a:ext cx="1883700" cy="432000"/>
          </a:xfrm>
          <a:prstGeom prst="roundRect">
            <a:avLst>
              <a:gd fmla="val 16000" name="adj"/>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39"/>
          <p:cNvSpPr/>
          <p:nvPr/>
        </p:nvSpPr>
        <p:spPr>
          <a:xfrm>
            <a:off x="2478024" y="1353312"/>
            <a:ext cx="1883664" cy="91440"/>
          </a:xfrm>
          <a:prstGeom prst="rect">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8" name="Google Shape;298;p39"/>
          <p:cNvSpPr/>
          <p:nvPr/>
        </p:nvSpPr>
        <p:spPr>
          <a:xfrm>
            <a:off x="2478024" y="1426464"/>
            <a:ext cx="1883664" cy="18288"/>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9" name="Google Shape;299;p39"/>
          <p:cNvSpPr/>
          <p:nvPr/>
        </p:nvSpPr>
        <p:spPr>
          <a:xfrm>
            <a:off x="2559915" y="1109668"/>
            <a:ext cx="183000" cy="183000"/>
          </a:xfrm>
          <a:prstGeom prst="ellipse">
            <a:avLst/>
          </a:prstGeom>
          <a:solidFill>
            <a:srgbClr val="1F4E7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2</a:t>
            </a:r>
            <a:endParaRPr/>
          </a:p>
        </p:txBody>
      </p:sp>
      <p:sp>
        <p:nvSpPr>
          <p:cNvPr id="300" name="Google Shape;300;p39"/>
          <p:cNvSpPr txBox="1"/>
          <p:nvPr/>
        </p:nvSpPr>
        <p:spPr>
          <a:xfrm>
            <a:off x="2779776" y="1081425"/>
            <a:ext cx="1316700" cy="26550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F4E79"/>
                </a:solidFill>
                <a:latin typeface="Arial"/>
                <a:ea typeface="Arial"/>
                <a:cs typeface="Arial"/>
                <a:sym typeface="Arial"/>
              </a:rPr>
              <a:t>INGEST</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Python  ·  5 plugins</a:t>
            </a:r>
            <a:endParaRPr/>
          </a:p>
        </p:txBody>
      </p:sp>
      <p:sp>
        <p:nvSpPr>
          <p:cNvPr id="301" name="Google Shape;301;p39"/>
          <p:cNvSpPr/>
          <p:nvPr/>
        </p:nvSpPr>
        <p:spPr>
          <a:xfrm>
            <a:off x="4782400" y="1018625"/>
            <a:ext cx="1883700" cy="1929300"/>
          </a:xfrm>
          <a:prstGeom prst="roundRect">
            <a:avLst>
              <a:gd fmla="val 3500" name="adj"/>
            </a:avLst>
          </a:prstGeom>
          <a:solidFill>
            <a:srgbClr val="F5FA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2" name="Google Shape;302;p39"/>
          <p:cNvSpPr/>
          <p:nvPr/>
        </p:nvSpPr>
        <p:spPr>
          <a:xfrm>
            <a:off x="4782300" y="986949"/>
            <a:ext cx="1883700" cy="457800"/>
          </a:xfrm>
          <a:prstGeom prst="roundRect">
            <a:avLst>
              <a:gd fmla="val 16000" name="adj"/>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3" name="Google Shape;303;p39"/>
          <p:cNvSpPr/>
          <p:nvPr/>
        </p:nvSpPr>
        <p:spPr>
          <a:xfrm>
            <a:off x="4782312" y="1353312"/>
            <a:ext cx="1883664" cy="91440"/>
          </a:xfrm>
          <a:prstGeom prst="rect">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4" name="Google Shape;304;p39"/>
          <p:cNvSpPr/>
          <p:nvPr/>
        </p:nvSpPr>
        <p:spPr>
          <a:xfrm>
            <a:off x="4782312" y="1426464"/>
            <a:ext cx="1883664" cy="18288"/>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39"/>
          <p:cNvSpPr/>
          <p:nvPr/>
        </p:nvSpPr>
        <p:spPr>
          <a:xfrm>
            <a:off x="4855464" y="1109668"/>
            <a:ext cx="183000" cy="183000"/>
          </a:xfrm>
          <a:prstGeom prst="ellipse">
            <a:avLst/>
          </a:prstGeom>
          <a:solidFill>
            <a:srgbClr val="11777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3</a:t>
            </a:r>
            <a:endParaRPr/>
          </a:p>
        </p:txBody>
      </p:sp>
      <p:sp>
        <p:nvSpPr>
          <p:cNvPr id="306" name="Google Shape;306;p39"/>
          <p:cNvSpPr txBox="1"/>
          <p:nvPr/>
        </p:nvSpPr>
        <p:spPr>
          <a:xfrm>
            <a:off x="5084064" y="1063948"/>
            <a:ext cx="1316700" cy="26550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1777A"/>
                </a:solidFill>
                <a:latin typeface="Arial"/>
                <a:ea typeface="Arial"/>
                <a:cs typeface="Arial"/>
                <a:sym typeface="Arial"/>
              </a:rPr>
              <a:t>DATA PLANE</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FastAPI  ·  16 routes</a:t>
            </a:r>
            <a:endParaRPr/>
          </a:p>
        </p:txBody>
      </p:sp>
      <p:sp>
        <p:nvSpPr>
          <p:cNvPr id="307" name="Google Shape;307;p39"/>
          <p:cNvSpPr/>
          <p:nvPr/>
        </p:nvSpPr>
        <p:spPr>
          <a:xfrm>
            <a:off x="7086725" y="1097275"/>
            <a:ext cx="1883700" cy="1929300"/>
          </a:xfrm>
          <a:prstGeom prst="roundRect">
            <a:avLst>
              <a:gd fmla="val 3500" name="adj"/>
            </a:avLst>
          </a:prstGeom>
          <a:solidFill>
            <a:srgbClr val="F5FA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8" name="Google Shape;308;p39"/>
          <p:cNvSpPr/>
          <p:nvPr/>
        </p:nvSpPr>
        <p:spPr>
          <a:xfrm>
            <a:off x="7086575" y="859512"/>
            <a:ext cx="1883700" cy="530400"/>
          </a:xfrm>
          <a:prstGeom prst="roundRect">
            <a:avLst>
              <a:gd fmla="val 16000" name="adj"/>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9" name="Google Shape;309;p39"/>
          <p:cNvSpPr/>
          <p:nvPr/>
        </p:nvSpPr>
        <p:spPr>
          <a:xfrm>
            <a:off x="7086575" y="1276925"/>
            <a:ext cx="1883700" cy="91500"/>
          </a:xfrm>
          <a:prstGeom prst="rect">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39"/>
          <p:cNvSpPr/>
          <p:nvPr/>
        </p:nvSpPr>
        <p:spPr>
          <a:xfrm>
            <a:off x="7086575" y="1285789"/>
            <a:ext cx="1883700" cy="18300"/>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39"/>
          <p:cNvSpPr/>
          <p:nvPr/>
        </p:nvSpPr>
        <p:spPr>
          <a:xfrm>
            <a:off x="7137257" y="968868"/>
            <a:ext cx="228600" cy="219600"/>
          </a:xfrm>
          <a:prstGeom prst="ellipse">
            <a:avLst/>
          </a:prstGeom>
          <a:solidFill>
            <a:srgbClr val="11777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4</a:t>
            </a:r>
            <a:endParaRPr/>
          </a:p>
        </p:txBody>
      </p:sp>
      <p:sp>
        <p:nvSpPr>
          <p:cNvPr id="312" name="Google Shape;312;p39"/>
          <p:cNvSpPr txBox="1"/>
          <p:nvPr/>
        </p:nvSpPr>
        <p:spPr>
          <a:xfrm>
            <a:off x="7370052" y="959162"/>
            <a:ext cx="1316700" cy="26550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1777A"/>
                </a:solidFill>
                <a:latin typeface="Arial"/>
                <a:ea typeface="Arial"/>
                <a:cs typeface="Arial"/>
                <a:sym typeface="Arial"/>
              </a:rPr>
              <a:t>BROWSER</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Cesium  ·  Three.js</a:t>
            </a:r>
            <a:endParaRPr/>
          </a:p>
        </p:txBody>
      </p:sp>
      <p:sp>
        <p:nvSpPr>
          <p:cNvPr id="313" name="Google Shape;313;p39"/>
          <p:cNvSpPr/>
          <p:nvPr/>
        </p:nvSpPr>
        <p:spPr>
          <a:xfrm>
            <a:off x="265176" y="1499616"/>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39"/>
          <p:cNvSpPr/>
          <p:nvPr/>
        </p:nvSpPr>
        <p:spPr>
          <a:xfrm>
            <a:off x="265176" y="1499616"/>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5" name="Google Shape;315;p39"/>
          <p:cNvSpPr txBox="1"/>
          <p:nvPr/>
        </p:nvSpPr>
        <p:spPr>
          <a:xfrm>
            <a:off x="310896" y="1572284"/>
            <a:ext cx="1609200" cy="2847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INCOIS ERDDAP</a:t>
            </a:r>
            <a:r>
              <a:rPr sz="650" b="1" baseline="28000">
                <a:solidFill>
                  <a:srgbClr val="12688F"/>
                </a:solidFill>
                <a:latin typeface="Calibri"/>
                <a:hlinkClick r:id="rId25"/>
              </a:rPr>
              <a:t>[11]</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model fields  ·  LAS</a:t>
            </a:r>
            <a:endParaRPr/>
          </a:p>
        </p:txBody>
      </p:sp>
      <p:sp>
        <p:nvSpPr>
          <p:cNvPr id="316" name="Google Shape;316;p39"/>
          <p:cNvSpPr/>
          <p:nvPr/>
        </p:nvSpPr>
        <p:spPr>
          <a:xfrm>
            <a:off x="265175" y="1949300"/>
            <a:ext cx="1700700" cy="457800"/>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39"/>
          <p:cNvSpPr/>
          <p:nvPr/>
        </p:nvSpPr>
        <p:spPr>
          <a:xfrm>
            <a:off x="265176" y="1959658"/>
            <a:ext cx="1700700" cy="32100"/>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8" name="Google Shape;318;p39"/>
          <p:cNvSpPr txBox="1"/>
          <p:nvPr/>
        </p:nvSpPr>
        <p:spPr>
          <a:xfrm>
            <a:off x="310896" y="2055711"/>
            <a:ext cx="1609200" cy="2847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Argo GDAC</a:t>
            </a:r>
            <a:r>
              <a:rPr sz="650" b="1" baseline="28000">
                <a:solidFill>
                  <a:srgbClr val="12688F"/>
                </a:solidFill>
                <a:latin typeface="Calibri"/>
                <a:hlinkClick r:id="rId26"/>
              </a:rPr>
              <a:t>[12]</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core and BGC floats</a:t>
            </a:r>
            <a:endParaRPr/>
          </a:p>
        </p:txBody>
      </p:sp>
      <p:sp>
        <p:nvSpPr>
          <p:cNvPr id="319" name="Google Shape;319;p39"/>
          <p:cNvSpPr/>
          <p:nvPr/>
        </p:nvSpPr>
        <p:spPr>
          <a:xfrm>
            <a:off x="265176" y="2450592"/>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39"/>
          <p:cNvSpPr/>
          <p:nvPr/>
        </p:nvSpPr>
        <p:spPr>
          <a:xfrm>
            <a:off x="265176" y="2450592"/>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1" name="Google Shape;321;p39"/>
          <p:cNvSpPr txBox="1"/>
          <p:nvPr/>
        </p:nvSpPr>
        <p:spPr>
          <a:xfrm>
            <a:off x="253169" y="2505456"/>
            <a:ext cx="1609200" cy="2847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In situ + warnings</a:t>
            </a:r>
            <a:r>
              <a:rPr sz="650" b="1" baseline="28000">
                <a:solidFill>
                  <a:srgbClr val="12688F"/>
                </a:solidFill>
                <a:latin typeface="Calibri"/>
                <a:hlinkClick r:id="rId27"/>
              </a:rPr>
              <a:t>[14]</a:t>
            </a:r>
            <a:r>
              <a:rPr sz="650" b="1" baseline="28000">
                <a:solidFill>
                  <a:srgbClr val="12688F"/>
                </a:solidFill>
                <a:latin typeface="Calibri"/>
                <a:hlinkClick r:id="rId28"/>
              </a:rPr>
              <a:t>[15]</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RAMA, glider, CTD, SACHET</a:t>
            </a:r>
            <a:endParaRPr/>
          </a:p>
        </p:txBody>
      </p:sp>
      <p:sp>
        <p:nvSpPr>
          <p:cNvPr id="322" name="Google Shape;322;p39"/>
          <p:cNvSpPr txBox="1"/>
          <p:nvPr/>
        </p:nvSpPr>
        <p:spPr>
          <a:xfrm>
            <a:off x="265176" y="2916541"/>
            <a:ext cx="17007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one YAML source registry</a:t>
            </a:r>
            <a:endParaRPr/>
          </a:p>
        </p:txBody>
      </p:sp>
      <p:sp>
        <p:nvSpPr>
          <p:cNvPr id="323" name="Google Shape;323;p39"/>
          <p:cNvSpPr/>
          <p:nvPr/>
        </p:nvSpPr>
        <p:spPr>
          <a:xfrm>
            <a:off x="2569464" y="1499616"/>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4" name="Google Shape;324;p39"/>
          <p:cNvSpPr/>
          <p:nvPr/>
        </p:nvSpPr>
        <p:spPr>
          <a:xfrm>
            <a:off x="2569464" y="1499616"/>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5" name="Google Shape;325;p39"/>
          <p:cNvSpPr txBox="1"/>
          <p:nvPr/>
        </p:nvSpPr>
        <p:spPr>
          <a:xfrm>
            <a:off x="2615184" y="1554480"/>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CF normalisation</a:t>
            </a:r>
            <a:r>
              <a:rPr sz="650" b="1" baseline="28000">
                <a:solidFill>
                  <a:srgbClr val="12688F"/>
                </a:solidFill>
                <a:latin typeface="Calibri"/>
                <a:hlinkClick r:id="rId29"/>
              </a:rPr>
              <a:t>[17]</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scale_factor, _FillValue</a:t>
            </a:r>
            <a:endParaRPr/>
          </a:p>
        </p:txBody>
      </p:sp>
      <p:sp>
        <p:nvSpPr>
          <p:cNvPr id="326" name="Google Shape;326;p39"/>
          <p:cNvSpPr/>
          <p:nvPr/>
        </p:nvSpPr>
        <p:spPr>
          <a:xfrm>
            <a:off x="2569464" y="1975104"/>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7" name="Google Shape;327;p39"/>
          <p:cNvSpPr/>
          <p:nvPr/>
        </p:nvSpPr>
        <p:spPr>
          <a:xfrm>
            <a:off x="2569464" y="1975104"/>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39"/>
          <p:cNvSpPr txBox="1"/>
          <p:nvPr/>
        </p:nvSpPr>
        <p:spPr>
          <a:xfrm>
            <a:off x="2615184" y="2029968"/>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QC flags 1 and 2</a:t>
            </a:r>
            <a:r>
              <a:rPr sz="650" b="1" baseline="28000">
                <a:solidFill>
                  <a:srgbClr val="12688F"/>
                </a:solidFill>
                <a:latin typeface="Calibri"/>
                <a:hlinkClick r:id="rId30"/>
              </a:rPr>
              <a:t>[2]</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Argo, Wong 2020</a:t>
            </a:r>
            <a:endParaRPr/>
          </a:p>
        </p:txBody>
      </p:sp>
      <p:sp>
        <p:nvSpPr>
          <p:cNvPr id="329" name="Google Shape;329;p39"/>
          <p:cNvSpPr/>
          <p:nvPr/>
        </p:nvSpPr>
        <p:spPr>
          <a:xfrm>
            <a:off x="2734056" y="2426447"/>
            <a:ext cx="1371600" cy="384000"/>
          </a:xfrm>
          <a:prstGeom prst="can">
            <a:avLst>
              <a:gd fmla="val 25000" name="adj"/>
            </a:avLst>
          </a:prstGeom>
          <a:solidFill>
            <a:srgbClr val="FFFFFF"/>
          </a:solidFill>
          <a:ln cap="flat" cmpd="sng" w="12700">
            <a:solidFill>
              <a:srgbClr val="1F4E79"/>
            </a:solidFill>
            <a:prstDash val="solid"/>
            <a:round/>
            <a:headEnd len="sm" w="sm" type="none"/>
            <a:tailEnd len="sm" w="sm" type="none"/>
          </a:ln>
        </p:spPr>
        <p:txBody>
          <a:bodyPr anchorCtr="0" anchor="ctr" bIns="45700" lIns="18275" spcFirstLastPara="1" rIns="18275" wrap="square" tIns="45700">
            <a:noAutofit/>
          </a:bodyPr>
          <a:lstStyle/>
          <a:p>
            <a:pPr indent="0" lvl="0" marL="0" marR="0" rtl="0" algn="ctr">
              <a:lnSpc>
                <a:spcPct val="88000"/>
              </a:lnSpc>
              <a:spcBef>
                <a:spcPts val="0"/>
              </a:spcBef>
              <a:spcAft>
                <a:spcPts val="0"/>
              </a:spcAft>
              <a:buNone/>
            </a:pPr>
            <a:r>
              <a:t/>
            </a:r>
            <a:endParaRPr b="1" sz="250">
              <a:solidFill>
                <a:srgbClr val="1F4E79"/>
              </a:solidFill>
            </a:endParaRPr>
          </a:p>
          <a:p>
            <a:pPr indent="0" lvl="0" marL="0" marR="0" rtl="0" algn="ctr">
              <a:lnSpc>
                <a:spcPct val="88000"/>
              </a:lnSpc>
              <a:spcBef>
                <a:spcPts val="0"/>
              </a:spcBef>
              <a:spcAft>
                <a:spcPts val="0"/>
              </a:spcAft>
              <a:buNone/>
            </a:pPr>
            <a:r>
              <a:rPr b="1" i="0" lang="en-GB" sz="850" u="none" cap="none" strike="noStrike">
                <a:solidFill>
                  <a:srgbClr val="1F4E79"/>
                </a:solidFill>
                <a:latin typeface="Arial"/>
                <a:ea typeface="Arial"/>
                <a:cs typeface="Arial"/>
                <a:sym typeface="Arial"/>
              </a:rPr>
              <a:t>Zarr cube</a:t>
            </a:r>
            <a:r>
              <a:rPr sz="650" b="1" baseline="28000">
                <a:solidFill>
                  <a:srgbClr val="12688F"/>
                </a:solidFill>
                <a:latin typeface="Calibri"/>
                <a:hlinkClick r:id="rId31"/>
              </a:rPr>
              <a:t>[9]</a:t>
            </a:r>
            <a:r>
              <a:rPr sz="650">
                <a:latin typeface="Calibri"/>
              </a:rPr>
              <a:t> </a:t>
            </a:r>
            <a:endParaRPr/>
          </a:p>
          <a:p>
            <a:pPr indent="0" lvl="0" marL="0" marR="0" rtl="0" algn="ctr">
              <a:lnSpc>
                <a:spcPct val="88000"/>
              </a:lnSpc>
              <a:spcBef>
                <a:spcPts val="0"/>
              </a:spcBef>
              <a:spcAft>
                <a:spcPts val="0"/>
              </a:spcAft>
              <a:buNone/>
            </a:pPr>
            <a:r>
              <a:rPr b="0" i="0" lang="en-GB" sz="700" u="none" cap="none" strike="noStrike">
                <a:solidFill>
                  <a:srgbClr val="5A6B78"/>
                </a:solidFill>
                <a:latin typeface="Arial"/>
                <a:ea typeface="Arial"/>
                <a:cs typeface="Arial"/>
                <a:sym typeface="Arial"/>
              </a:rPr>
              <a:t>10.5 M values</a:t>
            </a:r>
            <a:endParaRPr/>
          </a:p>
        </p:txBody>
      </p:sp>
      <p:sp>
        <p:nvSpPr>
          <p:cNvPr id="330" name="Google Shape;330;p39"/>
          <p:cNvSpPr/>
          <p:nvPr/>
        </p:nvSpPr>
        <p:spPr>
          <a:xfrm>
            <a:off x="4873752" y="1499616"/>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1" name="Google Shape;331;p39"/>
          <p:cNvSpPr/>
          <p:nvPr/>
        </p:nvSpPr>
        <p:spPr>
          <a:xfrm>
            <a:off x="4873752" y="1499616"/>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2" name="Google Shape;332;p39"/>
          <p:cNvSpPr txBox="1"/>
          <p:nvPr/>
        </p:nvSpPr>
        <p:spPr>
          <a:xfrm>
            <a:off x="4919472" y="1554480"/>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14 REST routes</a:t>
            </a:r>
            <a:r>
              <a:rPr sz="650" b="1" baseline="28000">
                <a:solidFill>
                  <a:srgbClr val="12688F"/>
                </a:solidFill>
                <a:latin typeface="Calibri"/>
                <a:hlinkClick r:id="rId32"/>
              </a:rPr>
              <a:t>[7]</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/field   /profiles   /skill</a:t>
            </a:r>
            <a:endParaRPr/>
          </a:p>
        </p:txBody>
      </p:sp>
      <p:sp>
        <p:nvSpPr>
          <p:cNvPr id="333" name="Google Shape;333;p39"/>
          <p:cNvSpPr/>
          <p:nvPr/>
        </p:nvSpPr>
        <p:spPr>
          <a:xfrm>
            <a:off x="4873752" y="1975104"/>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4" name="Google Shape;334;p39"/>
          <p:cNvSpPr/>
          <p:nvPr/>
        </p:nvSpPr>
        <p:spPr>
          <a:xfrm>
            <a:off x="4873752" y="1975104"/>
            <a:ext cx="1700784" cy="32004"/>
          </a:xfrm>
          <a:prstGeom prst="rect">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5" name="Google Shape;335;p39"/>
          <p:cNvSpPr txBox="1"/>
          <p:nvPr/>
        </p:nvSpPr>
        <p:spPr>
          <a:xfrm>
            <a:off x="4919472" y="2029968"/>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C03A2B"/>
                </a:solidFill>
                <a:latin typeface="Arial"/>
                <a:ea typeface="Arial"/>
                <a:cs typeface="Arial"/>
                <a:sym typeface="Arial"/>
              </a:rPr>
              <a:t>OGC WMS 1.3.0</a:t>
            </a:r>
            <a:r>
              <a:rPr sz="650" b="1" baseline="28000">
                <a:solidFill>
                  <a:srgbClr val="12688F"/>
                </a:solidFill>
                <a:latin typeface="Calibri"/>
                <a:hlinkClick r:id="rId33"/>
              </a:rPr>
              <a:t>[18]</a:t>
            </a:r>
            <a:r>
              <a:rPr sz="650" b="1" baseline="28000">
                <a:solidFill>
                  <a:srgbClr val="12688F"/>
                </a:solidFill>
                <a:latin typeface="Calibri"/>
                <a:hlinkClick r:id="rId34"/>
              </a:rPr>
              <a:t>[19]</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WCS 1.0.0  ·  QGIS reads it</a:t>
            </a:r>
            <a:endParaRPr/>
          </a:p>
        </p:txBody>
      </p:sp>
      <p:sp>
        <p:nvSpPr>
          <p:cNvPr id="336" name="Google Shape;336;p39"/>
          <p:cNvSpPr/>
          <p:nvPr/>
        </p:nvSpPr>
        <p:spPr>
          <a:xfrm>
            <a:off x="4873752" y="2450592"/>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7" name="Google Shape;337;p39"/>
          <p:cNvSpPr/>
          <p:nvPr/>
        </p:nvSpPr>
        <p:spPr>
          <a:xfrm>
            <a:off x="4873752" y="2450592"/>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8" name="Google Shape;338;p39"/>
          <p:cNvSpPr txBox="1"/>
          <p:nvPr/>
        </p:nvSpPr>
        <p:spPr>
          <a:xfrm>
            <a:off x="4919472" y="2505456"/>
            <a:ext cx="1609200" cy="3108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Class-4 scorecard</a:t>
            </a:r>
            <a:r>
              <a:rPr sz="650" b="1" baseline="28000">
                <a:solidFill>
                  <a:srgbClr val="12688F"/>
                </a:solidFill>
                <a:latin typeface="Calibri"/>
                <a:hlinkClick r:id="rId35"/>
              </a:rPr>
              <a:t>[1]</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RMSE against each cast</a:t>
            </a:r>
            <a:endParaRPr/>
          </a:p>
        </p:txBody>
      </p:sp>
      <p:pic>
        <p:nvPicPr>
          <p:cNvPr id="372" name="Picture 371" descr="crop-browser.png"/>
          <p:cNvPicPr>
            <a:picLocks noChangeAspect="1"/>
          </p:cNvPicPr>
          <p:nvPr/>
        </p:nvPicPr>
        <p:blipFill>
          <a:blip r:embed="rId24"/>
          <a:stretch>
            <a:fillRect/>
          </a:stretch>
        </p:blipFill>
        <p:spPr>
          <a:xfrm>
            <a:off x="7108962" y="1378448"/>
            <a:ext cx="1845085" cy="676600"/>
          </a:xfrm>
          <a:prstGeom prst="rect">
            <a:avLst/>
          </a:prstGeom>
        </p:spPr>
      </p:pic>
      <p:sp>
        <p:nvSpPr>
          <p:cNvPr id="340" name="Google Shape;340;p39"/>
          <p:cNvSpPr/>
          <p:nvPr/>
        </p:nvSpPr>
        <p:spPr>
          <a:xfrm>
            <a:off x="7108181" y="1381064"/>
            <a:ext cx="1840200" cy="676500"/>
          </a:xfrm>
          <a:prstGeom prst="rect">
            <a:avLst/>
          </a:prstGeom>
          <a:noFill/>
          <a:ln cap="flat" cmpd="sng" w="9525">
            <a:solidFill>
              <a:srgbClr val="11777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1" name="Google Shape;341;p39"/>
          <p:cNvSpPr/>
          <p:nvPr/>
        </p:nvSpPr>
        <p:spPr>
          <a:xfrm>
            <a:off x="7178040" y="2157984"/>
            <a:ext cx="1700784" cy="365760"/>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2" name="Google Shape;342;p39"/>
          <p:cNvSpPr/>
          <p:nvPr/>
        </p:nvSpPr>
        <p:spPr>
          <a:xfrm>
            <a:off x="7178040" y="2157984"/>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3" name="Google Shape;343;p39"/>
          <p:cNvSpPr txBox="1"/>
          <p:nvPr/>
        </p:nvSpPr>
        <p:spPr>
          <a:xfrm>
            <a:off x="7223760" y="2212848"/>
            <a:ext cx="1609344" cy="27432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Ray-marched volume</a:t>
            </a:r>
            <a:r>
              <a:rPr sz="650" b="1" baseline="28000">
                <a:solidFill>
                  <a:srgbClr val="12688F"/>
                </a:solidFill>
                <a:latin typeface="Calibri"/>
                <a:hlinkClick r:id="rId36"/>
              </a:rPr>
              <a:t>[6]</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GPU, 24 levels  ·  isosurface</a:t>
            </a:r>
            <a:endParaRPr/>
          </a:p>
        </p:txBody>
      </p:sp>
      <p:sp>
        <p:nvSpPr>
          <p:cNvPr id="344" name="Google Shape;344;p39"/>
          <p:cNvSpPr/>
          <p:nvPr/>
        </p:nvSpPr>
        <p:spPr>
          <a:xfrm>
            <a:off x="7178040" y="2578608"/>
            <a:ext cx="1700784" cy="365760"/>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5" name="Google Shape;345;p39"/>
          <p:cNvSpPr/>
          <p:nvPr/>
        </p:nvSpPr>
        <p:spPr>
          <a:xfrm>
            <a:off x="7178040" y="2578608"/>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6" name="Google Shape;346;p39"/>
          <p:cNvSpPr txBox="1"/>
          <p:nvPr/>
        </p:nvSpPr>
        <p:spPr>
          <a:xfrm>
            <a:off x="7223760" y="2633472"/>
            <a:ext cx="1609344" cy="27432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Instrument markers</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149 casts  ·  19 instruments</a:t>
            </a:r>
            <a:endParaRPr/>
          </a:p>
        </p:txBody>
      </p:sp>
      <p:cxnSp>
        <p:nvCxnSpPr>
          <p:cNvPr id="347" name="Google Shape;347;p39"/>
          <p:cNvCxnSpPr/>
          <p:nvPr/>
        </p:nvCxnSpPr>
        <p:spPr>
          <a:xfrm>
            <a:off x="2103120" y="1956816"/>
            <a:ext cx="329100" cy="600"/>
          </a:xfrm>
          <a:prstGeom prst="bentConnector3">
            <a:avLst>
              <a:gd fmla="val 50000" name="adj1"/>
            </a:avLst>
          </a:prstGeom>
          <a:noFill/>
          <a:ln cap="flat" cmpd="sng" w="15875">
            <a:solidFill>
              <a:srgbClr val="2B2B2B"/>
            </a:solidFill>
            <a:prstDash val="solid"/>
            <a:round/>
            <a:headEnd len="sm" w="sm" type="none"/>
            <a:tailEnd len="med" w="med" type="triangle"/>
          </a:ln>
          <a:effectLst>
            <a:outerShdw blurRad="40000" rotWithShape="0" dir="5400000" dist="20000">
              <a:srgbClr val="000000">
                <a:alpha val="38039"/>
              </a:srgbClr>
            </a:outerShdw>
          </a:effectLst>
        </p:spPr>
      </p:cxnSp>
      <p:sp>
        <p:nvSpPr>
          <p:cNvPr id="348" name="Google Shape;348;p39"/>
          <p:cNvSpPr txBox="1"/>
          <p:nvPr/>
        </p:nvSpPr>
        <p:spPr>
          <a:xfrm>
            <a:off x="2029968" y="1993392"/>
            <a:ext cx="475488" cy="365760"/>
          </a:xfrm>
          <a:prstGeom prst="rect">
            <a:avLst/>
          </a:prstGeom>
          <a:noFill/>
          <a:ln>
            <a:noFill/>
          </a:ln>
        </p:spPr>
        <p:txBody>
          <a:bodyPr anchorCtr="0" anchor="t" bIns="18275" lIns="27425" spcFirstLastPara="1" rIns="27425" wrap="square" tIns="18275">
            <a:spAutoFit/>
          </a:bodyPr>
          <a:lstStyle/>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NetCDF</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ASCII</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CAP XML</a:t>
            </a:r>
            <a:endParaRPr/>
          </a:p>
        </p:txBody>
      </p:sp>
      <p:cxnSp>
        <p:nvCxnSpPr>
          <p:cNvPr id="349" name="Google Shape;349;p39"/>
          <p:cNvCxnSpPr/>
          <p:nvPr/>
        </p:nvCxnSpPr>
        <p:spPr>
          <a:xfrm>
            <a:off x="4407407" y="1956816"/>
            <a:ext cx="329100" cy="600"/>
          </a:xfrm>
          <a:prstGeom prst="bentConnector3">
            <a:avLst>
              <a:gd fmla="val 50000" name="adj1"/>
            </a:avLst>
          </a:prstGeom>
          <a:noFill/>
          <a:ln cap="flat" cmpd="sng" w="15875">
            <a:solidFill>
              <a:srgbClr val="2B2B2B"/>
            </a:solidFill>
            <a:prstDash val="solid"/>
            <a:round/>
            <a:headEnd len="sm" w="sm" type="none"/>
            <a:tailEnd len="med" w="med" type="triangle"/>
          </a:ln>
          <a:effectLst>
            <a:outerShdw blurRad="40000" rotWithShape="0" dir="5400000" dist="20000">
              <a:srgbClr val="000000">
                <a:alpha val="38039"/>
              </a:srgbClr>
            </a:outerShdw>
          </a:effectLst>
        </p:spPr>
      </p:cxnSp>
      <p:sp>
        <p:nvSpPr>
          <p:cNvPr id="350" name="Google Shape;350;p39"/>
          <p:cNvSpPr txBox="1"/>
          <p:nvPr/>
        </p:nvSpPr>
        <p:spPr>
          <a:xfrm>
            <a:off x="4245535" y="1994224"/>
            <a:ext cx="675300" cy="248700"/>
          </a:xfrm>
          <a:prstGeom prst="rect">
            <a:avLst/>
          </a:prstGeom>
          <a:noFill/>
          <a:ln>
            <a:noFill/>
          </a:ln>
        </p:spPr>
        <p:txBody>
          <a:bodyPr anchorCtr="0" anchor="t" bIns="18275" lIns="27425" spcFirstLastPara="1" rIns="27425" wrap="square" tIns="18275">
            <a:spAutoFit/>
          </a:bodyPr>
          <a:lstStyle/>
          <a:p>
            <a:pPr indent="0" lvl="0" marL="0" marR="0" rtl="0" algn="ctr">
              <a:lnSpc>
                <a:spcPct val="86000"/>
              </a:lnSpc>
              <a:spcBef>
                <a:spcPts val="0"/>
              </a:spcBef>
              <a:spcAft>
                <a:spcPts val="0"/>
              </a:spcAft>
              <a:buNone/>
            </a:pPr>
            <a:r>
              <a:rPr b="0" i="0" lang="en-GB" sz="800" u="none" cap="none" strike="noStrike">
                <a:solidFill>
                  <a:srgbClr val="5A6B78"/>
                </a:solidFill>
                <a:latin typeface="Arial"/>
                <a:ea typeface="Arial"/>
                <a:cs typeface="Arial"/>
                <a:sym typeface="Arial"/>
              </a:rPr>
              <a:t>zarr</a:t>
            </a:r>
            <a:endParaRPr sz="800"/>
          </a:p>
          <a:p>
            <a:pPr indent="0" lvl="0" marL="0" marR="0" rtl="0" algn="ctr">
              <a:lnSpc>
                <a:spcPct val="86000"/>
              </a:lnSpc>
              <a:spcBef>
                <a:spcPts val="0"/>
              </a:spcBef>
              <a:spcAft>
                <a:spcPts val="0"/>
              </a:spcAft>
              <a:buNone/>
            </a:pPr>
            <a:r>
              <a:rPr b="0" i="0" lang="en-GB" sz="800" u="none" cap="none" strike="noStrike">
                <a:solidFill>
                  <a:srgbClr val="5A6B78"/>
                </a:solidFill>
                <a:latin typeface="Arial"/>
                <a:ea typeface="Arial"/>
                <a:cs typeface="Arial"/>
                <a:sym typeface="Arial"/>
              </a:rPr>
              <a:t>chunks</a:t>
            </a:r>
            <a:endParaRPr sz="800"/>
          </a:p>
        </p:txBody>
      </p:sp>
      <p:cxnSp>
        <p:nvCxnSpPr>
          <p:cNvPr id="351" name="Google Shape;351;p39"/>
          <p:cNvCxnSpPr/>
          <p:nvPr/>
        </p:nvCxnSpPr>
        <p:spPr>
          <a:xfrm>
            <a:off x="6711696" y="1956816"/>
            <a:ext cx="329100" cy="600"/>
          </a:xfrm>
          <a:prstGeom prst="bentConnector3">
            <a:avLst>
              <a:gd fmla="val 50000" name="adj1"/>
            </a:avLst>
          </a:prstGeom>
          <a:noFill/>
          <a:ln cap="flat" cmpd="sng" w="15875">
            <a:solidFill>
              <a:srgbClr val="2B2B2B"/>
            </a:solidFill>
            <a:prstDash val="solid"/>
            <a:round/>
            <a:headEnd len="sm" w="sm" type="none"/>
            <a:tailEnd len="med" w="med" type="triangle"/>
          </a:ln>
          <a:effectLst>
            <a:outerShdw blurRad="40000" rotWithShape="0" dir="5400000" dist="20000">
              <a:srgbClr val="000000">
                <a:alpha val="38039"/>
              </a:srgbClr>
            </a:outerShdw>
          </a:effectLst>
        </p:spPr>
      </p:cxnSp>
      <p:sp>
        <p:nvSpPr>
          <p:cNvPr id="352" name="Google Shape;352;p39"/>
          <p:cNvSpPr txBox="1"/>
          <p:nvPr/>
        </p:nvSpPr>
        <p:spPr>
          <a:xfrm>
            <a:off x="6638544" y="1993392"/>
            <a:ext cx="475488" cy="365760"/>
          </a:xfrm>
          <a:prstGeom prst="rect">
            <a:avLst/>
          </a:prstGeom>
          <a:noFill/>
          <a:ln>
            <a:noFill/>
          </a:ln>
        </p:spPr>
        <p:txBody>
          <a:bodyPr anchorCtr="0" anchor="t" bIns="18275" lIns="27425" spcFirstLastPara="1" rIns="27425" wrap="square" tIns="18275">
            <a:spAutoFit/>
          </a:bodyPr>
          <a:lstStyle/>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JSON</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PNG</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NetCDF</a:t>
            </a:r>
            <a:endParaRPr/>
          </a:p>
        </p:txBody>
      </p:sp>
      <p:sp>
        <p:nvSpPr>
          <p:cNvPr id="353" name="Google Shape;353;p39"/>
          <p:cNvSpPr/>
          <p:nvPr/>
        </p:nvSpPr>
        <p:spPr>
          <a:xfrm>
            <a:off x="3432021" y="648136"/>
            <a:ext cx="1883700" cy="219600"/>
          </a:xfrm>
          <a:prstGeom prst="roundRect">
            <a:avLst>
              <a:gd fmla="val 28000" name="adj"/>
            </a:avLst>
          </a:prstGeom>
          <a:solidFill>
            <a:srgbClr val="1F4E79"/>
          </a:solidFill>
          <a:ln>
            <a:noFill/>
          </a:ln>
        </p:spPr>
        <p:txBody>
          <a:bodyPr anchorCtr="0" anchor="ctr" bIns="9125" lIns="36575" spcFirstLastPara="1" rIns="36575" wrap="square" tIns="9125">
            <a:noAutofit/>
          </a:bodyPr>
          <a:lstStyle/>
          <a:p>
            <a:pPr indent="0" lvl="0" marL="0" marR="0" rtl="0" algn="ctr">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SYSTEM ARCHITECTURE</a:t>
            </a:r>
            <a:endParaRPr/>
          </a:p>
        </p:txBody>
      </p:sp>
      <p:sp>
        <p:nvSpPr>
          <p:cNvPr id="354" name="Google Shape;354;p39"/>
          <p:cNvSpPr/>
          <p:nvPr/>
        </p:nvSpPr>
        <p:spPr>
          <a:xfrm>
            <a:off x="173736" y="3236976"/>
            <a:ext cx="2304288" cy="566928"/>
          </a:xfrm>
          <a:prstGeom prst="roundRect">
            <a:avLst>
              <a:gd fmla="val 6000" name="adj"/>
            </a:avLst>
          </a:prstGeom>
          <a:solidFill>
            <a:srgbClr val="FFFFFF"/>
          </a:solidFill>
          <a:ln cap="flat" cmpd="sng" w="9525">
            <a:solidFill>
              <a:srgbClr val="11777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5" name="Google Shape;355;p39"/>
          <p:cNvSpPr/>
          <p:nvPr/>
        </p:nvSpPr>
        <p:spPr>
          <a:xfrm>
            <a:off x="173736" y="3236976"/>
            <a:ext cx="32004" cy="566928"/>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6" name="Google Shape;356;p39"/>
          <p:cNvSpPr txBox="1"/>
          <p:nvPr/>
        </p:nvSpPr>
        <p:spPr>
          <a:xfrm>
            <a:off x="283464" y="3291840"/>
            <a:ext cx="2103000" cy="4206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850" u="none" cap="none" strike="noStrike">
                <a:solidFill>
                  <a:srgbClr val="11777A"/>
                </a:solidFill>
                <a:latin typeface="Arial"/>
                <a:ea typeface="Arial"/>
                <a:cs typeface="Arial"/>
                <a:sym typeface="Arial"/>
              </a:rPr>
              <a:t>VERIFICATION  ·  Class-4 method</a:t>
            </a:r>
            <a:r>
              <a:rPr sz="650" b="1" baseline="28000">
                <a:solidFill>
                  <a:srgbClr val="12688F"/>
                </a:solidFill>
                <a:latin typeface="Calibri"/>
                <a:hlinkClick r:id="rId35"/>
              </a:rPr>
              <a:t>[1]</a:t>
            </a:r>
            <a:r>
              <a:rPr sz="650">
                <a:latin typeface="Calibri"/>
              </a:rPr>
              <a:t> </a:t>
            </a:r>
            <a:endParaRPr b="1" i="0" sz="850" u="none" cap="none" strike="noStrike">
              <a:solidFill>
                <a:srgbClr val="11777A"/>
              </a:solidFill>
              <a:latin typeface="Arial"/>
              <a:ea typeface="Arial"/>
              <a:cs typeface="Arial"/>
              <a:sym typeface="Arial"/>
            </a:endParaRPr>
          </a:p>
          <a:p>
            <a:pPr indent="0" lvl="0" marL="0" marR="0" rtl="0" algn="l">
              <a:lnSpc>
                <a:spcPct val="92000"/>
              </a:lnSpc>
              <a:spcBef>
                <a:spcPts val="0"/>
              </a:spcBef>
              <a:spcAft>
                <a:spcPts val="0"/>
              </a:spcAft>
              <a:buNone/>
            </a:pPr>
            <a:r>
              <a:t/>
            </a:r>
            <a:endParaRPr b="1" sz="200">
              <a:solidFill>
                <a:srgbClr val="11777A"/>
              </a:solidFill>
            </a:endParaRPr>
          </a:p>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Interpolated to each cast's own position and depth. A level is refused, never guessed.</a:t>
            </a:r>
            <a:endParaRPr/>
          </a:p>
        </p:txBody>
      </p:sp>
      <p:sp>
        <p:nvSpPr>
          <p:cNvPr id="357" name="Google Shape;357;p39"/>
          <p:cNvSpPr/>
          <p:nvPr/>
        </p:nvSpPr>
        <p:spPr>
          <a:xfrm>
            <a:off x="2624328" y="3236976"/>
            <a:ext cx="3657600" cy="566928"/>
          </a:xfrm>
          <a:prstGeom prst="roundRect">
            <a:avLst>
              <a:gd fmla="val 6000" name="adj"/>
            </a:avLst>
          </a:prstGeom>
          <a:solidFill>
            <a:srgbClr val="FFFFFF"/>
          </a:solidFill>
          <a:ln cap="flat" cmpd="sng" w="12700">
            <a:solidFill>
              <a:srgbClr val="5A6B78"/>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8" name="Google Shape;358;p39"/>
          <p:cNvSpPr txBox="1"/>
          <p:nvPr/>
        </p:nvSpPr>
        <p:spPr>
          <a:xfrm>
            <a:off x="2734056" y="3291840"/>
            <a:ext cx="3456300" cy="4206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850" u="none" cap="none" strike="noStrike">
                <a:solidFill>
                  <a:srgbClr val="5A6B78"/>
                </a:solidFill>
              </a:rPr>
              <a:t>SAMUDRA SAHAYAK </a:t>
            </a:r>
            <a:r>
              <a:rPr b="1" i="0" lang="en-GB" sz="850" u="none" cap="none" strike="noStrike">
                <a:solidFill>
                  <a:srgbClr val="5A6B78"/>
                </a:solidFill>
                <a:latin typeface="Arial"/>
                <a:ea typeface="Arial"/>
                <a:cs typeface="Arial"/>
                <a:sym typeface="Arial"/>
              </a:rPr>
              <a:t> ·  agent plane, detachable</a:t>
            </a:r>
            <a:endParaRPr b="1" i="0" sz="850" u="none" cap="none" strike="noStrike">
              <a:solidFill>
                <a:srgbClr val="5A6B78"/>
              </a:solidFill>
              <a:latin typeface="Arial"/>
              <a:ea typeface="Arial"/>
              <a:cs typeface="Arial"/>
              <a:sym typeface="Arial"/>
            </a:endParaRPr>
          </a:p>
          <a:p>
            <a:pPr indent="0" lvl="0" marL="0" marR="0" rtl="0" algn="l">
              <a:lnSpc>
                <a:spcPct val="92000"/>
              </a:lnSpc>
              <a:spcBef>
                <a:spcPts val="0"/>
              </a:spcBef>
              <a:spcAft>
                <a:spcPts val="0"/>
              </a:spcAft>
              <a:buNone/>
            </a:pPr>
            <a:r>
              <a:t/>
            </a:r>
            <a:endParaRPr b="1" sz="200">
              <a:solidFill>
                <a:srgbClr val="5A6B78"/>
              </a:solidFill>
            </a:endParaRPr>
          </a:p>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Calls the same public API as any other client. Cut this one line and every </a:t>
            </a:r>
            <a:r>
              <a:rPr b="1" i="0" lang="en-GB" sz="800" u="none" cap="none" strike="noStrike">
                <a:solidFill>
                  <a:srgbClr val="5A6B78"/>
                </a:solidFill>
              </a:rPr>
              <a:t>P0</a:t>
            </a:r>
            <a:r>
              <a:rPr b="0" i="0" lang="en-GB" sz="800" u="none" cap="none" strike="noStrike">
                <a:solidFill>
                  <a:srgbClr val="5A6B78"/>
                </a:solidFill>
                <a:latin typeface="Arial"/>
                <a:ea typeface="Arial"/>
                <a:cs typeface="Arial"/>
                <a:sym typeface="Arial"/>
              </a:rPr>
              <a:t> requirement still passes.</a:t>
            </a:r>
            <a:endParaRPr/>
          </a:p>
        </p:txBody>
      </p:sp>
      <p:sp>
        <p:nvSpPr>
          <p:cNvPr id="359" name="Google Shape;359;p39"/>
          <p:cNvSpPr/>
          <p:nvPr/>
        </p:nvSpPr>
        <p:spPr>
          <a:xfrm>
            <a:off x="6446520" y="3236976"/>
            <a:ext cx="2523744" cy="566928"/>
          </a:xfrm>
          <a:prstGeom prst="roundRect">
            <a:avLst>
              <a:gd fmla="val 6000" name="adj"/>
            </a:avLst>
          </a:prstGeom>
          <a:solidFill>
            <a:srgbClr val="FFFFFF"/>
          </a:solidFill>
          <a:ln cap="flat" cmpd="sng" w="9525">
            <a:solidFill>
              <a:srgbClr val="C03A2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0" name="Google Shape;360;p39"/>
          <p:cNvSpPr/>
          <p:nvPr/>
        </p:nvSpPr>
        <p:spPr>
          <a:xfrm>
            <a:off x="6446520" y="3236976"/>
            <a:ext cx="32004" cy="566928"/>
          </a:xfrm>
          <a:prstGeom prst="rect">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1" name="Google Shape;361;p39"/>
          <p:cNvSpPr txBox="1"/>
          <p:nvPr/>
        </p:nvSpPr>
        <p:spPr>
          <a:xfrm>
            <a:off x="6556248" y="3291840"/>
            <a:ext cx="2322600" cy="4206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850" u="none" cap="none" strike="noStrike">
                <a:solidFill>
                  <a:srgbClr val="C03A2B"/>
                </a:solidFill>
                <a:latin typeface="Arial"/>
                <a:ea typeface="Arial"/>
                <a:cs typeface="Arial"/>
                <a:sym typeface="Arial"/>
              </a:rPr>
              <a:t>ANY OGC CLIENT</a:t>
            </a:r>
            <a:r>
              <a:rPr sz="650" b="1" baseline="28000">
                <a:solidFill>
                  <a:srgbClr val="12688F"/>
                </a:solidFill>
                <a:latin typeface="Calibri"/>
                <a:hlinkClick r:id="rId33"/>
              </a:rPr>
              <a:t>[18]</a:t>
            </a:r>
            <a:r>
              <a:rPr sz="650" b="1" baseline="28000">
                <a:solidFill>
                  <a:srgbClr val="12688F"/>
                </a:solidFill>
                <a:latin typeface="Calibri"/>
                <a:hlinkClick r:id="rId34"/>
              </a:rPr>
              <a:t>[19]</a:t>
            </a:r>
            <a:r>
              <a:rPr sz="650">
                <a:latin typeface="Calibri"/>
              </a:rPr>
              <a:t> </a:t>
            </a:r>
            <a:endParaRPr b="1" i="0" sz="850" u="none" cap="none" strike="noStrike">
              <a:solidFill>
                <a:srgbClr val="C03A2B"/>
              </a:solidFill>
              <a:latin typeface="Arial"/>
              <a:ea typeface="Arial"/>
              <a:cs typeface="Arial"/>
              <a:sym typeface="Arial"/>
            </a:endParaRPr>
          </a:p>
          <a:p>
            <a:pPr indent="0" lvl="0" marL="0" marR="0" rtl="0" algn="l">
              <a:lnSpc>
                <a:spcPct val="92000"/>
              </a:lnSpc>
              <a:spcBef>
                <a:spcPts val="0"/>
              </a:spcBef>
              <a:spcAft>
                <a:spcPts val="0"/>
              </a:spcAft>
              <a:buNone/>
            </a:pPr>
            <a:r>
              <a:t/>
            </a:r>
            <a:endParaRPr b="1" sz="200">
              <a:solidFill>
                <a:srgbClr val="C03A2B"/>
              </a:solidFill>
            </a:endParaRPr>
          </a:p>
          <a:p>
            <a:pPr indent="0" lvl="0" marL="0" marR="0" rtl="0" algn="l">
              <a:lnSpc>
                <a:spcPct val="94000"/>
              </a:lnSpc>
              <a:spcBef>
                <a:spcPts val="0"/>
              </a:spcBef>
              <a:spcAft>
                <a:spcPts val="0"/>
              </a:spcAft>
              <a:buNone/>
            </a:pPr>
            <a:r>
              <a:rPr b="1" i="0" lang="en-GB" sz="800" u="none" cap="none" strike="noStrike">
                <a:solidFill>
                  <a:srgbClr val="5A6B78"/>
                </a:solidFill>
              </a:rPr>
              <a:t>WMS 1.3.0</a:t>
            </a:r>
            <a:r>
              <a:rPr b="0" i="0" lang="en-GB" sz="800" u="none" cap="none" strike="noStrike">
                <a:solidFill>
                  <a:srgbClr val="5A6B78"/>
                </a:solidFill>
                <a:latin typeface="Arial"/>
                <a:ea typeface="Arial"/>
                <a:cs typeface="Arial"/>
                <a:sym typeface="Arial"/>
              </a:rPr>
              <a:t> and </a:t>
            </a:r>
            <a:r>
              <a:rPr b="1" i="0" lang="en-GB" sz="800" u="none" cap="none" strike="noStrike">
                <a:solidFill>
                  <a:srgbClr val="5A6B78"/>
                </a:solidFill>
              </a:rPr>
              <a:t>WCS 1.0.0</a:t>
            </a:r>
            <a:r>
              <a:rPr b="0" i="0" lang="en-GB" sz="800" u="none" cap="none" strike="noStrike">
                <a:solidFill>
                  <a:srgbClr val="5A6B78"/>
                </a:solidFill>
                <a:latin typeface="Arial"/>
                <a:ea typeface="Arial"/>
                <a:cs typeface="Arial"/>
                <a:sym typeface="Arial"/>
              </a:rPr>
              <a:t>: an interoperable path into the desktop tools INCOIS already runs.</a:t>
            </a:r>
            <a:endParaRPr/>
          </a:p>
        </p:txBody>
      </p:sp>
      <p:sp>
        <p:nvSpPr>
          <p:cNvPr id="362" name="Google Shape;362;p39"/>
          <p:cNvSpPr txBox="1"/>
          <p:nvPr/>
        </p:nvSpPr>
        <p:spPr>
          <a:xfrm>
            <a:off x="2554345" y="2845127"/>
            <a:ext cx="17007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Parquet: 30,012 QC levels</a:t>
            </a:r>
            <a:endParaRPr/>
          </a:p>
        </p:txBody>
      </p:sp>
      <p:pic>
        <p:nvPicPr>
          <p:cNvPr id="363" name="Google Shape;363;p39"/>
          <p:cNvPicPr preferRelativeResize="0"/>
          <p:nvPr/>
        </p:nvPicPr>
        <p:blipFill>
          <a:blip r:embed="rId16">
            <a:alphaModFix/>
          </a:blip>
          <a:stretch>
            <a:fillRect/>
          </a:stretch>
        </p:blipFill>
        <p:spPr>
          <a:xfrm>
            <a:off x="1581363" y="1033387"/>
            <a:ext cx="386700" cy="386700"/>
          </a:xfrm>
          <a:prstGeom prst="rect">
            <a:avLst/>
          </a:prstGeom>
          <a:noFill/>
          <a:ln>
            <a:noFill/>
          </a:ln>
        </p:spPr>
      </p:pic>
      <p:pic>
        <p:nvPicPr>
          <p:cNvPr id="364" name="Google Shape;364;p39"/>
          <p:cNvPicPr preferRelativeResize="0"/>
          <p:nvPr/>
        </p:nvPicPr>
        <p:blipFill>
          <a:blip r:embed="rId17">
            <a:alphaModFix/>
          </a:blip>
          <a:stretch>
            <a:fillRect/>
          </a:stretch>
        </p:blipFill>
        <p:spPr>
          <a:xfrm>
            <a:off x="3862773" y="1020650"/>
            <a:ext cx="386700" cy="386700"/>
          </a:xfrm>
          <a:prstGeom prst="rect">
            <a:avLst/>
          </a:prstGeom>
          <a:noFill/>
          <a:ln>
            <a:noFill/>
          </a:ln>
        </p:spPr>
      </p:pic>
      <p:pic>
        <p:nvPicPr>
          <p:cNvPr id="365" name="Google Shape;365;p39"/>
          <p:cNvPicPr preferRelativeResize="0"/>
          <p:nvPr/>
        </p:nvPicPr>
        <p:blipFill>
          <a:blip r:embed="rId18">
            <a:alphaModFix/>
          </a:blip>
          <a:stretch>
            <a:fillRect/>
          </a:stretch>
        </p:blipFill>
        <p:spPr>
          <a:xfrm>
            <a:off x="6145062" y="1010627"/>
            <a:ext cx="386700" cy="386671"/>
          </a:xfrm>
          <a:prstGeom prst="rect">
            <a:avLst/>
          </a:prstGeom>
          <a:noFill/>
          <a:ln>
            <a:noFill/>
          </a:ln>
        </p:spPr>
      </p:pic>
      <p:pic>
        <p:nvPicPr>
          <p:cNvPr id="366" name="Google Shape;366;p39"/>
          <p:cNvPicPr preferRelativeResize="0"/>
          <p:nvPr/>
        </p:nvPicPr>
        <p:blipFill>
          <a:blip r:embed="rId19">
            <a:alphaModFix/>
          </a:blip>
          <a:stretch>
            <a:fillRect/>
          </a:stretch>
        </p:blipFill>
        <p:spPr>
          <a:xfrm>
            <a:off x="8507042" y="897929"/>
            <a:ext cx="386700" cy="383079"/>
          </a:xfrm>
          <a:prstGeom prst="rect">
            <a:avLst/>
          </a:prstGeom>
          <a:noFill/>
          <a:ln>
            <a:noFill/>
          </a:ln>
        </p:spPr>
      </p:pic>
      <p:cxnSp>
        <p:nvCxnSpPr>
          <p:cNvPr id="367" name="Google Shape;367;p39"/>
          <p:cNvCxnSpPr/>
          <p:nvPr/>
        </p:nvCxnSpPr>
        <p:spPr>
          <a:xfrm rot="-5400000">
            <a:off x="5245425" y="3084025"/>
            <a:ext cx="289500" cy="600"/>
          </a:xfrm>
          <a:prstGeom prst="bentConnector3">
            <a:avLst>
              <a:gd fmla="val 50000" name="adj1"/>
            </a:avLst>
          </a:prstGeom>
          <a:noFill/>
          <a:ln cap="flat" cmpd="sng" w="15875">
            <a:solidFill>
              <a:srgbClr val="0E7A5F"/>
            </a:solidFill>
            <a:prstDash val="solid"/>
            <a:round/>
            <a:headEnd len="sm" w="sm" type="none"/>
            <a:tailEnd len="med" w="med" type="triangle"/>
          </a:ln>
          <a:effectLst>
            <a:outerShdw blurRad="40000" rotWithShape="0" dir="5400000" dist="20000">
              <a:srgbClr val="000000">
                <a:alpha val="38040"/>
              </a:srgbClr>
            </a:outerShdw>
          </a:effectLst>
        </p:spPr>
      </p:cxnSp>
      <p:pic>
        <p:nvPicPr>
          <p:cNvPr id="368" name="Google Shape;368;p39"/>
          <p:cNvPicPr preferRelativeResize="0"/>
          <p:nvPr/>
        </p:nvPicPr>
        <p:blipFill>
          <a:blip r:embed="rId20">
            <a:alphaModFix/>
          </a:blip>
          <a:stretch>
            <a:fillRect/>
          </a:stretch>
        </p:blipFill>
        <p:spPr>
          <a:xfrm>
            <a:off x="1537549" y="1570075"/>
            <a:ext cx="307000" cy="307000"/>
          </a:xfrm>
          <a:prstGeom prst="rect">
            <a:avLst/>
          </a:prstGeom>
          <a:noFill/>
          <a:ln>
            <a:noFill/>
          </a:ln>
        </p:spPr>
      </p:pic>
      <p:pic>
        <p:nvPicPr>
          <p:cNvPr id="369" name="Google Shape;369;p39"/>
          <p:cNvPicPr preferRelativeResize="0"/>
          <p:nvPr/>
        </p:nvPicPr>
        <p:blipFill>
          <a:blip r:embed="rId21">
            <a:alphaModFix/>
          </a:blip>
          <a:stretch>
            <a:fillRect/>
          </a:stretch>
        </p:blipFill>
        <p:spPr>
          <a:xfrm>
            <a:off x="1524845" y="2002526"/>
            <a:ext cx="332400" cy="402350"/>
          </a:xfrm>
          <a:prstGeom prst="rect">
            <a:avLst/>
          </a:prstGeom>
          <a:noFill/>
          <a:ln>
            <a:noFill/>
          </a:ln>
        </p:spPr>
      </p:pic>
      <p:pic>
        <p:nvPicPr>
          <p:cNvPr id="370" name="Google Shape;370;p39"/>
          <p:cNvPicPr preferRelativeResize="0"/>
          <p:nvPr/>
        </p:nvPicPr>
        <p:blipFill>
          <a:blip r:embed="rId22">
            <a:alphaModFix/>
          </a:blip>
          <a:stretch>
            <a:fillRect/>
          </a:stretch>
        </p:blipFill>
        <p:spPr>
          <a:xfrm>
            <a:off x="6234305" y="1564139"/>
            <a:ext cx="332401" cy="311986"/>
          </a:xfrm>
          <a:prstGeom prst="rect">
            <a:avLst/>
          </a:prstGeom>
          <a:noFill/>
          <a:ln>
            <a:noFill/>
          </a:ln>
        </p:spPr>
      </p:pic>
      <p:pic>
        <p:nvPicPr>
          <p:cNvPr id="371" name="Google Shape;371;p39"/>
          <p:cNvPicPr preferRelativeResize="0"/>
          <p:nvPr/>
        </p:nvPicPr>
        <p:blipFill>
          <a:blip r:embed="rId23">
            <a:alphaModFix/>
          </a:blip>
          <a:stretch>
            <a:fillRect/>
          </a:stretch>
        </p:blipFill>
        <p:spPr>
          <a:xfrm>
            <a:off x="6253825" y="2035513"/>
            <a:ext cx="289500" cy="289500"/>
          </a:xfrm>
          <a:prstGeom prst="rect">
            <a:avLst/>
          </a:prstGeom>
          <a:noFill/>
          <a:ln>
            <a:noFill/>
          </a:ln>
        </p:spPr>
      </p:pic>
      <p:sp>
        <p:nvSpPr>
          <p:cNvPr id="373" name="Rectangle 372"/>
          <p:cNvSpPr/>
          <p:nvPr/>
        </p:nvSpPr>
        <p:spPr>
          <a:xfrm>
            <a:off x="8063261" y="3913632"/>
            <a:ext cx="575700" cy="185100"/>
          </a:xfrm>
          <a:prstGeom prst="rect">
            <a:avLst/>
          </a:prstGeom>
          <a:solidFill>
            <a:srgbClr val="E4ECF1"/>
          </a:solidFill>
          <a:ln w="9525">
            <a:solidFill>
              <a:srgbClr val="E4ECF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800" b="1" i="0">
                <a:solidFill>
                  <a:srgbClr val="0B2E4F"/>
                </a:solidFill>
                <a:latin typeface="Calibri"/>
              </a:rPr>
              <a:t>Three.js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40"/>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feasibility scalable architecture browser-native no client-side dependencies deployable on INCOIS infrastructure offline air-gapped commodity GPU server zero licence cost open source colorbar editor variable selector layer opacity vertical exaggeration slider customizable colorbar</a:t>
            </a:r>
            <a:endParaRPr/>
          </a:p>
        </p:txBody>
      </p:sp>
      <p:sp>
        <p:nvSpPr>
          <p:cNvPr id="378" name="Google Shape;378;p40"/>
          <p:cNvSpPr/>
          <p:nvPr/>
        </p:nvSpPr>
        <p:spPr>
          <a:xfrm>
            <a:off x="0" y="4869574"/>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t/>
            </a:r>
            <a:endParaRPr b="0" i="0" sz="1400" u="none" cap="none" strike="noStrike">
              <a:solidFill>
                <a:srgbClr val="953734"/>
              </a:solidFill>
              <a:latin typeface="Calibri"/>
              <a:ea typeface="Calibri"/>
              <a:cs typeface="Calibri"/>
              <a:sym typeface="Calibri"/>
            </a:endParaRPr>
          </a:p>
        </p:txBody>
      </p:sp>
      <p:sp>
        <p:nvSpPr>
          <p:cNvPr id="379" name="Google Shape;379;p40"/>
          <p:cNvSpPr txBox="1"/>
          <p:nvPr>
            <p:ph type="title"/>
          </p:nvPr>
        </p:nvSpPr>
        <p:spPr>
          <a:xfrm>
            <a:off x="1265974" y="94425"/>
            <a:ext cx="6069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FEASIBILITY AND VIABILITY</a:t>
            </a:r>
            <a:endParaRPr sz="1100"/>
          </a:p>
        </p:txBody>
      </p:sp>
      <p:sp>
        <p:nvSpPr>
          <p:cNvPr id="380" name="Google Shape;380;p40"/>
          <p:cNvSpPr txBox="1"/>
          <p:nvPr>
            <p:ph idx="12" type="sldNum"/>
          </p:nvPr>
        </p:nvSpPr>
        <p:spPr>
          <a:xfrm>
            <a:off x="6553200" y="4867528"/>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381" name="Google Shape;381;p40"/>
          <p:cNvSpPr txBox="1"/>
          <p:nvPr>
            <p:ph idx="11" type="ftr"/>
          </p:nvPr>
        </p:nvSpPr>
        <p:spPr>
          <a:xfrm>
            <a:off x="3448950" y="4893232"/>
            <a:ext cx="2654100" cy="2196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sz="700">
                <a:solidFill>
                  <a:srgbClr val="FFFFFF"/>
                </a:solidFill>
                <a:latin typeface="Calibri"/>
                <a:ea typeface="Calibri"/>
                <a:cs typeface="Calibri"/>
                <a:sym typeface="Calibri"/>
              </a:rPr>
              <a:t>SagarDrishti  ·  PS SIH26067  ·  @SIH Idea Submission</a:t>
            </a:r>
            <a:endParaRPr b="0" i="0" sz="1000" u="none" cap="none" strike="noStrike">
              <a:solidFill>
                <a:srgbClr val="FFFFFF"/>
              </a:solidFill>
              <a:latin typeface="Oswald"/>
              <a:ea typeface="Oswald"/>
              <a:cs typeface="Oswald"/>
              <a:sym typeface="Oswald"/>
            </a:endParaRPr>
          </a:p>
        </p:txBody>
      </p:sp>
      <p:pic>
        <p:nvPicPr>
          <p:cNvPr id="382" name="Google Shape;382;p40"/>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383" name="Google Shape;383;p40"/>
          <p:cNvSpPr/>
          <p:nvPr/>
        </p:nvSpPr>
        <p:spPr>
          <a:xfrm>
            <a:off x="178308" y="840366"/>
            <a:ext cx="8785200" cy="795600"/>
          </a:xfrm>
          <a:prstGeom prst="rect">
            <a:avLst/>
          </a:prstGeom>
          <a:solidFill>
            <a:srgbClr val="0070C0"/>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84" name="Google Shape;384;p40"/>
          <p:cNvSpPr txBox="1"/>
          <p:nvPr/>
        </p:nvSpPr>
        <p:spPr>
          <a:xfrm>
            <a:off x="274325" y="867624"/>
            <a:ext cx="76566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Calibri"/>
                <a:ea typeface="Calibri"/>
                <a:cs typeface="Calibri"/>
                <a:sym typeface="Calibri"/>
              </a:rPr>
              <a:t>FEASIBILITY IS NOT A FORECAST HERE. THE SYSTEM ALREADY RUNS. EVERY FIGURE BELOW WAS MEASURED, NOT ESTIMATED</a:t>
            </a:r>
            <a:endParaRPr b="0" i="0" sz="1400" u="none" cap="none" strike="noStrike">
              <a:solidFill>
                <a:srgbClr val="000000"/>
              </a:solidFill>
              <a:latin typeface="Arial"/>
              <a:ea typeface="Arial"/>
              <a:cs typeface="Arial"/>
              <a:sym typeface="Arial"/>
            </a:endParaRPr>
          </a:p>
        </p:txBody>
      </p:sp>
      <p:sp>
        <p:nvSpPr>
          <p:cNvPr id="385" name="Google Shape;385;p40"/>
          <p:cNvSpPr txBox="1"/>
          <p:nvPr/>
        </p:nvSpPr>
        <p:spPr>
          <a:xfrm>
            <a:off x="274320"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595</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automated tests, 12 in a browser</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6" name="Google Shape;386;p40"/>
          <p:cNvSpPr txBox="1"/>
          <p:nvPr/>
        </p:nvSpPr>
        <p:spPr>
          <a:xfrm>
            <a:off x="1717929"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51 fps</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at 1080p on integrated graphics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7" name="Google Shape;387;p40"/>
          <p:cNvSpPr txBox="1"/>
          <p:nvPr/>
        </p:nvSpPr>
        <p:spPr>
          <a:xfrm>
            <a:off x="3161538"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0</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requests leave the machine</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8" name="Google Shape;388;p40"/>
          <p:cNvSpPr txBox="1"/>
          <p:nvPr/>
        </p:nvSpPr>
        <p:spPr>
          <a:xfrm>
            <a:off x="4605147"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10.5 M</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gridded values, two agencies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9" name="Google Shape;389;p40"/>
          <p:cNvSpPr txBox="1"/>
          <p:nvPr/>
        </p:nvSpPr>
        <p:spPr>
          <a:xfrm>
            <a:off x="6048756"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30,012</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QC-passed levels, 19 instruments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90" name="Google Shape;390;p40"/>
          <p:cNvSpPr txBox="1"/>
          <p:nvPr/>
        </p:nvSpPr>
        <p:spPr>
          <a:xfrm>
            <a:off x="7492365"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12</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ocean parameters, 3 by plugins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91" name="Google Shape;391;p40"/>
          <p:cNvSpPr/>
          <p:nvPr/>
        </p:nvSpPr>
        <p:spPr>
          <a:xfrm>
            <a:off x="178300" y="1741925"/>
            <a:ext cx="2818500" cy="220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92" name="Google Shape;392;p40"/>
          <p:cNvSpPr/>
          <p:nvPr/>
        </p:nvSpPr>
        <p:spPr>
          <a:xfrm>
            <a:off x="178308" y="1741932"/>
            <a:ext cx="2818500" cy="2196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93" name="Google Shape;393;p40"/>
          <p:cNvSpPr txBox="1"/>
          <p:nvPr/>
        </p:nvSpPr>
        <p:spPr>
          <a:xfrm>
            <a:off x="227183" y="1775353"/>
            <a:ext cx="26541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Calibri"/>
                <a:ea typeface="Calibri"/>
                <a:cs typeface="Calibri"/>
                <a:sym typeface="Calibri"/>
              </a:rPr>
              <a:t>ANALYSIS OF FEASIBILITY</a:t>
            </a:r>
            <a:endParaRPr b="0" i="0" sz="1300" u="none" cap="none" strike="noStrike">
              <a:solidFill>
                <a:srgbClr val="000000"/>
              </a:solidFill>
              <a:latin typeface="Arial"/>
              <a:ea typeface="Arial"/>
              <a:cs typeface="Arial"/>
              <a:sym typeface="Arial"/>
            </a:endParaRPr>
          </a:p>
        </p:txBody>
      </p:sp>
      <p:sp>
        <p:nvSpPr>
          <p:cNvPr id="394" name="Google Shape;394;p40"/>
          <p:cNvSpPr txBox="1"/>
          <p:nvPr/>
        </p:nvSpPr>
        <p:spPr>
          <a:xfrm>
            <a:off x="260604" y="1956816"/>
            <a:ext cx="2654100" cy="29260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Proven stack.</a:t>
            </a:r>
            <a:r>
              <a:rPr b="0" i="0" lang="en-GB" sz="900" u="none" cap="none" strike="noStrike">
                <a:solidFill>
                  <a:srgbClr val="14202B"/>
                </a:solidFill>
                <a:latin typeface="Calibri"/>
                <a:ea typeface="Calibri"/>
                <a:cs typeface="Calibri"/>
                <a:sym typeface="Calibri"/>
              </a:rPr>
              <a:t>  CesiumJS, FastAPI, Zarr.</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Frame budget cleared.</a:t>
            </a:r>
            <a:r>
              <a:rPr b="0" i="0" lang="en-GB" sz="900" u="none" cap="none" strike="noStrike">
                <a:solidFill>
                  <a:srgbClr val="14202B"/>
                </a:solidFill>
                <a:latin typeface="Calibri"/>
                <a:ea typeface="Calibri"/>
                <a:cs typeface="Calibri"/>
                <a:sym typeface="Calibri"/>
              </a:rPr>
              <a:t>  51 fps on the weakest GPU.</a:t>
            </a:r>
            <a:endParaRPr b="0" i="0" sz="1300" u="none" cap="none" strike="noStrike">
              <a:solidFill>
                <a:srgbClr val="000000"/>
              </a:solidFill>
              <a:latin typeface="Arial"/>
              <a:ea typeface="Arial"/>
              <a:cs typeface="Arial"/>
              <a:sym typeface="Arial"/>
            </a:endParaRPr>
          </a:p>
        </p:txBody>
      </p:sp>
      <p:sp>
        <p:nvSpPr>
          <p:cNvPr id="395" name="Google Shape;395;p40"/>
          <p:cNvSpPr txBox="1"/>
          <p:nvPr/>
        </p:nvSpPr>
        <p:spPr>
          <a:xfrm>
            <a:off x="260604" y="2238817"/>
            <a:ext cx="2654100" cy="30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Reads INCOIS's own ERDDAP.</a:t>
            </a:r>
            <a:r>
              <a:rPr b="0" i="0" lang="en-GB" sz="900" u="none" cap="none" strike="noStrike">
                <a:solidFill>
                  <a:srgbClr val="14202B"/>
                </a:solidFill>
                <a:latin typeface="Calibri"/>
                <a:ea typeface="Calibri"/>
                <a:cs typeface="Calibri"/>
                <a:sym typeface="Calibri"/>
              </a:rPr>
              <a:t>  No duplication.</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Zero licence cost.</a:t>
            </a:r>
            <a:r>
              <a:rPr b="0" i="0" lang="en-GB" sz="900" u="none" cap="none" strike="noStrike">
                <a:solidFill>
                  <a:srgbClr val="14202B"/>
                </a:solidFill>
                <a:latin typeface="Calibri"/>
                <a:ea typeface="Calibri"/>
                <a:cs typeface="Calibri"/>
                <a:sym typeface="Calibri"/>
              </a:rPr>
              <a:t>  One GPU server, open source.</a:t>
            </a:r>
            <a:endParaRPr b="0" i="0" sz="1300" u="none" cap="none" strike="noStrike">
              <a:solidFill>
                <a:srgbClr val="000000"/>
              </a:solidFill>
              <a:latin typeface="Arial"/>
              <a:ea typeface="Arial"/>
              <a:cs typeface="Arial"/>
              <a:sym typeface="Arial"/>
            </a:endParaRPr>
          </a:p>
        </p:txBody>
      </p:sp>
      <p:sp>
        <p:nvSpPr>
          <p:cNvPr id="396" name="Google Shape;396;p40"/>
          <p:cNvSpPr/>
          <p:nvPr/>
        </p:nvSpPr>
        <p:spPr>
          <a:xfrm>
            <a:off x="3161550" y="1741925"/>
            <a:ext cx="2818500" cy="223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97" name="Google Shape;397;p40"/>
          <p:cNvSpPr/>
          <p:nvPr/>
        </p:nvSpPr>
        <p:spPr>
          <a:xfrm>
            <a:off x="3161538" y="1741932"/>
            <a:ext cx="2818500" cy="2196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98" name="Google Shape;398;p40"/>
          <p:cNvSpPr txBox="1"/>
          <p:nvPr/>
        </p:nvSpPr>
        <p:spPr>
          <a:xfrm>
            <a:off x="3215187" y="1784902"/>
            <a:ext cx="2654100" cy="13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POTENTIAL CHALLENGES AND RISKS</a:t>
            </a:r>
            <a:endParaRPr b="0" i="0" sz="1200" u="none" cap="none" strike="noStrike">
              <a:solidFill>
                <a:srgbClr val="000000"/>
              </a:solidFill>
              <a:latin typeface="Arial"/>
              <a:ea typeface="Arial"/>
              <a:cs typeface="Arial"/>
              <a:sym typeface="Arial"/>
            </a:endParaRPr>
          </a:p>
        </p:txBody>
      </p:sp>
      <p:sp>
        <p:nvSpPr>
          <p:cNvPr id="399" name="Google Shape;399;p40"/>
          <p:cNvSpPr txBox="1"/>
          <p:nvPr/>
        </p:nvSpPr>
        <p:spPr>
          <a:xfrm>
            <a:off x="3267066" y="1993097"/>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DATA</a:t>
            </a:r>
            <a:endParaRPr b="0" i="0" sz="1400" u="none" cap="none" strike="noStrike">
              <a:solidFill>
                <a:srgbClr val="000000"/>
              </a:solidFill>
              <a:latin typeface="Arial"/>
              <a:ea typeface="Arial"/>
              <a:cs typeface="Arial"/>
              <a:sym typeface="Arial"/>
            </a:endParaRPr>
          </a:p>
        </p:txBody>
      </p:sp>
      <p:sp>
        <p:nvSpPr>
          <p:cNvPr id="400" name="Google Shape;400;p40"/>
          <p:cNvSpPr txBox="1"/>
          <p:nvPr/>
        </p:nvSpPr>
        <p:spPr>
          <a:xfrm>
            <a:off x="3243834" y="2130257"/>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Instrument coverage is uneven.</a:t>
            </a:r>
            <a:r>
              <a:rPr b="0" i="0" lang="en-GB" sz="900" u="none" cap="none" strike="noStrike">
                <a:solidFill>
                  <a:srgbClr val="14202B"/>
                </a:solidFill>
                <a:latin typeface="Calibri"/>
                <a:ea typeface="Calibri"/>
                <a:cs typeface="Calibri"/>
                <a:sym typeface="Calibri"/>
              </a:rPr>
              <a:t>  Not on INCOIS ERDDAP.</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Datasets disagree on axes.</a:t>
            </a:r>
            <a:r>
              <a:rPr b="0" i="0" lang="en-GB" sz="900" u="none" cap="none" strike="noStrike">
                <a:solidFill>
                  <a:srgbClr val="14202B"/>
                </a:solidFill>
                <a:latin typeface="Calibri"/>
                <a:ea typeface="Calibri"/>
                <a:cs typeface="Calibri"/>
                <a:sym typeface="Calibri"/>
              </a:rPr>
              <a:t>  GLORYS stops at 1942 m.</a:t>
            </a:r>
            <a:endParaRPr b="0" i="0" sz="1300" u="none" cap="none" strike="noStrike">
              <a:solidFill>
                <a:srgbClr val="000000"/>
              </a:solidFill>
              <a:latin typeface="Arial"/>
              <a:ea typeface="Arial"/>
              <a:cs typeface="Arial"/>
              <a:sym typeface="Arial"/>
            </a:endParaRPr>
          </a:p>
        </p:txBody>
      </p:sp>
      <p:sp>
        <p:nvSpPr>
          <p:cNvPr id="401" name="Google Shape;401;p40"/>
          <p:cNvSpPr txBox="1"/>
          <p:nvPr/>
        </p:nvSpPr>
        <p:spPr>
          <a:xfrm>
            <a:off x="3243834" y="2631604"/>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TECHNICAL</a:t>
            </a:r>
            <a:endParaRPr b="0" i="0" sz="1400" u="none" cap="none" strike="noStrike">
              <a:solidFill>
                <a:srgbClr val="000000"/>
              </a:solidFill>
              <a:latin typeface="Arial"/>
              <a:ea typeface="Arial"/>
              <a:cs typeface="Arial"/>
              <a:sym typeface="Arial"/>
            </a:endParaRPr>
          </a:p>
        </p:txBody>
      </p:sp>
      <p:sp>
        <p:nvSpPr>
          <p:cNvPr id="402" name="Google Shape;402;p40"/>
          <p:cNvSpPr txBox="1"/>
          <p:nvPr/>
        </p:nvSpPr>
        <p:spPr>
          <a:xfrm>
            <a:off x="3243834" y="2781054"/>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Volumetric rendering is costly.</a:t>
            </a:r>
            <a:r>
              <a:rPr b="0" i="0" lang="en-GB" sz="900" u="none" cap="none" strike="noStrike">
                <a:solidFill>
                  <a:srgbClr val="14202B"/>
                </a:solidFill>
                <a:latin typeface="Calibri"/>
                <a:ea typeface="Calibri"/>
                <a:cs typeface="Calibri"/>
                <a:sym typeface="Calibri"/>
              </a:rPr>
              <a:t>  Translucent overdraw dominates.</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Scaling to the full basin.</a:t>
            </a:r>
            <a:r>
              <a:rPr b="0" i="0" lang="en-GB" sz="900" u="none" cap="none" strike="noStrike">
                <a:solidFill>
                  <a:srgbClr val="14202B"/>
                </a:solidFill>
                <a:latin typeface="Calibri"/>
                <a:ea typeface="Calibri"/>
                <a:cs typeface="Calibri"/>
                <a:sym typeface="Calibri"/>
              </a:rPr>
              <a:t>  The national grid is larger.</a:t>
            </a:r>
            <a:endParaRPr b="0" i="0" sz="1300" u="none" cap="none" strike="noStrike">
              <a:solidFill>
                <a:srgbClr val="000000"/>
              </a:solidFill>
              <a:latin typeface="Arial"/>
              <a:ea typeface="Arial"/>
              <a:cs typeface="Arial"/>
              <a:sym typeface="Arial"/>
            </a:endParaRPr>
          </a:p>
        </p:txBody>
      </p:sp>
      <p:sp>
        <p:nvSpPr>
          <p:cNvPr id="403" name="Google Shape;403;p40"/>
          <p:cNvSpPr txBox="1"/>
          <p:nvPr/>
        </p:nvSpPr>
        <p:spPr>
          <a:xfrm>
            <a:off x="3243834" y="3294691"/>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ADOPTION AND TRUST</a:t>
            </a:r>
            <a:endParaRPr b="0" i="0" sz="1400" u="none" cap="none" strike="noStrike">
              <a:solidFill>
                <a:srgbClr val="000000"/>
              </a:solidFill>
              <a:latin typeface="Arial"/>
              <a:ea typeface="Arial"/>
              <a:cs typeface="Arial"/>
              <a:sym typeface="Arial"/>
            </a:endParaRPr>
          </a:p>
        </p:txBody>
      </p:sp>
      <p:sp>
        <p:nvSpPr>
          <p:cNvPr id="404" name="Google Shape;404;p40"/>
          <p:cNvSpPr txBox="1"/>
          <p:nvPr/>
        </p:nvSpPr>
        <p:spPr>
          <a:xfrm>
            <a:off x="3243834" y="3444142"/>
            <a:ext cx="2654100" cy="518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A wrong number beats no number.</a:t>
            </a:r>
            <a:r>
              <a:rPr b="0" i="0" lang="en-GB" sz="900" u="none" cap="none" strike="noStrike">
                <a:solidFill>
                  <a:srgbClr val="14202B"/>
                </a:solidFill>
                <a:latin typeface="Calibri"/>
                <a:ea typeface="Calibri"/>
                <a:cs typeface="Calibri"/>
                <a:sym typeface="Calibri"/>
              </a:rPr>
              <a:t>  Its caveat must travel.</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A false alarm is unacceptable.</a:t>
            </a:r>
            <a:r>
              <a:rPr b="0" i="0" lang="en-GB" sz="900" u="none" cap="none" strike="noStrike">
                <a:solidFill>
                  <a:srgbClr val="14202B"/>
                </a:solidFill>
                <a:latin typeface="Calibri"/>
                <a:ea typeface="Calibri"/>
                <a:cs typeface="Calibri"/>
                <a:sym typeface="Calibri"/>
              </a:rPr>
              <a:t>  Drills are dashed.</a:t>
            </a:r>
            <a:endParaRPr b="0" i="0" sz="1300" u="none" cap="none" strike="noStrike">
              <a:solidFill>
                <a:srgbClr val="000000"/>
              </a:solidFill>
              <a:latin typeface="Arial"/>
              <a:ea typeface="Arial"/>
              <a:cs typeface="Arial"/>
              <a:sym typeface="Arial"/>
            </a:endParaRPr>
          </a:p>
        </p:txBody>
      </p:sp>
      <p:sp>
        <p:nvSpPr>
          <p:cNvPr id="405" name="Google Shape;405;p40"/>
          <p:cNvSpPr/>
          <p:nvPr/>
        </p:nvSpPr>
        <p:spPr>
          <a:xfrm>
            <a:off x="6144775" y="1741925"/>
            <a:ext cx="2818500" cy="223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06" name="Google Shape;406;p40"/>
          <p:cNvSpPr/>
          <p:nvPr/>
        </p:nvSpPr>
        <p:spPr>
          <a:xfrm>
            <a:off x="6144768" y="1741932"/>
            <a:ext cx="2818500" cy="219600"/>
          </a:xfrm>
          <a:prstGeom prst="rect">
            <a:avLst/>
          </a:prstGeom>
          <a:solidFill>
            <a:srgbClr val="009C4E"/>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07" name="Google Shape;407;p40"/>
          <p:cNvSpPr txBox="1"/>
          <p:nvPr/>
        </p:nvSpPr>
        <p:spPr>
          <a:xfrm>
            <a:off x="6205579" y="1770579"/>
            <a:ext cx="2654100" cy="13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STRATEGIES TO OVERCOME THEM</a:t>
            </a:r>
            <a:endParaRPr b="0" i="0" sz="1200" u="none" cap="none" strike="noStrike">
              <a:solidFill>
                <a:srgbClr val="000000"/>
              </a:solidFill>
              <a:latin typeface="Arial"/>
              <a:ea typeface="Arial"/>
              <a:cs typeface="Arial"/>
              <a:sym typeface="Arial"/>
            </a:endParaRPr>
          </a:p>
        </p:txBody>
      </p:sp>
      <p:sp>
        <p:nvSpPr>
          <p:cNvPr id="408" name="Google Shape;408;p40"/>
          <p:cNvSpPr txBox="1"/>
          <p:nvPr/>
        </p:nvSpPr>
        <p:spPr>
          <a:xfrm>
            <a:off x="6227064" y="1980557"/>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DATA</a:t>
            </a:r>
            <a:endParaRPr b="1" i="0" sz="1400" u="none" cap="none" strike="noStrike">
              <a:solidFill>
                <a:srgbClr val="009C4E"/>
              </a:solidFill>
              <a:latin typeface="Arial"/>
              <a:ea typeface="Arial"/>
              <a:cs typeface="Arial"/>
              <a:sym typeface="Arial"/>
            </a:endParaRPr>
          </a:p>
        </p:txBody>
      </p:sp>
      <p:sp>
        <p:nvSpPr>
          <p:cNvPr id="409" name="Google Shape;409;p40"/>
          <p:cNvSpPr txBox="1"/>
          <p:nvPr/>
        </p:nvSpPr>
        <p:spPr>
          <a:xfrm>
            <a:off x="6227064" y="2105676"/>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Parsers already written.</a:t>
            </a:r>
            <a:r>
              <a:rPr b="0" i="0" lang="en-GB" sz="900" u="none" cap="none" strike="noStrike">
                <a:solidFill>
                  <a:srgbClr val="14202B"/>
                </a:solidFill>
                <a:latin typeface="Calibri"/>
                <a:ea typeface="Calibri"/>
                <a:cs typeface="Calibri"/>
                <a:sym typeface="Calibri"/>
              </a:rPr>
              <a:t>  A file, not new code.</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Never stretch one grid onto another.</a:t>
            </a:r>
            <a:r>
              <a:rPr b="0" i="0" lang="en-GB" sz="900" u="none" cap="none" strike="noStrike">
                <a:solidFill>
                  <a:srgbClr val="14202B"/>
                </a:solidFill>
                <a:latin typeface="Calibri"/>
                <a:ea typeface="Calibri"/>
                <a:cs typeface="Calibri"/>
                <a:sym typeface="Calibri"/>
              </a:rPr>
              <a:t>  The served depth is printed.</a:t>
            </a:r>
            <a:endParaRPr b="0" i="0" sz="1300" u="none" cap="none" strike="noStrike">
              <a:solidFill>
                <a:srgbClr val="000000"/>
              </a:solidFill>
              <a:latin typeface="Arial"/>
              <a:ea typeface="Arial"/>
              <a:cs typeface="Arial"/>
              <a:sym typeface="Arial"/>
            </a:endParaRPr>
          </a:p>
        </p:txBody>
      </p:sp>
      <p:sp>
        <p:nvSpPr>
          <p:cNvPr id="410" name="Google Shape;410;p40"/>
          <p:cNvSpPr txBox="1"/>
          <p:nvPr/>
        </p:nvSpPr>
        <p:spPr>
          <a:xfrm>
            <a:off x="6227064" y="2588588"/>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TECHNICAL</a:t>
            </a:r>
            <a:endParaRPr b="1" i="0" sz="1300" u="none" cap="none" strike="noStrike">
              <a:solidFill>
                <a:srgbClr val="009C4E"/>
              </a:solidFill>
              <a:latin typeface="Arial"/>
              <a:ea typeface="Arial"/>
              <a:cs typeface="Arial"/>
              <a:sym typeface="Arial"/>
            </a:endParaRPr>
          </a:p>
        </p:txBody>
      </p:sp>
      <p:sp>
        <p:nvSpPr>
          <p:cNvPr id="411" name="Google Shape;411;p40"/>
          <p:cNvSpPr txBox="1"/>
          <p:nvPr/>
        </p:nvSpPr>
        <p:spPr>
          <a:xfrm>
            <a:off x="6227075" y="2725749"/>
            <a:ext cx="2736300" cy="579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Depth-space level of detail.</a:t>
            </a:r>
            <a:r>
              <a:rPr b="0" i="0" lang="en-GB" sz="900" u="none" cap="none" strike="noStrike">
                <a:solidFill>
                  <a:srgbClr val="14202B"/>
                </a:solidFill>
                <a:latin typeface="Calibri"/>
                <a:ea typeface="Calibri"/>
                <a:cs typeface="Calibri"/>
                <a:sym typeface="Calibri"/>
              </a:rPr>
              <a:t>  At most 10 of 24 slices at once.</a:t>
            </a:r>
            <a:r>
              <a:rPr sz="650" b="1" baseline="28000">
                <a:solidFill>
                  <a:srgbClr val="12688F"/>
                </a:solidFill>
                <a:latin typeface="Calibri"/>
                <a:hlinkClick r:id="rId6"/>
              </a:rPr>
              <a:t>[6]</a:t>
            </a:r>
            <a:r>
              <a:rPr sz="650">
                <a:latin typeface="Calibri"/>
              </a:rPr>
              <a:t> </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Chunked Zarr over range requests.</a:t>
            </a:r>
            <a:r>
              <a:rPr b="0" i="0" lang="en-GB" sz="900" u="none" cap="none" strike="noStrike">
                <a:solidFill>
                  <a:srgbClr val="14202B"/>
                </a:solidFill>
                <a:latin typeface="Calibri"/>
                <a:ea typeface="Calibri"/>
                <a:cs typeface="Calibri"/>
                <a:sym typeface="Calibri"/>
              </a:rPr>
              <a:t>  Cost is view-dependent.</a:t>
            </a:r>
            <a:r>
              <a:rPr sz="650" b="1" baseline="28000">
                <a:solidFill>
                  <a:srgbClr val="12688F"/>
                </a:solidFill>
                <a:latin typeface="Calibri"/>
                <a:hlinkClick r:id="rId7"/>
              </a:rPr>
              <a:t>[9]</a:t>
            </a:r>
            <a:r>
              <a:rPr sz="650">
                <a:latin typeface="Calibri"/>
              </a:rPr>
              <a:t> </a:t>
            </a:r>
            <a:endParaRPr b="0" i="0" sz="1300" u="none" cap="none" strike="noStrike">
              <a:solidFill>
                <a:srgbClr val="000000"/>
              </a:solidFill>
              <a:latin typeface="Arial"/>
              <a:ea typeface="Arial"/>
              <a:cs typeface="Arial"/>
              <a:sym typeface="Arial"/>
            </a:endParaRPr>
          </a:p>
        </p:txBody>
      </p:sp>
      <p:sp>
        <p:nvSpPr>
          <p:cNvPr id="412" name="Google Shape;412;p40"/>
          <p:cNvSpPr txBox="1"/>
          <p:nvPr/>
        </p:nvSpPr>
        <p:spPr>
          <a:xfrm>
            <a:off x="6227064" y="3325418"/>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ADOPTION AND TRUST</a:t>
            </a:r>
            <a:endParaRPr b="1" i="0" sz="1300" u="none" cap="none" strike="noStrike">
              <a:solidFill>
                <a:srgbClr val="009C4E"/>
              </a:solidFill>
              <a:latin typeface="Arial"/>
              <a:ea typeface="Arial"/>
              <a:cs typeface="Arial"/>
              <a:sym typeface="Arial"/>
            </a:endParaRPr>
          </a:p>
        </p:txBody>
      </p:sp>
      <p:sp>
        <p:nvSpPr>
          <p:cNvPr id="413" name="Google Shape;413;p40"/>
          <p:cNvSpPr txBox="1"/>
          <p:nvPr/>
        </p:nvSpPr>
        <p:spPr>
          <a:xfrm>
            <a:off x="6227064" y="3491767"/>
            <a:ext cx="2654100" cy="44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The caveat travels with the number.</a:t>
            </a:r>
            <a:r>
              <a:rPr b="0" i="0" lang="en-GB" sz="900" u="none" cap="none" strike="noStrike">
                <a:solidFill>
                  <a:srgbClr val="14202B"/>
                </a:solidFill>
                <a:latin typeface="Calibri"/>
                <a:ea typeface="Calibri"/>
                <a:cs typeface="Calibri"/>
                <a:sym typeface="Calibri"/>
              </a:rPr>
              <a:t>  On screen and in the API.</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Four independent drill guards.</a:t>
            </a:r>
            <a:r>
              <a:rPr b="0" i="0" lang="en-GB" sz="900" u="none" cap="none" strike="noStrike">
                <a:solidFill>
                  <a:srgbClr val="14202B"/>
                </a:solidFill>
                <a:latin typeface="Calibri"/>
                <a:ea typeface="Calibri"/>
                <a:cs typeface="Calibri"/>
                <a:sym typeface="Calibri"/>
              </a:rPr>
              <a:t>  Exercise is refused.</a:t>
            </a:r>
            <a:endParaRPr b="0" i="0" sz="1300" u="none" cap="none" strike="noStrike">
              <a:solidFill>
                <a:srgbClr val="000000"/>
              </a:solidFill>
              <a:latin typeface="Arial"/>
              <a:ea typeface="Arial"/>
              <a:cs typeface="Arial"/>
              <a:sym typeface="Arial"/>
            </a:endParaRPr>
          </a:p>
        </p:txBody>
      </p:sp>
      <p:sp>
        <p:nvSpPr>
          <p:cNvPr id="414" name="Google Shape;414;p40"/>
          <p:cNvSpPr/>
          <p:nvPr/>
        </p:nvSpPr>
        <p:spPr>
          <a:xfrm>
            <a:off x="178300" y="4053475"/>
            <a:ext cx="8785200" cy="745800"/>
          </a:xfrm>
          <a:prstGeom prst="rect">
            <a:avLst/>
          </a:prstGeom>
          <a:solidFill>
            <a:srgbClr val="D3E3EC"/>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15" name="Google Shape;415;p40"/>
          <p:cNvSpPr txBox="1"/>
          <p:nvPr/>
        </p:nvSpPr>
        <p:spPr>
          <a:xfrm>
            <a:off x="253739" y="4107813"/>
            <a:ext cx="3017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VIABILITY  ·  WHY THIS SURVIVES AFTER THE HACKATHON</a:t>
            </a:r>
            <a:endParaRPr b="0" i="0" sz="1300" u="none" cap="none" strike="noStrike">
              <a:solidFill>
                <a:schemeClr val="dk1"/>
              </a:solidFill>
              <a:latin typeface="Arial"/>
              <a:ea typeface="Arial"/>
              <a:cs typeface="Arial"/>
              <a:sym typeface="Arial"/>
            </a:endParaRPr>
          </a:p>
        </p:txBody>
      </p:sp>
      <p:sp>
        <p:nvSpPr>
          <p:cNvPr id="416" name="Google Shape;416;p40"/>
          <p:cNvSpPr txBox="1"/>
          <p:nvPr/>
        </p:nvSpPr>
        <p:spPr>
          <a:xfrm>
            <a:off x="246085" y="4323742"/>
            <a:ext cx="23241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Native deployment path</a:t>
            </a:r>
            <a:endParaRPr b="0" i="0" sz="14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INCOIS's own request. No data migrates.</a:t>
            </a:r>
            <a:endParaRPr b="0" i="0" sz="1400" u="none" cap="none" strike="noStrike">
              <a:solidFill>
                <a:schemeClr val="dk1"/>
              </a:solidFill>
              <a:latin typeface="Arial"/>
              <a:ea typeface="Arial"/>
              <a:cs typeface="Arial"/>
              <a:sym typeface="Arial"/>
            </a:endParaRPr>
          </a:p>
        </p:txBody>
      </p:sp>
      <p:sp>
        <p:nvSpPr>
          <p:cNvPr id="417" name="Google Shape;417;p40"/>
          <p:cNvSpPr txBox="1"/>
          <p:nvPr/>
        </p:nvSpPr>
        <p:spPr>
          <a:xfrm>
            <a:off x="2518344" y="4308822"/>
            <a:ext cx="2066100" cy="4080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Standards, not a silo</a:t>
            </a:r>
            <a:endParaRPr b="0" i="0" sz="13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WMS 1.3.0 and WCS 1.0.0: their tools read it.</a:t>
            </a:r>
            <a:endParaRPr b="0" i="0" sz="1300" u="none" cap="none" strike="noStrike">
              <a:solidFill>
                <a:schemeClr val="dk1"/>
              </a:solidFill>
              <a:latin typeface="Arial"/>
              <a:ea typeface="Arial"/>
              <a:cs typeface="Arial"/>
              <a:sym typeface="Arial"/>
            </a:endParaRPr>
          </a:p>
        </p:txBody>
      </p:sp>
      <p:sp>
        <p:nvSpPr>
          <p:cNvPr id="418" name="Google Shape;418;p40"/>
          <p:cNvSpPr txBox="1"/>
          <p:nvPr/>
        </p:nvSpPr>
        <p:spPr>
          <a:xfrm>
            <a:off x="4676715" y="4276469"/>
            <a:ext cx="20661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Maintainable by the owner</a:t>
            </a:r>
            <a:endParaRPr b="0" i="0" sz="13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Standard Python and JavaScript.</a:t>
            </a:r>
            <a:endParaRPr b="0" i="0" sz="1300" u="none" cap="none" strike="noStrike">
              <a:solidFill>
                <a:schemeClr val="dk1"/>
              </a:solidFill>
              <a:latin typeface="Arial"/>
              <a:ea typeface="Arial"/>
              <a:cs typeface="Arial"/>
              <a:sym typeface="Arial"/>
            </a:endParaRPr>
          </a:p>
        </p:txBody>
      </p:sp>
      <p:sp>
        <p:nvSpPr>
          <p:cNvPr id="419" name="Google Shape;419;p40"/>
          <p:cNvSpPr txBox="1"/>
          <p:nvPr/>
        </p:nvSpPr>
        <p:spPr>
          <a:xfrm>
            <a:off x="6793359" y="4264001"/>
            <a:ext cx="22209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Costs nothing to keep</a:t>
            </a:r>
            <a:endParaRPr b="0" i="0" sz="14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Zero licences, one GPU server.</a:t>
            </a:r>
            <a:endParaRPr b="0" i="0" sz="1400" u="none" cap="none" strike="noStrike">
              <a:solidFill>
                <a:schemeClr val="dk1"/>
              </a:solidFill>
              <a:latin typeface="Arial"/>
              <a:ea typeface="Arial"/>
              <a:cs typeface="Arial"/>
              <a:sym typeface="Arial"/>
            </a:endParaRPr>
          </a:p>
        </p:txBody>
      </p:sp>
      <p:sp>
        <p:nvSpPr>
          <p:cNvPr descr="Your startup LOGO" id="420" name="Google Shape;420;p40"/>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l">
              <a:lnSpc>
                <a:spcPct val="95000"/>
              </a:lnSpc>
              <a:spcBef>
                <a:spcPts val="400"/>
              </a:spcBef>
              <a:spcAft>
                <a:spcPts val="0"/>
              </a:spcAft>
              <a:buClr>
                <a:schemeClr val="dk1"/>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421" name="Google Shape;421;p40"/>
          <p:cNvSpPr/>
          <p:nvPr/>
        </p:nvSpPr>
        <p:spPr>
          <a:xfrm rot="5400000">
            <a:off x="6010370" y="2670042"/>
            <a:ext cx="109800" cy="128100"/>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2" name="Google Shape;422;p40"/>
          <p:cNvSpPr/>
          <p:nvPr/>
        </p:nvSpPr>
        <p:spPr>
          <a:xfrm rot="5400000">
            <a:off x="6010370" y="3328410"/>
            <a:ext cx="109800" cy="128100"/>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3" name="Google Shape;423;p40"/>
          <p:cNvSpPr/>
          <p:nvPr/>
        </p:nvSpPr>
        <p:spPr>
          <a:xfrm>
            <a:off x="256031" y="2542032"/>
            <a:ext cx="941262" cy="1371600"/>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439" name="Picture 438" descr="crop-phone.png"/>
          <p:cNvPicPr>
            <a:picLocks noChangeAspect="1"/>
          </p:cNvPicPr>
          <p:nvPr/>
        </p:nvPicPr>
        <p:blipFill>
          <a:blip r:embed="rId5"/>
          <a:stretch>
            <a:fillRect/>
          </a:stretch>
        </p:blipFill>
        <p:spPr>
          <a:xfrm>
            <a:off x="274320" y="2560320"/>
            <a:ext cx="904686" cy="1335024"/>
          </a:xfrm>
          <a:prstGeom prst="rect">
            <a:avLst/>
          </a:prstGeom>
        </p:spPr>
      </p:pic>
      <p:sp>
        <p:nvSpPr>
          <p:cNvPr id="425" name="Google Shape;425;p40"/>
          <p:cNvSpPr txBox="1"/>
          <p:nvPr/>
        </p:nvSpPr>
        <p:spPr>
          <a:xfrm>
            <a:off x="1328604" y="2658716"/>
            <a:ext cx="19203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1" i="0" lang="en-GB" sz="800" u="none" cap="none" strike="noStrike">
                <a:solidFill>
                  <a:srgbClr val="1F4E79"/>
                </a:solidFill>
                <a:latin typeface="Arial"/>
                <a:ea typeface="Arial"/>
                <a:cs typeface="Arial"/>
                <a:sym typeface="Arial"/>
              </a:rPr>
              <a:t>THE SAME BUILD, ON A PHONE</a:t>
            </a:r>
            <a:endParaRPr/>
          </a:p>
        </p:txBody>
      </p:sp>
      <p:sp>
        <p:nvSpPr>
          <p:cNvPr id="426" name="Google Shape;426;p40"/>
          <p:cNvSpPr/>
          <p:nvPr/>
        </p:nvSpPr>
        <p:spPr>
          <a:xfrm>
            <a:off x="1328604" y="285531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1</a:t>
            </a:r>
            <a:endParaRPr/>
          </a:p>
        </p:txBody>
      </p:sp>
      <p:sp>
        <p:nvSpPr>
          <p:cNvPr id="427" name="Google Shape;427;p40"/>
          <p:cNvSpPr txBox="1"/>
          <p:nvPr/>
        </p:nvSpPr>
        <p:spPr>
          <a:xfrm>
            <a:off x="1465764" y="284159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variable selector</a:t>
            </a:r>
            <a:endParaRPr/>
          </a:p>
        </p:txBody>
      </p:sp>
      <p:sp>
        <p:nvSpPr>
          <p:cNvPr id="428" name="Google Shape;428;p40"/>
          <p:cNvSpPr/>
          <p:nvPr/>
        </p:nvSpPr>
        <p:spPr>
          <a:xfrm>
            <a:off x="1328604" y="3015331"/>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2</a:t>
            </a:r>
            <a:endParaRPr/>
          </a:p>
        </p:txBody>
      </p:sp>
      <p:sp>
        <p:nvSpPr>
          <p:cNvPr id="429" name="Google Shape;429;p40"/>
          <p:cNvSpPr txBox="1"/>
          <p:nvPr/>
        </p:nvSpPr>
        <p:spPr>
          <a:xfrm>
            <a:off x="1465764" y="300161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colorbar, min / max, log</a:t>
            </a:r>
            <a:endParaRPr/>
          </a:p>
        </p:txBody>
      </p:sp>
      <p:sp>
        <p:nvSpPr>
          <p:cNvPr id="430" name="Google Shape;430;p40"/>
          <p:cNvSpPr/>
          <p:nvPr/>
        </p:nvSpPr>
        <p:spPr>
          <a:xfrm>
            <a:off x="1328604" y="317535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3</a:t>
            </a:r>
            <a:endParaRPr/>
          </a:p>
        </p:txBody>
      </p:sp>
      <p:sp>
        <p:nvSpPr>
          <p:cNvPr id="431" name="Google Shape;431;p40"/>
          <p:cNvSpPr txBox="1"/>
          <p:nvPr/>
        </p:nvSpPr>
        <p:spPr>
          <a:xfrm>
            <a:off x="1465764" y="316163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24 levels, 5 m to 2000 m</a:t>
            </a:r>
            <a:endParaRPr/>
          </a:p>
        </p:txBody>
      </p:sp>
      <p:sp>
        <p:nvSpPr>
          <p:cNvPr id="432" name="Google Shape;432;p40"/>
          <p:cNvSpPr/>
          <p:nvPr/>
        </p:nvSpPr>
        <p:spPr>
          <a:xfrm>
            <a:off x="1328604" y="333537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4</a:t>
            </a:r>
            <a:endParaRPr/>
          </a:p>
        </p:txBody>
      </p:sp>
      <p:sp>
        <p:nvSpPr>
          <p:cNvPr id="433" name="Google Shape;433;p40"/>
          <p:cNvSpPr/>
          <p:nvPr/>
        </p:nvSpPr>
        <p:spPr>
          <a:xfrm rot="5400000">
            <a:off x="6010370" y="2020818"/>
            <a:ext cx="109800" cy="128100"/>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4" name="Google Shape;434;p40"/>
          <p:cNvSpPr txBox="1"/>
          <p:nvPr/>
        </p:nvSpPr>
        <p:spPr>
          <a:xfrm>
            <a:off x="1465764" y="332165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vertical exaggeration</a:t>
            </a:r>
            <a:endParaRPr/>
          </a:p>
        </p:txBody>
      </p:sp>
      <p:sp>
        <p:nvSpPr>
          <p:cNvPr id="435" name="Google Shape;435;p40"/>
          <p:cNvSpPr/>
          <p:nvPr/>
        </p:nvSpPr>
        <p:spPr>
          <a:xfrm>
            <a:off x="1328604" y="3495391"/>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5</a:t>
            </a:r>
            <a:endParaRPr/>
          </a:p>
        </p:txBody>
      </p:sp>
      <p:sp>
        <p:nvSpPr>
          <p:cNvPr id="436" name="Google Shape;436;p40"/>
          <p:cNvSpPr txBox="1"/>
          <p:nvPr/>
        </p:nvSpPr>
        <p:spPr>
          <a:xfrm>
            <a:off x="1465764" y="348167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layer opacity</a:t>
            </a:r>
            <a:endParaRPr/>
          </a:p>
        </p:txBody>
      </p:sp>
      <p:sp>
        <p:nvSpPr>
          <p:cNvPr id="437" name="Google Shape;437;p40"/>
          <p:cNvSpPr/>
          <p:nvPr/>
        </p:nvSpPr>
        <p:spPr>
          <a:xfrm>
            <a:off x="1328604" y="365541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6</a:t>
            </a:r>
            <a:endParaRPr/>
          </a:p>
        </p:txBody>
      </p:sp>
      <p:sp>
        <p:nvSpPr>
          <p:cNvPr id="438" name="Google Shape;438;p40"/>
          <p:cNvSpPr txBox="1"/>
          <p:nvPr/>
        </p:nvSpPr>
        <p:spPr>
          <a:xfrm>
            <a:off x="1465764" y="364169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time-step animation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41"/>
          <p:cNvSpPr/>
          <p:nvPr/>
        </p:nvSpPr>
        <p:spPr>
          <a:xfrm>
            <a:off x="0" y="4820375"/>
            <a:ext cx="9144000" cy="323100"/>
          </a:xfrm>
          <a:prstGeom prst="rect">
            <a:avLst/>
          </a:prstGeom>
          <a:solidFill>
            <a:srgbClr val="0070C0"/>
          </a:solidFill>
          <a:ln>
            <a:noFill/>
          </a:ln>
          <a:effectLst>
            <a:outerShdw rotWithShape="0" dir="5400000" dist="23000">
              <a:srgbClr val="808080">
                <a:alpha val="3490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t/>
            </a:r>
            <a:endParaRPr b="0" i="0" sz="1400" u="none" cap="none" strike="noStrike">
              <a:solidFill>
                <a:srgbClr val="953734"/>
              </a:solidFill>
              <a:latin typeface="Calibri"/>
              <a:ea typeface="Calibri"/>
              <a:cs typeface="Calibri"/>
              <a:sym typeface="Calibri"/>
            </a:endParaRPr>
          </a:p>
        </p:txBody>
      </p:sp>
      <p:sp>
        <p:nvSpPr>
          <p:cNvPr id="445" name="Google Shape;445;p41"/>
          <p:cNvSpPr txBox="1"/>
          <p:nvPr>
            <p:ph type="title"/>
          </p:nvPr>
        </p:nvSpPr>
        <p:spPr>
          <a:xfrm>
            <a:off x="1221159" y="77434"/>
            <a:ext cx="7338000" cy="6309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IMPACT AND BENEFITS</a:t>
            </a:r>
            <a:endParaRPr sz="1100"/>
          </a:p>
        </p:txBody>
      </p:sp>
      <p:sp>
        <p:nvSpPr>
          <p:cNvPr id="446" name="Google Shape;446;p41"/>
          <p:cNvSpPr txBox="1"/>
          <p:nvPr>
            <p:ph idx="12" type="sldNum"/>
          </p:nvPr>
        </p:nvSpPr>
        <p:spPr>
          <a:xfrm>
            <a:off x="6553200" y="4837449"/>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447" name="Google Shape;447;p41"/>
          <p:cNvSpPr txBox="1"/>
          <p:nvPr>
            <p:ph idx="11" type="ftr"/>
          </p:nvPr>
        </p:nvSpPr>
        <p:spPr>
          <a:xfrm>
            <a:off x="3343225" y="4827925"/>
            <a:ext cx="2715900" cy="2739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a:solidFill>
                  <a:srgbClr val="FFFFFF"/>
                </a:solidFill>
                <a:latin typeface="Calibri"/>
                <a:ea typeface="Calibri"/>
                <a:cs typeface="Calibri"/>
                <a:sym typeface="Calibri"/>
              </a:rPr>
              <a:t>SagarDrishti  ·  PS SIH26067  ·  @SIH Idea Submission</a:t>
            </a:r>
            <a:endParaRPr b="0" i="0" u="none" cap="none" strike="noStrike">
              <a:solidFill>
                <a:srgbClr val="FFFFFF"/>
              </a:solidFill>
              <a:latin typeface="Oswald"/>
              <a:ea typeface="Oswald"/>
              <a:cs typeface="Oswald"/>
              <a:sym typeface="Oswald"/>
            </a:endParaRPr>
          </a:p>
        </p:txBody>
      </p:sp>
      <p:pic>
        <p:nvPicPr>
          <p:cNvPr id="448" name="Google Shape;448;p41"/>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449" name="Google Shape;449;p41"/>
          <p:cNvSpPr/>
          <p:nvPr/>
        </p:nvSpPr>
        <p:spPr>
          <a:xfrm>
            <a:off x="2305949" y="677871"/>
            <a:ext cx="4413900" cy="2805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spcBef>
                <a:spcPts val="0"/>
              </a:spcBef>
              <a:spcAft>
                <a:spcPts val="0"/>
              </a:spcAft>
              <a:buNone/>
            </a:pPr>
            <a:r>
              <a:rPr b="1" lang="en-GB" sz="900">
                <a:solidFill>
                  <a:srgbClr val="FFFFFF"/>
                </a:solidFill>
                <a:latin typeface="Calibri"/>
                <a:ea typeface="Calibri"/>
                <a:cs typeface="Calibri"/>
                <a:sym typeface="Calibri"/>
              </a:rPr>
              <a:t>                                        </a:t>
            </a:r>
            <a:r>
              <a:rPr b="1" i="0" lang="en-GB" sz="900">
                <a:solidFill>
                  <a:srgbClr val="FFFFFF"/>
                </a:solidFill>
                <a:latin typeface="Calibri"/>
                <a:ea typeface="Calibri"/>
                <a:cs typeface="Calibri"/>
                <a:sym typeface="Calibri"/>
              </a:rPr>
              <a:t>POTENTIAL IMPACT ON THE TARGET AUDIENCE</a:t>
            </a:r>
            <a:endParaRPr sz="1200"/>
          </a:p>
        </p:txBody>
      </p:sp>
      <p:sp>
        <p:nvSpPr>
          <p:cNvPr id="450" name="Google Shape;450;p41"/>
          <p:cNvSpPr/>
          <p:nvPr/>
        </p:nvSpPr>
        <p:spPr>
          <a:xfrm>
            <a:off x="178308" y="1083564"/>
            <a:ext cx="1680300" cy="411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1" name="Google Shape;451;p41"/>
          <p:cNvSpPr/>
          <p:nvPr/>
        </p:nvSpPr>
        <p:spPr>
          <a:xfrm>
            <a:off x="1954530" y="1083564"/>
            <a:ext cx="1680300" cy="41100"/>
          </a:xfrm>
          <a:prstGeom prst="rect">
            <a:avLst/>
          </a:prstGeom>
          <a:solidFill>
            <a:srgbClr val="0B2E4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2" name="Google Shape;452;p41"/>
          <p:cNvSpPr/>
          <p:nvPr/>
        </p:nvSpPr>
        <p:spPr>
          <a:xfrm>
            <a:off x="3730752" y="1083564"/>
            <a:ext cx="1680300" cy="41100"/>
          </a:xfrm>
          <a:prstGeom prst="rect">
            <a:avLst/>
          </a:prstGeom>
          <a:solidFill>
            <a:srgbClr val="12688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3" name="Google Shape;453;p41"/>
          <p:cNvSpPr/>
          <p:nvPr/>
        </p:nvSpPr>
        <p:spPr>
          <a:xfrm>
            <a:off x="5506974" y="1083564"/>
            <a:ext cx="1680300" cy="411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4" name="Google Shape;454;p41"/>
          <p:cNvSpPr/>
          <p:nvPr/>
        </p:nvSpPr>
        <p:spPr>
          <a:xfrm>
            <a:off x="7283196" y="1083564"/>
            <a:ext cx="1680300" cy="41100"/>
          </a:xfrm>
          <a:prstGeom prst="rect">
            <a:avLst/>
          </a:prstGeom>
          <a:solidFill>
            <a:srgbClr val="B87A1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5" name="Google Shape;455;p41"/>
          <p:cNvSpPr/>
          <p:nvPr/>
        </p:nvSpPr>
        <p:spPr>
          <a:xfrm>
            <a:off x="178308" y="2178510"/>
            <a:ext cx="3669000" cy="205800"/>
          </a:xfrm>
          <a:prstGeom prst="roundRect">
            <a:avLst>
              <a:gd fmla="val 32000" name="adj"/>
            </a:avLst>
          </a:prstGeom>
          <a:solidFill>
            <a:srgbClr val="0E8C9A"/>
          </a:solidFill>
          <a:ln>
            <a:noFill/>
          </a:ln>
        </p:spPr>
        <p:txBody>
          <a:bodyPr anchorCtr="0" anchor="ctr" bIns="0" lIns="68575" spcFirstLastPara="1" rIns="41150" wrap="square" tIns="0">
            <a:noAutofit/>
          </a:bodyPr>
          <a:lstStyle/>
          <a:p>
            <a:pPr indent="0" lvl="0" marL="0" marR="0" rtl="0" algn="l">
              <a:spcBef>
                <a:spcPts val="0"/>
              </a:spcBef>
              <a:spcAft>
                <a:spcPts val="0"/>
              </a:spcAft>
              <a:buNone/>
            </a:pPr>
            <a:r>
              <a:rPr b="1" i="0" lang="en-GB" sz="800">
                <a:solidFill>
                  <a:srgbClr val="FFFFFF"/>
                </a:solidFill>
                <a:latin typeface="Calibri"/>
                <a:ea typeface="Calibri"/>
                <a:cs typeface="Calibri"/>
                <a:sym typeface="Calibri"/>
              </a:rPr>
              <a:t>BENEFITS  ·  SOCIAL, ECONOMIC, ENVIRONMENTAL</a:t>
            </a:r>
            <a:endParaRPr sz="1100"/>
          </a:p>
        </p:txBody>
      </p:sp>
      <p:sp>
        <p:nvSpPr>
          <p:cNvPr id="456" name="Google Shape;456;p41"/>
          <p:cNvSpPr/>
          <p:nvPr/>
        </p:nvSpPr>
        <p:spPr>
          <a:xfrm>
            <a:off x="178300" y="2455176"/>
            <a:ext cx="5726400" cy="1256400"/>
          </a:xfrm>
          <a:prstGeom prst="rect">
            <a:avLst/>
          </a:prstGeom>
          <a:solidFill>
            <a:srgbClr val="EFF4F7"/>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7" name="Google Shape;457;p41"/>
          <p:cNvSpPr txBox="1"/>
          <p:nvPr/>
        </p:nvSpPr>
        <p:spPr>
          <a:xfrm>
            <a:off x="251996" y="2479096"/>
            <a:ext cx="2685000" cy="1170000"/>
          </a:xfrm>
          <a:prstGeom prst="rect">
            <a:avLst/>
          </a:prstGeom>
          <a:noFill/>
          <a:ln>
            <a:noFill/>
          </a:ln>
        </p:spPr>
        <p:txBody>
          <a:bodyPr anchorCtr="0" anchor="t" bIns="0" lIns="0" spcFirstLastPara="1" rIns="0" wrap="square" tIns="0">
            <a:spAutoFit/>
          </a:bodyPr>
          <a:lstStyle/>
          <a:p>
            <a:pPr indent="0" lvl="0" marL="0" marR="0" rtl="0" algn="l">
              <a:lnSpc>
                <a:spcPct val="94000"/>
              </a:lnSpc>
              <a:spcBef>
                <a:spcPts val="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Faster hazard assessment.</a:t>
            </a:r>
            <a:r>
              <a:rPr b="0" i="0" lang="en-GB" sz="800">
                <a:solidFill>
                  <a:srgbClr val="14202B"/>
                </a:solidFill>
                <a:latin typeface="Calibri"/>
                <a:ea typeface="Calibri"/>
                <a:cs typeface="Calibri"/>
                <a:sym typeface="Calibri"/>
              </a:rPr>
              <a:t>  One tool replaces the toggling the PS describes; the model and the instruments are already side by side.</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Verifiable, not decorative.</a:t>
            </a:r>
            <a:r>
              <a:rPr b="0" i="0" lang="en-GB" sz="800">
                <a:solidFill>
                  <a:srgbClr val="14202B"/>
                </a:solidFill>
                <a:latin typeface="Calibri"/>
                <a:ea typeface="Calibri"/>
                <a:cs typeface="Calibri"/>
                <a:sym typeface="Calibri"/>
              </a:rPr>
              <a:t>  Bias +0.026 degC and RMSE 0.602 degC over 11,718 matched pairs, with the analysis-fit caveat attached.</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Trust where it matters most.</a:t>
            </a:r>
            <a:r>
              <a:rPr b="0" i="0" lang="en-GB" sz="800">
                <a:solidFill>
                  <a:srgbClr val="14202B"/>
                </a:solidFill>
                <a:latin typeface="Calibri"/>
                <a:ea typeface="Calibri"/>
                <a:cs typeface="Calibri"/>
                <a:sym typeface="Calibri"/>
              </a:rPr>
              <a:t>  The model is within about 0.12 degC below 500 m and 2.07 degC across the thermocline at 50 to 100 m, which is exactly the layer a cyclone forecaster reads.</a:t>
            </a:r>
            <a:endParaRPr sz="1300"/>
          </a:p>
        </p:txBody>
      </p:sp>
      <p:sp>
        <p:nvSpPr>
          <p:cNvPr id="458" name="Google Shape;458;p41"/>
          <p:cNvSpPr txBox="1"/>
          <p:nvPr/>
        </p:nvSpPr>
        <p:spPr>
          <a:xfrm>
            <a:off x="3206115" y="2523744"/>
            <a:ext cx="2685000" cy="938400"/>
          </a:xfrm>
          <a:prstGeom prst="rect">
            <a:avLst/>
          </a:prstGeom>
          <a:noFill/>
          <a:ln>
            <a:noFill/>
          </a:ln>
        </p:spPr>
        <p:txBody>
          <a:bodyPr anchorCtr="0" anchor="t" bIns="0" lIns="0" spcFirstLastPara="1" rIns="0" wrap="square" tIns="0">
            <a:spAutoFit/>
          </a:bodyPr>
          <a:lstStyle/>
          <a:p>
            <a:pPr indent="0" lvl="0" marL="0" marR="0" rtl="0" algn="l">
              <a:lnSpc>
                <a:spcPct val="94000"/>
              </a:lnSpc>
              <a:spcBef>
                <a:spcPts val="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Zero licence cost.</a:t>
            </a:r>
            <a:r>
              <a:rPr b="0" i="0" lang="en-GB" sz="800">
                <a:solidFill>
                  <a:srgbClr val="14202B"/>
                </a:solidFill>
                <a:latin typeface="Calibri"/>
                <a:ea typeface="Calibri"/>
                <a:cs typeface="Calibri"/>
                <a:sym typeface="Calibri"/>
              </a:rPr>
              <a:t>  Fully open source against proprietary 3D suites; one deployment serves the nation.</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Resilient by design.</a:t>
            </a:r>
            <a:r>
              <a:rPr b="0" i="0" lang="en-GB" sz="800">
                <a:solidFill>
                  <a:srgbClr val="14202B"/>
                </a:solidFill>
                <a:latin typeface="Calibri"/>
                <a:ea typeface="Calibri"/>
                <a:cs typeface="Calibri"/>
                <a:sym typeface="Calibri"/>
              </a:rPr>
              <a:t>  Runs air-gapped, so a network failure at a control room or a nodal centre does not take the tool down.</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Wider access.</a:t>
            </a:r>
            <a:r>
              <a:rPr b="0" i="0" lang="en-GB" sz="800">
                <a:solidFill>
                  <a:srgbClr val="14202B"/>
                </a:solidFill>
                <a:latin typeface="Calibri"/>
                <a:ea typeface="Calibri"/>
                <a:cs typeface="Calibri"/>
                <a:sym typeface="Calibri"/>
              </a:rPr>
              <a:t>  A browser and, in the next phase, Indian-language voice widen who can interrogate the ocean beyond specialists.</a:t>
            </a:r>
            <a:endParaRPr sz="1300"/>
          </a:p>
        </p:txBody>
      </p:sp>
      <p:sp>
        <p:nvSpPr>
          <p:cNvPr id="459" name="Google Shape;459;p41"/>
          <p:cNvSpPr txBox="1"/>
          <p:nvPr/>
        </p:nvSpPr>
        <p:spPr>
          <a:xfrm>
            <a:off x="274320" y="3833622"/>
            <a:ext cx="41148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GB" sz="800">
                <a:solidFill>
                  <a:schemeClr val="lt1"/>
                </a:solidFill>
                <a:latin typeface="Calibri"/>
                <a:ea typeface="Calibri"/>
                <a:cs typeface="Calibri"/>
                <a:sym typeface="Calibri"/>
              </a:rPr>
              <a:t>WHAT CHANGES ON THE DAY IT MATTERS  ·  A DEPRESSION FORMS IN THE BAY</a:t>
            </a:r>
            <a:endParaRPr sz="1200">
              <a:solidFill>
                <a:schemeClr val="lt1"/>
              </a:solidFill>
            </a:endParaRPr>
          </a:p>
        </p:txBody>
      </p:sp>
      <p:sp>
        <p:nvSpPr>
          <p:cNvPr descr="Your startup LOGO" id="460" name="Google Shape;460;p41"/>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rtl="0" algn="l">
              <a:lnSpc>
                <a:spcPct val="95000"/>
              </a:lnSpc>
              <a:spcBef>
                <a:spcPts val="400"/>
              </a:spcBef>
              <a:spcAft>
                <a:spcPts val="0"/>
              </a:spcAft>
              <a:buClr>
                <a:schemeClr val="dk1"/>
              </a:buClr>
              <a:buFont typeface="Arial"/>
              <a:buNone/>
            </a:pPr>
            <a:r>
              <a:rPr b="1" lang="en-GB" sz="1100">
                <a:solidFill>
                  <a:srgbClr val="FF0000"/>
                </a:solidFill>
                <a:latin typeface="Calibri"/>
                <a:ea typeface="Calibri"/>
                <a:cs typeface="Calibri"/>
                <a:sym typeface="Calibri"/>
              </a:rPr>
              <a:t>Pixel</a:t>
            </a:r>
            <a:r>
              <a:rPr b="1" lang="en-GB" sz="1100">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461" name="Google Shape;461;p41"/>
          <p:cNvSpPr/>
          <p:nvPr/>
        </p:nvSpPr>
        <p:spPr>
          <a:xfrm>
            <a:off x="178300" y="3771900"/>
            <a:ext cx="8785200" cy="731400"/>
          </a:xfrm>
          <a:prstGeom prst="rect">
            <a:avLst/>
          </a:prstGeom>
          <a:solidFill>
            <a:srgbClr val="0070C0"/>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62" name="Google Shape;462;p41"/>
          <p:cNvSpPr txBox="1"/>
          <p:nvPr/>
        </p:nvSpPr>
        <p:spPr>
          <a:xfrm>
            <a:off x="274320" y="3833622"/>
            <a:ext cx="4114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chemeClr val="lt1"/>
                </a:solidFill>
                <a:latin typeface="Calibri"/>
                <a:ea typeface="Calibri"/>
                <a:cs typeface="Calibri"/>
                <a:sym typeface="Calibri"/>
              </a:rPr>
              <a:t>WHAT CHANGES ON THE DAY IT MATTERS  ·  A DEPRESSION FORMS IN THE BAY</a:t>
            </a:r>
            <a:endParaRPr b="0" i="0" sz="1200" u="none" cap="none" strike="noStrike">
              <a:solidFill>
                <a:schemeClr val="lt1"/>
              </a:solidFill>
              <a:latin typeface="Arial"/>
              <a:ea typeface="Arial"/>
              <a:cs typeface="Arial"/>
              <a:sym typeface="Arial"/>
            </a:endParaRPr>
          </a:p>
        </p:txBody>
      </p:sp>
      <p:sp>
        <p:nvSpPr>
          <p:cNvPr id="463" name="Google Shape;463;p41"/>
          <p:cNvSpPr/>
          <p:nvPr/>
        </p:nvSpPr>
        <p:spPr>
          <a:xfrm>
            <a:off x="274320" y="4011207"/>
            <a:ext cx="2210700" cy="658500"/>
          </a:xfrm>
          <a:prstGeom prst="chevron">
            <a:avLst>
              <a:gd fmla="val 50000" name="adj"/>
            </a:avLst>
          </a:prstGeom>
          <a:solidFill>
            <a:srgbClr val="1F4E79"/>
          </a:solidFill>
          <a:ln>
            <a:noFill/>
          </a:ln>
        </p:spPr>
        <p:txBody>
          <a:bodyPr anchorCtr="0" anchor="ctr" bIns="18275" lIns="91425"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1   SEE THE HEAT</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Switch to the depth of the </a:t>
            </a:r>
            <a:r>
              <a:rPr lang="en-GB" sz="800">
                <a:solidFill>
                  <a:srgbClr val="FFFFFF"/>
                </a:solidFill>
              </a:rPr>
              <a:t>26°C</a:t>
            </a:r>
            <a:r>
              <a:rPr b="0" i="0" lang="en-GB" sz="800" u="none" cap="none" strike="noStrike">
                <a:solidFill>
                  <a:srgbClr val="FFFFFF"/>
                </a:solidFill>
                <a:latin typeface="Arial"/>
                <a:ea typeface="Arial"/>
                <a:cs typeface="Arial"/>
                <a:sym typeface="Arial"/>
              </a:rPr>
              <a:t> isotherm, the layer a cyclone feeds on.</a:t>
            </a:r>
            <a:endParaRPr/>
          </a:p>
        </p:txBody>
      </p:sp>
      <p:sp>
        <p:nvSpPr>
          <p:cNvPr id="464" name="Google Shape;464;p41"/>
          <p:cNvSpPr/>
          <p:nvPr/>
        </p:nvSpPr>
        <p:spPr>
          <a:xfrm>
            <a:off x="2402586" y="4011207"/>
            <a:ext cx="2210700" cy="658500"/>
          </a:xfrm>
          <a:prstGeom prst="chevron">
            <a:avLst>
              <a:gd fmla="val 50000" name="adj"/>
            </a:avLst>
          </a:prstGeom>
          <a:solidFill>
            <a:srgbClr val="11777A"/>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2   CHECK THE MODEL</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The card says the field is </a:t>
            </a:r>
            <a:r>
              <a:rPr lang="en-GB" sz="800">
                <a:solidFill>
                  <a:srgbClr val="FFFFFF"/>
                </a:solidFill>
              </a:rPr>
              <a:t>2.07°C</a:t>
            </a:r>
            <a:r>
              <a:rPr b="0" i="0" lang="en-GB" sz="800" u="none" cap="none" strike="noStrike">
                <a:solidFill>
                  <a:srgbClr val="FFFFFF"/>
                </a:solidFill>
                <a:latin typeface="Arial"/>
                <a:ea typeface="Arial"/>
                <a:cs typeface="Arial"/>
                <a:sym typeface="Arial"/>
              </a:rPr>
              <a:t> off across 50 to 100 m.</a:t>
            </a:r>
            <a:endParaRPr/>
          </a:p>
        </p:txBody>
      </p:sp>
      <p:sp>
        <p:nvSpPr>
          <p:cNvPr id="465" name="Google Shape;465;p41"/>
          <p:cNvSpPr/>
          <p:nvPr/>
        </p:nvSpPr>
        <p:spPr>
          <a:xfrm>
            <a:off x="4530852" y="4011207"/>
            <a:ext cx="2210700" cy="658500"/>
          </a:xfrm>
          <a:prstGeom prst="chevron">
            <a:avLst>
              <a:gd fmla="val 50000" name="adj"/>
            </a:avLst>
          </a:prstGeom>
          <a:solidFill>
            <a:srgbClr val="11777A"/>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3   CONFIRM AGAINST THE WATER</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Click the nearest Argo float. Its measured profile against the model.</a:t>
            </a:r>
            <a:endParaRPr/>
          </a:p>
        </p:txBody>
      </p:sp>
      <p:sp>
        <p:nvSpPr>
          <p:cNvPr id="466" name="Google Shape;466;p41"/>
          <p:cNvSpPr/>
          <p:nvPr/>
        </p:nvSpPr>
        <p:spPr>
          <a:xfrm>
            <a:off x="6659118" y="4011207"/>
            <a:ext cx="2210700" cy="658500"/>
          </a:xfrm>
          <a:prstGeom prst="chevron">
            <a:avLst>
              <a:gd fmla="val 50000" name="adj"/>
            </a:avLst>
          </a:prstGeom>
          <a:solidFill>
            <a:srgbClr val="C03A2B"/>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4   PUT THE WARNING IN CONTEXT</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The CAP bulletin is drawn over the water it concerns. Network off.</a:t>
            </a:r>
            <a:endParaRPr/>
          </a:p>
        </p:txBody>
      </p:sp>
      <p:sp>
        <p:nvSpPr>
          <p:cNvPr id="467" name="Google Shape;467;p41"/>
          <p:cNvSpPr/>
          <p:nvPr/>
        </p:nvSpPr>
        <p:spPr>
          <a:xfrm>
            <a:off x="6392112" y="2208276"/>
            <a:ext cx="2263200" cy="2058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                   NATIONAL ALIGNMENT</a:t>
            </a:r>
            <a:endParaRPr b="0" i="0" sz="1100" u="none" cap="none" strike="noStrike">
              <a:solidFill>
                <a:srgbClr val="000000"/>
              </a:solidFill>
              <a:latin typeface="Arial"/>
              <a:ea typeface="Arial"/>
              <a:cs typeface="Arial"/>
              <a:sym typeface="Arial"/>
            </a:endParaRPr>
          </a:p>
        </p:txBody>
      </p:sp>
      <p:sp>
        <p:nvSpPr>
          <p:cNvPr id="468" name="Google Shape;468;p41"/>
          <p:cNvSpPr/>
          <p:nvPr/>
        </p:nvSpPr>
        <p:spPr>
          <a:xfrm>
            <a:off x="6083045" y="2455164"/>
            <a:ext cx="2880300" cy="1193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69" name="Google Shape;469;p41"/>
          <p:cNvSpPr/>
          <p:nvPr/>
        </p:nvSpPr>
        <p:spPr>
          <a:xfrm>
            <a:off x="6165341" y="253746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Digital India</a:t>
            </a:r>
            <a:endParaRPr b="0" i="0" sz="1300" u="none" cap="none" strike="noStrike">
              <a:solidFill>
                <a:srgbClr val="000000"/>
              </a:solidFill>
              <a:latin typeface="Arial"/>
              <a:ea typeface="Arial"/>
              <a:cs typeface="Arial"/>
              <a:sym typeface="Arial"/>
            </a:endParaRPr>
          </a:p>
        </p:txBody>
      </p:sp>
      <p:sp>
        <p:nvSpPr>
          <p:cNvPr id="470" name="Google Shape;470;p41"/>
          <p:cNvSpPr/>
          <p:nvPr/>
        </p:nvSpPr>
        <p:spPr>
          <a:xfrm>
            <a:off x="7564374" y="253746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Deep Ocean Mission</a:t>
            </a:r>
            <a:endParaRPr b="0" i="0" sz="1300" u="none" cap="none" strike="noStrike">
              <a:solidFill>
                <a:srgbClr val="000000"/>
              </a:solidFill>
              <a:latin typeface="Arial"/>
              <a:ea typeface="Arial"/>
              <a:cs typeface="Arial"/>
              <a:sym typeface="Arial"/>
            </a:endParaRPr>
          </a:p>
        </p:txBody>
      </p:sp>
      <p:sp>
        <p:nvSpPr>
          <p:cNvPr id="471" name="Google Shape;471;p41"/>
          <p:cNvSpPr/>
          <p:nvPr/>
        </p:nvSpPr>
        <p:spPr>
          <a:xfrm>
            <a:off x="6165341" y="281178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Blue Economy</a:t>
            </a:r>
            <a:endParaRPr b="0" i="0" sz="1300" u="none" cap="none" strike="noStrike">
              <a:solidFill>
                <a:srgbClr val="000000"/>
              </a:solidFill>
              <a:latin typeface="Arial"/>
              <a:ea typeface="Arial"/>
              <a:cs typeface="Arial"/>
              <a:sym typeface="Arial"/>
            </a:endParaRPr>
          </a:p>
        </p:txBody>
      </p:sp>
      <p:sp>
        <p:nvSpPr>
          <p:cNvPr id="472" name="Google Shape;472;p41"/>
          <p:cNvSpPr/>
          <p:nvPr/>
        </p:nvSpPr>
        <p:spPr>
          <a:xfrm>
            <a:off x="7564374" y="281178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SAGAR / MoES mandate</a:t>
            </a:r>
            <a:endParaRPr b="0" i="0" sz="1300" u="none" cap="none" strike="noStrike">
              <a:solidFill>
                <a:srgbClr val="000000"/>
              </a:solidFill>
              <a:latin typeface="Arial"/>
              <a:ea typeface="Arial"/>
              <a:cs typeface="Arial"/>
              <a:sym typeface="Arial"/>
            </a:endParaRPr>
          </a:p>
        </p:txBody>
      </p:sp>
      <p:sp>
        <p:nvSpPr>
          <p:cNvPr id="473" name="Google Shape;473;p41"/>
          <p:cNvSpPr/>
          <p:nvPr/>
        </p:nvSpPr>
        <p:spPr>
          <a:xfrm>
            <a:off x="6165341" y="308610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UN SDG 14: Life Below Water</a:t>
            </a:r>
            <a:endParaRPr b="0" i="0" sz="1300" u="none" cap="none" strike="noStrike">
              <a:solidFill>
                <a:srgbClr val="000000"/>
              </a:solidFill>
              <a:latin typeface="Arial"/>
              <a:ea typeface="Arial"/>
              <a:cs typeface="Arial"/>
              <a:sym typeface="Arial"/>
            </a:endParaRPr>
          </a:p>
        </p:txBody>
      </p:sp>
      <p:sp>
        <p:nvSpPr>
          <p:cNvPr id="474" name="Google Shape;474;p41"/>
          <p:cNvSpPr/>
          <p:nvPr/>
        </p:nvSpPr>
        <p:spPr>
          <a:xfrm>
            <a:off x="7564374" y="308610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Deployable on INCOIS infrastructure</a:t>
            </a:r>
            <a:endParaRPr b="0" i="0" sz="1100" u="none" cap="none" strike="noStrike">
              <a:solidFill>
                <a:srgbClr val="000000"/>
              </a:solidFill>
              <a:latin typeface="Arial"/>
              <a:ea typeface="Arial"/>
              <a:cs typeface="Arial"/>
              <a:sym typeface="Arial"/>
            </a:endParaRPr>
          </a:p>
        </p:txBody>
      </p:sp>
      <p:sp>
        <p:nvSpPr>
          <p:cNvPr id="475" name="Google Shape;475;p41"/>
          <p:cNvSpPr txBox="1"/>
          <p:nvPr/>
        </p:nvSpPr>
        <p:spPr>
          <a:xfrm>
            <a:off x="6165341" y="3362027"/>
            <a:ext cx="27159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556471"/>
                </a:solidFill>
                <a:latin typeface="Calibri"/>
                <a:ea typeface="Calibri"/>
                <a:cs typeface="Calibri"/>
                <a:sym typeface="Calibri"/>
              </a:rPr>
              <a:t>The PS is an internal INCOIS tooling request, so the deployment story is native rather than argued.</a:t>
            </a:r>
            <a:endParaRPr b="0" i="0" sz="1200" u="none" cap="none" strike="noStrike">
              <a:solidFill>
                <a:srgbClr val="000000"/>
              </a:solidFill>
              <a:latin typeface="Arial"/>
              <a:ea typeface="Arial"/>
              <a:cs typeface="Arial"/>
              <a:sym typeface="Arial"/>
            </a:endParaRPr>
          </a:p>
        </p:txBody>
      </p:sp>
      <p:sp>
        <p:nvSpPr>
          <p:cNvPr id="476" name="Google Shape;476;p41"/>
          <p:cNvSpPr/>
          <p:nvPr/>
        </p:nvSpPr>
        <p:spPr>
          <a:xfrm>
            <a:off x="178308"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77" name="Google Shape;477;p41"/>
          <p:cNvSpPr/>
          <p:nvPr/>
        </p:nvSpPr>
        <p:spPr>
          <a:xfrm>
            <a:off x="178308" y="1083564"/>
            <a:ext cx="1680300" cy="411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78" name="Google Shape;478;p41"/>
          <p:cNvSpPr txBox="1"/>
          <p:nvPr/>
        </p:nvSpPr>
        <p:spPr>
          <a:xfrm>
            <a:off x="253750" y="1193300"/>
            <a:ext cx="1604700" cy="5709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C44528"/>
                </a:solidFill>
                <a:latin typeface="Calibri"/>
                <a:ea typeface="Calibri"/>
                <a:cs typeface="Calibri"/>
                <a:sym typeface="Calibri"/>
              </a:rPr>
              <a:t>DISASTER MANAGERS</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1" i="0" lang="en-GB" sz="900" u="none" cap="none" strike="noStrike">
                <a:solidFill>
                  <a:srgbClr val="14202B"/>
                </a:solidFill>
                <a:latin typeface="Calibri"/>
                <a:ea typeface="Calibri"/>
                <a:cs typeface="Calibri"/>
                <a:sym typeface="Calibri"/>
              </a:rPr>
              <a:t>A tsunami or high-wave CAP bulletin becomes a shape on the water.</a:t>
            </a:r>
            <a:endParaRPr b="0" i="0" sz="1300" u="none" cap="none" strike="noStrike">
              <a:solidFill>
                <a:srgbClr val="000000"/>
              </a:solidFill>
              <a:latin typeface="Arial"/>
              <a:ea typeface="Arial"/>
              <a:cs typeface="Arial"/>
              <a:sym typeface="Arial"/>
            </a:endParaRPr>
          </a:p>
        </p:txBody>
      </p:sp>
      <p:sp>
        <p:nvSpPr>
          <p:cNvPr id="479" name="Google Shape;479;p41"/>
          <p:cNvSpPr/>
          <p:nvPr/>
        </p:nvSpPr>
        <p:spPr>
          <a:xfrm>
            <a:off x="1954530"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0" name="Google Shape;480;p41"/>
          <p:cNvSpPr/>
          <p:nvPr/>
        </p:nvSpPr>
        <p:spPr>
          <a:xfrm>
            <a:off x="1954530" y="1083564"/>
            <a:ext cx="1680300" cy="41100"/>
          </a:xfrm>
          <a:prstGeom prst="rect">
            <a:avLst/>
          </a:prstGeom>
          <a:solidFill>
            <a:srgbClr val="0B2E4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1" name="Google Shape;481;p41"/>
          <p:cNvSpPr txBox="1"/>
          <p:nvPr/>
        </p:nvSpPr>
        <p:spPr>
          <a:xfrm>
            <a:off x="2029968" y="1193292"/>
            <a:ext cx="1529400" cy="4404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0B2E4F"/>
                </a:solidFill>
                <a:latin typeface="Calibri"/>
                <a:ea typeface="Calibri"/>
                <a:cs typeface="Calibri"/>
                <a:sym typeface="Calibri"/>
              </a:rPr>
              <a:t>OPERATIONAL FORECASTERS</a:t>
            </a:r>
            <a:endParaRPr b="0"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“Can I trust today's field?” answered per depth band.</a:t>
            </a:r>
            <a:endParaRPr b="0" i="0" sz="1300" u="none" cap="none" strike="noStrike">
              <a:solidFill>
                <a:srgbClr val="000000"/>
              </a:solidFill>
              <a:latin typeface="Arial"/>
              <a:ea typeface="Arial"/>
              <a:cs typeface="Arial"/>
              <a:sym typeface="Arial"/>
            </a:endParaRPr>
          </a:p>
        </p:txBody>
      </p:sp>
      <p:sp>
        <p:nvSpPr>
          <p:cNvPr id="482" name="Google Shape;482;p41"/>
          <p:cNvSpPr/>
          <p:nvPr/>
        </p:nvSpPr>
        <p:spPr>
          <a:xfrm>
            <a:off x="3730752"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3" name="Google Shape;483;p41"/>
          <p:cNvSpPr/>
          <p:nvPr/>
        </p:nvSpPr>
        <p:spPr>
          <a:xfrm>
            <a:off x="3730752" y="1083564"/>
            <a:ext cx="1680300" cy="41100"/>
          </a:xfrm>
          <a:prstGeom prst="rect">
            <a:avLst/>
          </a:prstGeom>
          <a:solidFill>
            <a:srgbClr val="12688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4" name="Google Shape;484;p41"/>
          <p:cNvSpPr txBox="1"/>
          <p:nvPr/>
        </p:nvSpPr>
        <p:spPr>
          <a:xfrm>
            <a:off x="3806190" y="1193292"/>
            <a:ext cx="1529400" cy="4404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12688F"/>
                </a:solidFill>
                <a:latin typeface="Calibri"/>
                <a:ea typeface="Calibri"/>
                <a:cs typeface="Calibri"/>
                <a:sym typeface="Calibri"/>
              </a:rPr>
              <a:t>SEARCH AND RESCUE</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Depth-resolved currents, which is what a drifting object follows.</a:t>
            </a:r>
            <a:endParaRPr b="0" i="0" sz="1300" u="none" cap="none" strike="noStrike">
              <a:solidFill>
                <a:srgbClr val="000000"/>
              </a:solidFill>
              <a:latin typeface="Arial"/>
              <a:ea typeface="Arial"/>
              <a:cs typeface="Arial"/>
              <a:sym typeface="Arial"/>
            </a:endParaRPr>
          </a:p>
        </p:txBody>
      </p:sp>
      <p:sp>
        <p:nvSpPr>
          <p:cNvPr id="485" name="Google Shape;485;p41"/>
          <p:cNvSpPr/>
          <p:nvPr/>
        </p:nvSpPr>
        <p:spPr>
          <a:xfrm>
            <a:off x="5506974"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6" name="Google Shape;486;p41"/>
          <p:cNvSpPr/>
          <p:nvPr/>
        </p:nvSpPr>
        <p:spPr>
          <a:xfrm>
            <a:off x="5506974" y="1083564"/>
            <a:ext cx="1680300" cy="411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7" name="Google Shape;487;p41"/>
          <p:cNvSpPr txBox="1"/>
          <p:nvPr/>
        </p:nvSpPr>
        <p:spPr>
          <a:xfrm>
            <a:off x="5582412" y="1193292"/>
            <a:ext cx="1529400" cy="5709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0E8C9A"/>
                </a:solidFill>
                <a:latin typeface="Calibri"/>
                <a:ea typeface="Calibri"/>
                <a:cs typeface="Calibri"/>
                <a:sym typeface="Calibri"/>
              </a:rPr>
              <a:t>FISHERY ADVISORIES</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Subsurface temperature behind advisories reaching ~9 lakh households.</a:t>
            </a:r>
            <a:endParaRPr b="0" i="0" sz="1300" u="none" cap="none" strike="noStrike">
              <a:solidFill>
                <a:srgbClr val="000000"/>
              </a:solidFill>
              <a:latin typeface="Arial"/>
              <a:ea typeface="Arial"/>
              <a:cs typeface="Arial"/>
              <a:sym typeface="Arial"/>
            </a:endParaRPr>
          </a:p>
        </p:txBody>
      </p:sp>
      <p:sp>
        <p:nvSpPr>
          <p:cNvPr id="488" name="Google Shape;488;p41"/>
          <p:cNvSpPr/>
          <p:nvPr/>
        </p:nvSpPr>
        <p:spPr>
          <a:xfrm>
            <a:off x="7283196"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89" name="Google Shape;489;p41"/>
          <p:cNvSpPr/>
          <p:nvPr/>
        </p:nvSpPr>
        <p:spPr>
          <a:xfrm>
            <a:off x="7283196" y="1083564"/>
            <a:ext cx="1680300" cy="41100"/>
          </a:xfrm>
          <a:prstGeom prst="rect">
            <a:avLst/>
          </a:prstGeom>
          <a:solidFill>
            <a:srgbClr val="B87A1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90" name="Google Shape;490;p41"/>
          <p:cNvSpPr txBox="1"/>
          <p:nvPr/>
        </p:nvSpPr>
        <p:spPr>
          <a:xfrm>
            <a:off x="7358634" y="1193292"/>
            <a:ext cx="1529400" cy="5820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B87A1F"/>
                </a:solidFill>
                <a:latin typeface="Calibri"/>
                <a:ea typeface="Calibri"/>
                <a:cs typeface="Calibri"/>
                <a:sym typeface="Calibri"/>
              </a:rPr>
              <a:t>RESEARCH, EDUCATION, OUTREACH</a:t>
            </a:r>
            <a:endParaRPr b="0"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Guided tours narrate the ocean for schools and exhibitions.</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496" name="Google Shape;496;p42"/>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GODAE OceanView Class 4 verification Ryan 2015 Wong 2020 Argo quality control TEOS-10 equation of seawater Qin 2021 Yu 2025 Argovis pyParaOcean Signell 2019 CF Conventions OASIS CAP v1.2 interoperability national international ocean data portals</a:t>
            </a:r>
            <a:endParaRPr/>
          </a:p>
        </p:txBody>
      </p:sp>
      <p:sp>
        <p:nvSpPr>
          <p:cNvPr id="497" name="Google Shape;497;p42"/>
          <p:cNvSpPr/>
          <p:nvPr/>
        </p:nvSpPr>
        <p:spPr>
          <a:xfrm>
            <a:off x="0" y="4869575"/>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rPr/>
              <a:t/>
            </a:r>
            <a:endParaRPr b="0" i="0" sz="1400" u="none" cap="none" strike="noStrike">
              <a:solidFill>
                <a:srgbClr val="953734"/>
              </a:solidFill>
              <a:latin typeface="Calibri"/>
              <a:ea typeface="Calibri"/>
              <a:cs typeface="Calibri"/>
              <a:sym typeface="Calibri"/>
            </a:endParaRPr>
          </a:p>
        </p:txBody>
      </p:sp>
      <p:sp>
        <p:nvSpPr>
          <p:cNvPr id="498" name="Google Shape;498;p42"/>
          <p:cNvSpPr txBox="1"/>
          <p:nvPr>
            <p:ph type="title"/>
          </p:nvPr>
        </p:nvSpPr>
        <p:spPr>
          <a:xfrm>
            <a:off x="929088" y="59998"/>
            <a:ext cx="7338000" cy="630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2000">
                <a:solidFill>
                  <a:srgbClr val="0B2E4F"/>
                </a:solidFill>
                <a:latin typeface="Times New Roman"/>
                <a:ea typeface="Times New Roman"/>
                <a:cs typeface="Times New Roman"/>
                <a:sym typeface="Times New Roman"/>
              </a:rPr>
              <a:t>RESEARCH AND REFERENCES</a:t>
            </a:r>
            <a:endParaRPr b="1" sz="1100"/>
          </a:p>
        </p:txBody>
      </p:sp>
      <p:sp>
        <p:nvSpPr>
          <p:cNvPr id="499" name="Google Shape;499;p42"/>
          <p:cNvSpPr txBox="1"/>
          <p:nvPr>
            <p:ph idx="12" type="sldNum"/>
          </p:nvPr>
        </p:nvSpPr>
        <p:spPr>
          <a:xfrm>
            <a:off x="6553200" y="4867347"/>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500" name="Google Shape;500;p42"/>
          <p:cNvSpPr txBox="1"/>
          <p:nvPr>
            <p:ph idx="11" type="ftr"/>
          </p:nvPr>
        </p:nvSpPr>
        <p:spPr>
          <a:xfrm>
            <a:off x="3396599" y="4846738"/>
            <a:ext cx="2403000" cy="2739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sz="700">
                <a:solidFill>
                  <a:srgbClr val="FFFFFF"/>
                </a:solidFill>
                <a:latin typeface="Calibri"/>
                <a:ea typeface="Calibri"/>
                <a:cs typeface="Calibri"/>
                <a:sym typeface="Calibri"/>
              </a:rPr>
              <a:t>SagarDrishti  ·  PS SIH26067  ·  @SIH Idea Submission</a:t>
            </a:r>
            <a:endParaRPr b="0" i="0" sz="900" u="none" cap="none" strike="noStrike">
              <a:solidFill>
                <a:srgbClr val="FFFFFF"/>
              </a:solidFill>
              <a:latin typeface="Oswald"/>
              <a:ea typeface="Oswald"/>
              <a:cs typeface="Oswald"/>
              <a:sym typeface="Oswald"/>
            </a:endParaRPr>
          </a:p>
        </p:txBody>
      </p:sp>
      <p:pic>
        <p:nvPicPr>
          <p:cNvPr id="501" name="Google Shape;501;p42"/>
          <p:cNvPicPr preferRelativeResize="0"/>
          <p:nvPr/>
        </p:nvPicPr>
        <p:blipFill rotWithShape="1">
          <a:blip r:embed="rId3">
            <a:alphaModFix/>
          </a:blip>
          <a:srcRect b="0" l="0" r="0" t="0"/>
          <a:stretch/>
        </p:blipFill>
        <p:spPr>
          <a:xfrm>
            <a:off x="7813772" y="-6708"/>
            <a:ext cx="1282120" cy="605400"/>
          </a:xfrm>
          <a:prstGeom prst="rect">
            <a:avLst/>
          </a:prstGeom>
          <a:noFill/>
          <a:ln>
            <a:noFill/>
          </a:ln>
        </p:spPr>
      </p:pic>
      <p:sp>
        <p:nvSpPr>
          <p:cNvPr id="502" name="Google Shape;502;p42"/>
          <p:cNvSpPr/>
          <p:nvPr/>
        </p:nvSpPr>
        <p:spPr>
          <a:xfrm>
            <a:off x="188775" y="798057"/>
            <a:ext cx="3497700" cy="2058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DETAILS AND LINKS OF THE REFERENCE AND RESEARCH WORK</a:t>
            </a:r>
            <a:endParaRPr b="0" i="0" sz="1100" u="none" cap="none" strike="noStrike">
              <a:solidFill>
                <a:srgbClr val="000000"/>
              </a:solidFill>
              <a:latin typeface="Arial"/>
              <a:ea typeface="Arial"/>
              <a:cs typeface="Arial"/>
              <a:sym typeface="Arial"/>
            </a:endParaRPr>
          </a:p>
        </p:txBody>
      </p:sp>
      <p:sp>
        <p:nvSpPr>
          <p:cNvPr id="503" name="Google Shape;503;p42"/>
          <p:cNvSpPr txBox="1"/>
          <p:nvPr/>
        </p:nvSpPr>
        <p:spPr>
          <a:xfrm>
            <a:off x="178308" y="1110996"/>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E8C9A"/>
                </a:solidFill>
                <a:latin typeface="Calibri"/>
                <a:ea typeface="Calibri"/>
                <a:cs typeface="Calibri"/>
                <a:sym typeface="Calibri"/>
              </a:rPr>
              <a:t>METHOD AND VERIFICATION</a:t>
            </a:r>
            <a:endParaRPr b="0" i="0" sz="1300" u="none" cap="none" strike="noStrike">
              <a:solidFill>
                <a:srgbClr val="000000"/>
              </a:solidFill>
              <a:latin typeface="Arial"/>
              <a:ea typeface="Arial"/>
              <a:cs typeface="Arial"/>
              <a:sym typeface="Arial"/>
            </a:endParaRPr>
          </a:p>
        </p:txBody>
      </p:sp>
      <p:sp>
        <p:nvSpPr>
          <p:cNvPr id="504" name="Google Shape;504;p42"/>
          <p:cNvSpPr txBox="1"/>
          <p:nvPr/>
        </p:nvSpPr>
        <p:spPr>
          <a:xfrm>
            <a:off x="178308" y="1241298"/>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[1] </a:t>
            </a:r>
            <a:r>
              <a:rPr b="0" i="0" lang="en-GB" sz="800" u="sng" cap="none" strike="noStrike">
                <a:solidFill>
                  <a:schemeClr val="hlink"/>
                </a:solidFill>
                <a:latin typeface="Calibri"/>
                <a:ea typeface="Calibri"/>
                <a:cs typeface="Calibri"/>
                <a:sym typeface="Calibri"/>
                <a:hlinkClick r:id="rId4"/>
              </a:rPr>
              <a:t>Ryan et al. 2015: GODAE OceanView Class 4 verification, J. Op. Oceanogr. 8</a:t>
            </a:r>
            <a:r>
              <a:rPr b="0" i="1" lang="en-GB" sz="800" u="none" cap="none" strike="noStrike">
                <a:solidFill>
                  <a:srgbClr val="556471"/>
                </a:solidFill>
                <a:latin typeface="Calibri"/>
                <a:ea typeface="Calibri"/>
                <a:cs typeface="Calibri"/>
                <a:sym typeface="Calibri"/>
              </a:rPr>
              <a:t>   ·  the method behind our scorecard</a:t>
            </a:r>
            <a:endParaRPr b="0" i="0" sz="1300" u="none" cap="none" strike="noStrike">
              <a:solidFill>
                <a:srgbClr val="000000"/>
              </a:solidFill>
              <a:latin typeface="Arial"/>
              <a:ea typeface="Arial"/>
              <a:cs typeface="Arial"/>
              <a:sym typeface="Arial"/>
            </a:endParaRPr>
          </a:p>
        </p:txBody>
      </p:sp>
      <p:sp>
        <p:nvSpPr>
          <p:cNvPr id="505" name="Google Shape;505;p42"/>
          <p:cNvSpPr txBox="1"/>
          <p:nvPr/>
        </p:nvSpPr>
        <p:spPr>
          <a:xfrm>
            <a:off x="178308" y="134965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[2] </a:t>
            </a:r>
            <a:r>
              <a:rPr b="0" i="0" lang="en-GB" sz="800" u="sng" cap="none" strike="noStrike">
                <a:solidFill>
                  <a:schemeClr val="hlink"/>
                </a:solidFill>
                <a:latin typeface="Calibri"/>
                <a:ea typeface="Calibri"/>
                <a:cs typeface="Calibri"/>
                <a:sym typeface="Calibri"/>
                <a:hlinkClick r:id="rId5"/>
              </a:rPr>
              <a:t>Wong et al. 2020: Argo data and its QC flags, Front. Mar. Sci. 7:700</a:t>
            </a:r>
            <a:r>
              <a:rPr b="0" i="1" lang="en-GB" sz="800" u="none" cap="none" strike="noStrike">
                <a:solidFill>
                  <a:srgbClr val="556471"/>
                </a:solidFill>
                <a:latin typeface="Calibri"/>
                <a:ea typeface="Calibri"/>
                <a:cs typeface="Calibri"/>
                <a:sym typeface="Calibri"/>
              </a:rPr>
              <a:t>   ·  why we keep only flags 1 and 2</a:t>
            </a:r>
            <a:endParaRPr b="0" i="0" sz="1300" u="none" cap="none" strike="noStrike">
              <a:solidFill>
                <a:srgbClr val="000000"/>
              </a:solidFill>
              <a:latin typeface="Arial"/>
              <a:ea typeface="Arial"/>
              <a:cs typeface="Arial"/>
              <a:sym typeface="Arial"/>
            </a:endParaRPr>
          </a:p>
        </p:txBody>
      </p:sp>
      <p:sp>
        <p:nvSpPr>
          <p:cNvPr id="506" name="Google Shape;506;p42"/>
          <p:cNvSpPr txBox="1"/>
          <p:nvPr/>
        </p:nvSpPr>
        <p:spPr>
          <a:xfrm>
            <a:off x="178308" y="1458011"/>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[3] </a:t>
            </a:r>
            <a:r>
              <a:rPr b="0" i="0" lang="en-GB" sz="800" u="sng" cap="none" strike="noStrike">
                <a:solidFill>
                  <a:schemeClr val="hlink"/>
                </a:solidFill>
                <a:latin typeface="Calibri"/>
                <a:ea typeface="Calibri"/>
                <a:cs typeface="Calibri"/>
                <a:sym typeface="Calibri"/>
                <a:hlinkClick r:id="rId6"/>
              </a:rPr>
              <a:t>IOC, SCOR, IAPSO: TEOS-10 thermodynamic equation of seawater</a:t>
            </a:r>
            <a:r>
              <a:rPr b="0" i="1" lang="en-GB" sz="800" u="none" cap="none" strike="noStrike">
                <a:solidFill>
                  <a:srgbClr val="556471"/>
                </a:solidFill>
                <a:latin typeface="Calibri"/>
                <a:ea typeface="Calibri"/>
                <a:cs typeface="Calibri"/>
                <a:sym typeface="Calibri"/>
              </a:rPr>
              <a:t>   ·  our density field</a:t>
            </a:r>
            <a:endParaRPr b="0" i="0" sz="1300" u="none" cap="none" strike="noStrike">
              <a:solidFill>
                <a:srgbClr val="000000"/>
              </a:solidFill>
              <a:latin typeface="Arial"/>
              <a:ea typeface="Arial"/>
              <a:cs typeface="Arial"/>
              <a:sym typeface="Arial"/>
            </a:endParaRPr>
          </a:p>
        </p:txBody>
      </p:sp>
      <p:sp>
        <p:nvSpPr>
          <p:cNvPr id="507" name="Google Shape;507;p42"/>
          <p:cNvSpPr txBox="1"/>
          <p:nvPr/>
        </p:nvSpPr>
        <p:spPr>
          <a:xfrm>
            <a:off x="178308" y="1566367"/>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[4] </a:t>
            </a:r>
            <a:r>
              <a:rPr b="0" i="0" lang="en-GB" sz="800" u="sng" cap="none" strike="noStrike">
                <a:solidFill>
                  <a:schemeClr val="hlink"/>
                </a:solidFill>
                <a:latin typeface="Calibri"/>
                <a:ea typeface="Calibri"/>
                <a:cs typeface="Calibri"/>
                <a:sym typeface="Calibri"/>
                <a:hlinkClick r:id="rId7"/>
              </a:rPr>
              <a:t>Balakrishnan Nair et al. 2013: INCOIS Ocean State Forecast validation, Current Science 105(2)</a:t>
            </a:r>
            <a:r>
              <a:rPr b="0" i="1" lang="en-GB" sz="800" u="none" cap="none" strike="noStrike">
                <a:solidFill>
                  <a:srgbClr val="556471"/>
                </a:solidFill>
                <a:latin typeface="Calibri"/>
                <a:ea typeface="Calibri"/>
                <a:cs typeface="Calibri"/>
                <a:sym typeface="Calibri"/>
              </a:rPr>
              <a:t>   ·  the Indian validation precedent</a:t>
            </a:r>
            <a:endParaRPr b="0" i="0" sz="1300" u="none" cap="none" strike="noStrike">
              <a:solidFill>
                <a:srgbClr val="000000"/>
              </a:solidFill>
              <a:latin typeface="Arial"/>
              <a:ea typeface="Arial"/>
              <a:cs typeface="Arial"/>
              <a:sym typeface="Arial"/>
            </a:endParaRPr>
          </a:p>
        </p:txBody>
      </p:sp>
      <p:sp>
        <p:nvSpPr>
          <p:cNvPr id="508" name="Google Shape;508;p42"/>
          <p:cNvSpPr txBox="1"/>
          <p:nvPr/>
        </p:nvSpPr>
        <p:spPr>
          <a:xfrm>
            <a:off x="178308" y="1753590"/>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12688F"/>
                </a:solidFill>
                <a:latin typeface="Calibri"/>
                <a:ea typeface="Calibri"/>
                <a:cs typeface="Calibri"/>
                <a:sym typeface="Calibri"/>
              </a:rPr>
              <a:t>WEB 3D OCEAN VISUALISATION</a:t>
            </a:r>
            <a:endParaRPr b="0" i="0" sz="1300" u="none" cap="none" strike="noStrike">
              <a:solidFill>
                <a:srgbClr val="000000"/>
              </a:solidFill>
              <a:latin typeface="Arial"/>
              <a:ea typeface="Arial"/>
              <a:cs typeface="Arial"/>
              <a:sym typeface="Arial"/>
            </a:endParaRPr>
          </a:p>
        </p:txBody>
      </p:sp>
      <p:sp>
        <p:nvSpPr>
          <p:cNvPr id="509" name="Google Shape;509;p42"/>
          <p:cNvSpPr txBox="1"/>
          <p:nvPr/>
        </p:nvSpPr>
        <p:spPr>
          <a:xfrm>
            <a:off x="178308" y="1883892"/>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[5] </a:t>
            </a:r>
            <a:r>
              <a:rPr b="0" i="0" lang="en-GB" sz="800" u="sng" cap="none" strike="noStrike">
                <a:solidFill>
                  <a:schemeClr val="hlink"/>
                </a:solidFill>
                <a:latin typeface="Calibri"/>
                <a:ea typeface="Calibri"/>
                <a:cs typeface="Calibri"/>
                <a:sym typeface="Calibri"/>
                <a:hlinkClick r:id="rId8"/>
              </a:rPr>
              <a:t>Qin et al. 2021: Web 3D framework for time-varying ocean forecast data, Env. Modelling &amp; Software 135</a:t>
            </a:r>
            <a:r>
              <a:rPr b="0" i="1" lang="en-GB" sz="800" u="none" cap="none" strike="noStrike">
                <a:solidFill>
                  <a:srgbClr val="556471"/>
                </a:solidFill>
                <a:latin typeface="Calibri"/>
                <a:ea typeface="Calibri"/>
                <a:cs typeface="Calibri"/>
                <a:sym typeface="Calibri"/>
              </a:rPr>
              <a:t>   ·  the closest ancestor</a:t>
            </a:r>
            <a:endParaRPr b="0" i="0" sz="1300" u="none" cap="none" strike="noStrike">
              <a:solidFill>
                <a:srgbClr val="000000"/>
              </a:solidFill>
              <a:latin typeface="Arial"/>
              <a:ea typeface="Arial"/>
              <a:cs typeface="Arial"/>
              <a:sym typeface="Arial"/>
            </a:endParaRPr>
          </a:p>
        </p:txBody>
      </p:sp>
      <p:sp>
        <p:nvSpPr>
          <p:cNvPr id="510" name="Google Shape;510;p42"/>
          <p:cNvSpPr txBox="1"/>
          <p:nvPr/>
        </p:nvSpPr>
        <p:spPr>
          <a:xfrm>
            <a:off x="178308" y="199224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[6] </a:t>
            </a:r>
            <a:r>
              <a:rPr b="0" i="0" lang="en-GB" sz="800" u="sng" cap="none" strike="noStrike">
                <a:solidFill>
                  <a:schemeClr val="hlink"/>
                </a:solidFill>
                <a:latin typeface="Calibri"/>
                <a:ea typeface="Calibri"/>
                <a:cs typeface="Calibri"/>
                <a:sym typeface="Calibri"/>
                <a:hlinkClick r:id="rId9"/>
              </a:rPr>
              <a:t>Yu, Qin &amp; Xu 2025: WebGPU volume rendering of ocean scalars, Applied Sciences 15(5):2782</a:t>
            </a:r>
            <a:r>
              <a:rPr b="0" i="1" lang="en-GB" sz="800" u="none" cap="none" strike="noStrike">
                <a:solidFill>
                  <a:srgbClr val="556471"/>
                </a:solidFill>
                <a:latin typeface="Calibri"/>
                <a:ea typeface="Calibri"/>
                <a:cs typeface="Calibri"/>
                <a:sym typeface="Calibri"/>
              </a:rPr>
              <a:t>   ·  our rendering optimisations</a:t>
            </a:r>
            <a:endParaRPr b="0" i="0" sz="1300" u="none" cap="none" strike="noStrike">
              <a:solidFill>
                <a:srgbClr val="000000"/>
              </a:solidFill>
              <a:latin typeface="Arial"/>
              <a:ea typeface="Arial"/>
              <a:cs typeface="Arial"/>
              <a:sym typeface="Arial"/>
            </a:endParaRPr>
          </a:p>
        </p:txBody>
      </p:sp>
      <p:sp>
        <p:nvSpPr>
          <p:cNvPr id="511" name="Google Shape;511;p42"/>
          <p:cNvSpPr txBox="1"/>
          <p:nvPr/>
        </p:nvSpPr>
        <p:spPr>
          <a:xfrm>
            <a:off x="178308" y="2100605"/>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[7] </a:t>
            </a:r>
            <a:r>
              <a:rPr b="0" i="0" lang="en-GB" sz="800" u="sng" cap="none" strike="noStrike">
                <a:solidFill>
                  <a:schemeClr val="hlink"/>
                </a:solidFill>
                <a:latin typeface="Calibri"/>
                <a:ea typeface="Calibri"/>
                <a:cs typeface="Calibri"/>
                <a:sym typeface="Calibri"/>
                <a:hlinkClick r:id="rId10"/>
              </a:rPr>
              <a:t>Tucker et al. 2020: Argovis, J. Atmos. Ocean. Tech. 37(3):401</a:t>
            </a:r>
            <a:r>
              <a:rPr b="0" i="1" lang="en-GB" sz="800" u="none" cap="none" strike="noStrike">
                <a:solidFill>
                  <a:srgbClr val="556471"/>
                </a:solidFill>
                <a:latin typeface="Calibri"/>
                <a:ea typeface="Calibri"/>
                <a:cs typeface="Calibri"/>
                <a:sym typeface="Calibri"/>
              </a:rPr>
              <a:t>   ·  the API contract we follow</a:t>
            </a:r>
            <a:endParaRPr b="0" i="0" sz="1300" u="none" cap="none" strike="noStrike">
              <a:solidFill>
                <a:srgbClr val="000000"/>
              </a:solidFill>
              <a:latin typeface="Arial"/>
              <a:ea typeface="Arial"/>
              <a:cs typeface="Arial"/>
              <a:sym typeface="Arial"/>
            </a:endParaRPr>
          </a:p>
        </p:txBody>
      </p:sp>
      <p:sp>
        <p:nvSpPr>
          <p:cNvPr id="512" name="Google Shape;512;p42"/>
          <p:cNvSpPr txBox="1"/>
          <p:nvPr/>
        </p:nvSpPr>
        <p:spPr>
          <a:xfrm>
            <a:off x="178308" y="2208962"/>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[8] </a:t>
            </a:r>
            <a:r>
              <a:rPr b="0" i="0" lang="en-GB" sz="800" u="sng" cap="none" strike="noStrike">
                <a:solidFill>
                  <a:schemeClr val="hlink"/>
                </a:solidFill>
                <a:latin typeface="Calibri"/>
                <a:ea typeface="Calibri"/>
                <a:cs typeface="Calibri"/>
                <a:sym typeface="Calibri"/>
                <a:hlinkClick r:id="rId11"/>
              </a:rPr>
              <a:t>Blower et al. 2013: ncWMS, Env. Modelling &amp; Software 47</a:t>
            </a:r>
            <a:r>
              <a:rPr b="0" i="1" lang="en-GB" sz="800" u="none" cap="none" strike="noStrike">
                <a:solidFill>
                  <a:srgbClr val="556471"/>
                </a:solidFill>
                <a:latin typeface="Calibri"/>
                <a:ea typeface="Calibri"/>
                <a:cs typeface="Calibri"/>
                <a:sym typeface="Calibri"/>
              </a:rPr>
              <a:t>   ·  OGC WMS over CF-NetCDF</a:t>
            </a:r>
            <a:endParaRPr b="0" i="0" sz="1300" u="none" cap="none" strike="noStrike">
              <a:solidFill>
                <a:srgbClr val="000000"/>
              </a:solidFill>
              <a:latin typeface="Arial"/>
              <a:ea typeface="Arial"/>
              <a:cs typeface="Arial"/>
              <a:sym typeface="Arial"/>
            </a:endParaRPr>
          </a:p>
        </p:txBody>
      </p:sp>
      <p:sp>
        <p:nvSpPr>
          <p:cNvPr id="513" name="Google Shape;513;p42"/>
          <p:cNvSpPr txBox="1"/>
          <p:nvPr/>
        </p:nvSpPr>
        <p:spPr>
          <a:xfrm>
            <a:off x="178308" y="2317318"/>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[9] </a:t>
            </a:r>
            <a:r>
              <a:rPr b="0" i="0" lang="en-GB" sz="800" u="sng" cap="none" strike="noStrike">
                <a:solidFill>
                  <a:schemeClr val="hlink"/>
                </a:solidFill>
                <a:latin typeface="Calibri"/>
                <a:ea typeface="Calibri"/>
                <a:cs typeface="Calibri"/>
                <a:sym typeface="Calibri"/>
                <a:hlinkClick r:id="rId12"/>
              </a:rPr>
              <a:t>Signell &amp; Pothina 2019: Cloud coastal model analysis, JMSE 7(4):110</a:t>
            </a:r>
            <a:r>
              <a:rPr b="0" i="1" lang="en-GB" sz="800" u="none" cap="none" strike="noStrike">
                <a:solidFill>
                  <a:srgbClr val="556471"/>
                </a:solidFill>
                <a:latin typeface="Calibri"/>
                <a:ea typeface="Calibri"/>
                <a:cs typeface="Calibri"/>
                <a:sym typeface="Calibri"/>
              </a:rPr>
              <a:t>   ·  why Zarr rather than whole NetCDF files</a:t>
            </a:r>
            <a:endParaRPr b="0" i="0" sz="1300" u="none" cap="none" strike="noStrike">
              <a:solidFill>
                <a:srgbClr val="000000"/>
              </a:solidFill>
              <a:latin typeface="Arial"/>
              <a:ea typeface="Arial"/>
              <a:cs typeface="Arial"/>
              <a:sym typeface="Arial"/>
            </a:endParaRPr>
          </a:p>
        </p:txBody>
      </p:sp>
      <p:sp>
        <p:nvSpPr>
          <p:cNvPr id="514" name="Google Shape;514;p42"/>
          <p:cNvSpPr txBox="1"/>
          <p:nvPr/>
        </p:nvSpPr>
        <p:spPr>
          <a:xfrm>
            <a:off x="178308" y="242567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[10] </a:t>
            </a:r>
            <a:r>
              <a:rPr b="0" i="0" lang="en-GB" sz="800" u="sng" cap="none" strike="noStrike">
                <a:solidFill>
                  <a:schemeClr val="hlink"/>
                </a:solidFill>
                <a:latin typeface="Calibri"/>
                <a:ea typeface="Calibri"/>
                <a:cs typeface="Calibri"/>
                <a:sym typeface="Calibri"/>
                <a:hlinkClick r:id="rId13"/>
              </a:rPr>
              <a:t>pyParaOcean (IISc): desktop ocean volumetrics we bring to the browser</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5" name="Google Shape;515;p42"/>
          <p:cNvSpPr txBox="1"/>
          <p:nvPr/>
        </p:nvSpPr>
        <p:spPr>
          <a:xfrm>
            <a:off x="178308" y="2612897"/>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0B2E4F"/>
                </a:solidFill>
                <a:latin typeface="Calibri"/>
                <a:ea typeface="Calibri"/>
                <a:cs typeface="Calibri"/>
                <a:sym typeface="Calibri"/>
              </a:rPr>
              <a:t>DATA SOURCES WE INGEST</a:t>
            </a:r>
            <a:endParaRPr b="0" i="0" sz="1300" u="none" cap="none" strike="noStrike">
              <a:solidFill>
                <a:srgbClr val="000000"/>
              </a:solidFill>
              <a:latin typeface="Arial"/>
              <a:ea typeface="Arial"/>
              <a:cs typeface="Arial"/>
              <a:sym typeface="Arial"/>
            </a:endParaRPr>
          </a:p>
        </p:txBody>
      </p:sp>
      <p:sp>
        <p:nvSpPr>
          <p:cNvPr id="516" name="Google Shape;516;p42"/>
          <p:cNvSpPr txBox="1"/>
          <p:nvPr/>
        </p:nvSpPr>
        <p:spPr>
          <a:xfrm>
            <a:off x="178308" y="274319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[11] </a:t>
            </a:r>
            <a:r>
              <a:rPr b="0" i="0" lang="en-GB" sz="800" u="sng" cap="none" strike="noStrike">
                <a:solidFill>
                  <a:schemeClr val="hlink"/>
                </a:solidFill>
                <a:latin typeface="Calibri"/>
                <a:ea typeface="Calibri"/>
                <a:cs typeface="Calibri"/>
                <a:sym typeface="Calibri"/>
                <a:hlinkClick r:id="rId14"/>
              </a:rPr>
              <a:t>INCOIS ERDDAP: the analysis field, 24 levels, 5 to 2000 m</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7" name="Google Shape;517;p42"/>
          <p:cNvSpPr txBox="1"/>
          <p:nvPr/>
        </p:nvSpPr>
        <p:spPr>
          <a:xfrm>
            <a:off x="178308" y="2851556"/>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[12] </a:t>
            </a:r>
            <a:r>
              <a:rPr b="0" i="0" lang="en-GB" sz="800" u="sng" cap="none" strike="noStrike">
                <a:solidFill>
                  <a:schemeClr val="hlink"/>
                </a:solidFill>
                <a:latin typeface="Calibri"/>
                <a:ea typeface="Calibri"/>
                <a:cs typeface="Calibri"/>
                <a:sym typeface="Calibri"/>
                <a:hlinkClick r:id="rId15"/>
              </a:rPr>
              <a:t>Argo GDAC (Ifremer): Indian Ocean profile files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8" name="Google Shape;518;p42"/>
          <p:cNvSpPr txBox="1"/>
          <p:nvPr/>
        </p:nvSpPr>
        <p:spPr>
          <a:xfrm>
            <a:off x="178308" y="2959913"/>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[13] </a:t>
            </a:r>
            <a:r>
              <a:rPr b="0" i="0" lang="en-GB" sz="800" u="sng" cap="none" strike="noStrike">
                <a:solidFill>
                  <a:schemeClr val="hlink"/>
                </a:solidFill>
                <a:latin typeface="Calibri"/>
                <a:ea typeface="Calibri"/>
                <a:cs typeface="Calibri"/>
                <a:sym typeface="Calibri"/>
                <a:hlinkClick r:id="rId16"/>
              </a:rPr>
              <a:t>Copernicus Marine: GLOBAL_ANALYSISFORECAST_PHY_001_024 currents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9" name="Google Shape;519;p42"/>
          <p:cNvSpPr txBox="1"/>
          <p:nvPr/>
        </p:nvSpPr>
        <p:spPr>
          <a:xfrm>
            <a:off x="178308" y="306826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[14] </a:t>
            </a:r>
            <a:r>
              <a:rPr b="0" i="0" lang="en-GB" sz="800" u="sng" cap="none" strike="noStrike">
                <a:solidFill>
                  <a:schemeClr val="hlink"/>
                </a:solidFill>
                <a:latin typeface="Calibri"/>
                <a:ea typeface="Calibri"/>
                <a:cs typeface="Calibri"/>
                <a:sym typeface="Calibri"/>
                <a:hlinkClick r:id="rId17"/>
              </a:rPr>
              <a:t>NOAA PMEL: RAMA moored buoy array, Indian Ocean</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0" name="Google Shape;520;p42"/>
          <p:cNvSpPr txBox="1"/>
          <p:nvPr/>
        </p:nvSpPr>
        <p:spPr>
          <a:xfrm>
            <a:off x="178308" y="3176625"/>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[15] </a:t>
            </a:r>
            <a:r>
              <a:rPr b="0" i="0" lang="en-GB" sz="800" u="sng" cap="none" strike="noStrike">
                <a:solidFill>
                  <a:schemeClr val="hlink"/>
                </a:solidFill>
                <a:latin typeface="Calibri"/>
                <a:ea typeface="Calibri"/>
                <a:cs typeface="Calibri"/>
                <a:sym typeface="Calibri"/>
                <a:hlinkClick r:id="rId18"/>
              </a:rPr>
              <a:t>NDMA SACHET: India's national CAP alert backbone</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1" name="Google Shape;521;p42"/>
          <p:cNvSpPr txBox="1"/>
          <p:nvPr/>
        </p:nvSpPr>
        <p:spPr>
          <a:xfrm>
            <a:off x="178308" y="3284981"/>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[16] </a:t>
            </a:r>
            <a:r>
              <a:rPr b="0" i="0" lang="en-GB" sz="800" u="sng" cap="none" strike="noStrike">
                <a:solidFill>
                  <a:schemeClr val="hlink"/>
                </a:solidFill>
                <a:latin typeface="Calibri"/>
                <a:ea typeface="Calibri"/>
                <a:cs typeface="Calibri"/>
                <a:sym typeface="Calibri"/>
                <a:hlinkClick r:id="rId19"/>
              </a:rPr>
              <a:t>INCOIS: Indian National Centre for Ocean Information Services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2" name="Google Shape;522;p42"/>
          <p:cNvSpPr txBox="1"/>
          <p:nvPr/>
        </p:nvSpPr>
        <p:spPr>
          <a:xfrm>
            <a:off x="178308" y="3472205"/>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OPEN STANDARDS IMPLEMENTED</a:t>
            </a:r>
            <a:endParaRPr b="0" i="0" sz="1300" u="none" cap="none" strike="noStrike">
              <a:solidFill>
                <a:srgbClr val="000000"/>
              </a:solidFill>
              <a:latin typeface="Arial"/>
              <a:ea typeface="Arial"/>
              <a:cs typeface="Arial"/>
              <a:sym typeface="Arial"/>
            </a:endParaRPr>
          </a:p>
        </p:txBody>
      </p:sp>
      <p:sp>
        <p:nvSpPr>
          <p:cNvPr id="523" name="Google Shape;523;p42"/>
          <p:cNvSpPr txBox="1"/>
          <p:nvPr/>
        </p:nvSpPr>
        <p:spPr>
          <a:xfrm>
            <a:off x="178308" y="3602507"/>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[17] </a:t>
            </a:r>
            <a:r>
              <a:rPr b="0" i="0" lang="en-GB" sz="800" u="sng" cap="none" strike="noStrike">
                <a:solidFill>
                  <a:schemeClr val="hlink"/>
                </a:solidFill>
                <a:latin typeface="Calibri"/>
                <a:ea typeface="Calibri"/>
                <a:cs typeface="Calibri"/>
                <a:sym typeface="Calibri"/>
                <a:hlinkClick r:id="rId20"/>
              </a:rPr>
              <a:t>CF Conventions for climate and forecast metadata</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4" name="Google Shape;524;p42"/>
          <p:cNvSpPr txBox="1"/>
          <p:nvPr/>
        </p:nvSpPr>
        <p:spPr>
          <a:xfrm>
            <a:off x="178308" y="371086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[18] </a:t>
            </a:r>
            <a:r>
              <a:rPr b="0" i="0" lang="en-GB" sz="800" u="sng" cap="none" strike="noStrike">
                <a:solidFill>
                  <a:schemeClr val="hlink"/>
                </a:solidFill>
                <a:latin typeface="Calibri"/>
                <a:ea typeface="Calibri"/>
                <a:cs typeface="Calibri"/>
                <a:sym typeface="Calibri"/>
                <a:hlinkClick r:id="rId21"/>
              </a:rPr>
              <a:t>OGC Web Map Service (WMS) 1.3.0</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5" name="Google Shape;525;p42"/>
          <p:cNvSpPr txBox="1"/>
          <p:nvPr/>
        </p:nvSpPr>
        <p:spPr>
          <a:xfrm>
            <a:off x="178308" y="3819220"/>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[19] </a:t>
            </a:r>
            <a:r>
              <a:rPr b="0" i="0" lang="en-GB" sz="800" u="sng" cap="none" strike="noStrike">
                <a:solidFill>
                  <a:schemeClr val="hlink"/>
                </a:solidFill>
                <a:latin typeface="Calibri"/>
                <a:ea typeface="Calibri"/>
                <a:cs typeface="Calibri"/>
                <a:sym typeface="Calibri"/>
                <a:hlinkClick r:id="rId22"/>
              </a:rPr>
              <a:t>OGC Web Coverage Service (WCS) 1.0.0</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6" name="Google Shape;526;p42"/>
          <p:cNvSpPr txBox="1"/>
          <p:nvPr/>
        </p:nvSpPr>
        <p:spPr>
          <a:xfrm>
            <a:off x="178308" y="3927576"/>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[20] </a:t>
            </a:r>
            <a:r>
              <a:rPr b="0" i="0" lang="en-GB" sz="800" u="sng" cap="none" strike="noStrike">
                <a:solidFill>
                  <a:schemeClr val="hlink"/>
                </a:solidFill>
                <a:latin typeface="Calibri"/>
                <a:ea typeface="Calibri"/>
                <a:cs typeface="Calibri"/>
                <a:sym typeface="Calibri"/>
                <a:hlinkClick r:id="rId23"/>
              </a:rPr>
              <a:t>OASIS Common Alerting Protocol (CAP) v1.2</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7" name="Google Shape;527;p42"/>
          <p:cNvSpPr/>
          <p:nvPr/>
        </p:nvSpPr>
        <p:spPr>
          <a:xfrm>
            <a:off x="178301" y="4155950"/>
            <a:ext cx="5181900" cy="635505"/>
          </a:xfrm>
          <a:prstGeom prst="rect">
            <a:avLst/>
          </a:prstGeom>
          <a:solidFill>
            <a:srgbClr val="EFF4F7"/>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528" name="Google Shape;528;p42"/>
          <p:cNvSpPr txBox="1"/>
          <p:nvPr/>
        </p:nvSpPr>
        <p:spPr>
          <a:xfrm>
            <a:off x="274320" y="4217669"/>
            <a:ext cx="4114800" cy="92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HOW THE RESEARCH CHANGED THE BUILD  ·  not a bibliography, a set of decisions</a:t>
            </a:r>
            <a:endParaRPr b="0" i="0" sz="1100" u="none" cap="none" strike="noStrike">
              <a:solidFill>
                <a:srgbClr val="000000"/>
              </a:solidFill>
              <a:latin typeface="Arial"/>
              <a:ea typeface="Arial"/>
              <a:cs typeface="Arial"/>
              <a:sym typeface="Arial"/>
            </a:endParaRPr>
          </a:p>
        </p:txBody>
      </p:sp>
      <p:sp>
        <p:nvSpPr>
          <p:cNvPr id="529" name="Google Shape;529;p42"/>
          <p:cNvSpPr txBox="1"/>
          <p:nvPr/>
        </p:nvSpPr>
        <p:spPr>
          <a:xfrm>
            <a:off x="310896" y="4389120"/>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Ryan 2015  →  verify in observation space</a:t>
            </a:r>
            <a:r>
              <a:rPr sz="650" b="1" baseline="28000">
                <a:solidFill>
                  <a:srgbClr val="12688F"/>
                </a:solidFill>
                <a:latin typeface="Calibri"/>
                <a:hlinkClick r:id="rId4"/>
              </a:rPr>
              <a:t>[1]</a:t>
            </a:r>
            <a:r>
              <a:rPr sz="650">
                <a:latin typeface="Calibri"/>
              </a:rPr>
              <a:t> </a:t>
            </a:r>
            <a:endParaRPr b="0" i="0" sz="1100" u="none" cap="none" strike="noStrike">
              <a:solidFill>
                <a:srgbClr val="000000"/>
              </a:solidFill>
              <a:latin typeface="Arial"/>
              <a:ea typeface="Arial"/>
              <a:cs typeface="Arial"/>
              <a:sym typeface="Arial"/>
            </a:endParaRPr>
          </a:p>
        </p:txBody>
      </p:sp>
      <p:sp>
        <p:nvSpPr>
          <p:cNvPr id="530" name="Google Shape;530;p42"/>
          <p:cNvSpPr txBox="1"/>
          <p:nvPr/>
        </p:nvSpPr>
        <p:spPr>
          <a:xfrm>
            <a:off x="2834640" y="4389120"/>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Wong 2020  →  QC flags 1 and 2 only</a:t>
            </a:r>
            <a:r>
              <a:rPr sz="650" b="1" baseline="28000">
                <a:solidFill>
                  <a:srgbClr val="12688F"/>
                </a:solidFill>
                <a:latin typeface="Calibri"/>
                <a:hlinkClick r:id="rId5"/>
              </a:rPr>
              <a:t>[2]</a:t>
            </a:r>
            <a:r>
              <a:rPr sz="650">
                <a:latin typeface="Calibri"/>
              </a:rPr>
              <a:t> </a:t>
            </a:r>
            <a:endParaRPr b="0" i="0" sz="1100" u="none" cap="none" strike="noStrike">
              <a:solidFill>
                <a:srgbClr val="000000"/>
              </a:solidFill>
              <a:latin typeface="Arial"/>
              <a:ea typeface="Arial"/>
              <a:cs typeface="Arial"/>
              <a:sym typeface="Arial"/>
            </a:endParaRPr>
          </a:p>
        </p:txBody>
      </p:sp>
      <p:sp>
        <p:nvSpPr>
          <p:cNvPr id="531" name="Google Shape;531;p42"/>
          <p:cNvSpPr txBox="1"/>
          <p:nvPr/>
        </p:nvSpPr>
        <p:spPr>
          <a:xfrm>
            <a:off x="310896" y="4590288"/>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Yu 2025  →  drop a slice that cannot change the picture</a:t>
            </a:r>
            <a:r>
              <a:rPr sz="650" b="1" baseline="28000">
                <a:solidFill>
                  <a:srgbClr val="12688F"/>
                </a:solidFill>
                <a:latin typeface="Calibri"/>
                <a:hlinkClick r:id="rId9"/>
              </a:rPr>
              <a:t>[6]</a:t>
            </a:r>
            <a:r>
              <a:rPr sz="650">
                <a:latin typeface="Calibri"/>
              </a:rPr>
              <a:t> </a:t>
            </a:r>
            <a:endParaRPr b="0" i="0" sz="1100" u="none" cap="none" strike="noStrike">
              <a:solidFill>
                <a:srgbClr val="000000"/>
              </a:solidFill>
              <a:latin typeface="Arial"/>
              <a:ea typeface="Arial"/>
              <a:cs typeface="Arial"/>
              <a:sym typeface="Arial"/>
            </a:endParaRPr>
          </a:p>
        </p:txBody>
      </p:sp>
      <p:sp>
        <p:nvSpPr>
          <p:cNvPr id="532" name="Google Shape;532;p42"/>
          <p:cNvSpPr txBox="1"/>
          <p:nvPr/>
        </p:nvSpPr>
        <p:spPr>
          <a:xfrm>
            <a:off x="2834640" y="4590288"/>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Signell 2019  →  Zarr chunks over HTTP range reads</a:t>
            </a:r>
            <a:r>
              <a:rPr sz="650" b="1" baseline="28000">
                <a:solidFill>
                  <a:srgbClr val="12688F"/>
                </a:solidFill>
                <a:latin typeface="Calibri"/>
                <a:hlinkClick r:id="rId12"/>
              </a:rPr>
              <a:t>[9]</a:t>
            </a:r>
            <a:r>
              <a:rPr sz="650">
                <a:latin typeface="Calibri"/>
              </a:rPr>
              <a:t> </a:t>
            </a:r>
            <a:endParaRPr b="0" i="0" sz="1100" u="none" cap="none" strike="noStrike">
              <a:solidFill>
                <a:srgbClr val="000000"/>
              </a:solidFill>
              <a:latin typeface="Arial"/>
              <a:ea typeface="Arial"/>
              <a:cs typeface="Arial"/>
              <a:sym typeface="Arial"/>
            </a:endParaRPr>
          </a:p>
        </p:txBody>
      </p:sp>
      <p:sp>
        <p:nvSpPr>
          <p:cNvPr id="533" name="Google Shape;533;p42"/>
          <p:cNvSpPr/>
          <p:nvPr/>
        </p:nvSpPr>
        <p:spPr>
          <a:xfrm>
            <a:off x="5638978" y="625399"/>
            <a:ext cx="3295800" cy="231000"/>
          </a:xfrm>
          <a:prstGeom prst="roundRect">
            <a:avLst>
              <a:gd fmla="val 32000" name="adj"/>
            </a:avLst>
          </a:prstGeom>
          <a:solidFill>
            <a:srgbClr val="C44528"/>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                             WHERE WE SIT  ·  GAP ANALYSIS</a:t>
            </a:r>
            <a:endParaRPr b="0" i="0" sz="1200" u="none" cap="none" strike="noStrike">
              <a:solidFill>
                <a:srgbClr val="000000"/>
              </a:solidFill>
              <a:latin typeface="Arial"/>
              <a:ea typeface="Arial"/>
              <a:cs typeface="Arial"/>
              <a:sym typeface="Arial"/>
            </a:endParaRPr>
          </a:p>
        </p:txBody>
      </p:sp>
      <p:graphicFrame>
        <p:nvGraphicFramePr>
          <p:cNvPr id="534" name="Google Shape;534;p42"/>
          <p:cNvGraphicFramePr/>
          <p:nvPr/>
        </p:nvGraphicFramePr>
        <p:xfrm>
          <a:off x="5618020" y="941212"/>
          <a:ext cx="3000000" cy="3000000"/>
        </p:xfrm>
        <a:graphic>
          <a:graphicData uri="http://schemas.openxmlformats.org/drawingml/2006/table">
            <a:tbl>
              <a:tblPr bandRow="1" firstRow="1">
                <a:noFill/>
                <a:tableStyleId>{2F554C66-DDCF-4EE5-85A6-085AA44DDC64}</a:tableStyleId>
              </a:tblPr>
              <a:tblGrid>
                <a:gridCol w="1321225"/>
                <a:gridCol w="506025"/>
                <a:gridCol w="506025"/>
                <a:gridCol w="506025"/>
                <a:gridCol w="506025"/>
              </a:tblGrid>
              <a:tr h="319400">
                <a:tc>
                  <a:txBody>
                    <a:bodyPr/>
                    <a:lstStyle/>
                    <a:p>
                      <a:pPr indent="0" lvl="0" marL="0" marR="0" rtl="0" algn="l">
                        <a:lnSpc>
                          <a:spcPct val="88000"/>
                        </a:lnSpc>
                        <a:spcBef>
                          <a:spcPts val="0"/>
                        </a:spcBef>
                        <a:spcAft>
                          <a:spcPts val="0"/>
                        </a:spcAft>
                        <a:buClr>
                          <a:srgbClr val="000000"/>
                        </a:buClr>
                        <a:buSzPts val="600"/>
                        <a:buFont typeface="Arial"/>
                        <a:buNone/>
                      </a:pPr>
                      <a:r>
                        <a:rPr lang="en-GB" sz="600">
                          <a:solidFill>
                            <a:srgbClr val="FFFFFF"/>
                          </a:solidFill>
                        </a:rPr>
                        <a:t>                     </a:t>
                      </a:r>
                      <a:r>
                        <a:rPr b="1" i="0" lang="en-GB" sz="800" u="none" cap="none" strike="noStrike">
                          <a:solidFill>
                            <a:srgbClr val="FFFFFF"/>
                          </a:solidFill>
                          <a:latin typeface="Calibri"/>
                          <a:ea typeface="Calibri"/>
                          <a:cs typeface="Calibri"/>
                          <a:sym typeface="Calibri"/>
                        </a:rPr>
                        <a:t>Capability</a:t>
                      </a:r>
                      <a:endParaRPr sz="13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700" u="none" cap="none" strike="noStrike">
                          <a:solidFill>
                            <a:srgbClr val="FFFFFF"/>
                          </a:solidFill>
                          <a:latin typeface="Calibri"/>
                          <a:ea typeface="Calibri"/>
                          <a:cs typeface="Calibri"/>
                          <a:sym typeface="Calibri"/>
                        </a:rPr>
                        <a:t>Desktop</a:t>
                      </a:r>
                      <a:br>
                        <a:rPr b="1" i="0" lang="en-GB" sz="700" u="none" cap="none" strike="noStrike">
                          <a:solidFill>
                            <a:srgbClr val="FFFFFF"/>
                          </a:solidFill>
                          <a:latin typeface="Calibri"/>
                          <a:ea typeface="Calibri"/>
                          <a:cs typeface="Calibri"/>
                          <a:sym typeface="Calibri"/>
                        </a:rPr>
                      </a:br>
                      <a:r>
                        <a:rPr b="1" i="0" lang="en-GB" sz="700" u="none" cap="none" strike="noStrike">
                          <a:solidFill>
                            <a:srgbClr val="FFFFFF"/>
                          </a:solidFill>
                          <a:latin typeface="Calibri"/>
                          <a:ea typeface="Calibri"/>
                          <a:cs typeface="Calibri"/>
                          <a:sym typeface="Calibri"/>
                        </a:rPr>
                        <a:t>tools</a:t>
                      </a:r>
                      <a:endParaRPr sz="12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700" u="none" cap="none" strike="noStrike">
                          <a:solidFill>
                            <a:srgbClr val="FFFFFF"/>
                          </a:solidFill>
                          <a:latin typeface="Calibri"/>
                          <a:ea typeface="Calibri"/>
                          <a:cs typeface="Calibri"/>
                          <a:sym typeface="Calibri"/>
                        </a:rPr>
                        <a:t>Web</a:t>
                      </a:r>
                      <a:br>
                        <a:rPr b="1" i="0" lang="en-GB" sz="700" u="none" cap="none" strike="noStrike">
                          <a:solidFill>
                            <a:srgbClr val="FFFFFF"/>
                          </a:solidFill>
                          <a:latin typeface="Calibri"/>
                          <a:ea typeface="Calibri"/>
                          <a:cs typeface="Calibri"/>
                          <a:sym typeface="Calibri"/>
                        </a:rPr>
                      </a:br>
                      <a:r>
                        <a:rPr b="1" i="0" lang="en-GB" sz="700" u="none" cap="none" strike="noStrike">
                          <a:solidFill>
                            <a:srgbClr val="FFFFFF"/>
                          </a:solidFill>
                          <a:latin typeface="Calibri"/>
                          <a:ea typeface="Calibri"/>
                          <a:cs typeface="Calibri"/>
                          <a:sym typeface="Calibri"/>
                        </a:rPr>
                        <a:t>viewers</a:t>
                      </a:r>
                      <a:endParaRPr sz="12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Digital</a:t>
                      </a:r>
                      <a:br>
                        <a:rPr b="1" i="0" lang="en-GB" sz="600" u="none" cap="none" strike="noStrike">
                          <a:solidFill>
                            <a:srgbClr val="FFFFFF"/>
                          </a:solidFill>
                          <a:latin typeface="Calibri"/>
                          <a:ea typeface="Calibri"/>
                          <a:cs typeface="Calibri"/>
                          <a:sym typeface="Calibri"/>
                        </a:rPr>
                      </a:br>
                      <a:r>
                        <a:rPr b="1" i="0" lang="en-GB" sz="600" u="none" cap="none" strike="noStrike">
                          <a:solidFill>
                            <a:srgbClr val="FFFFFF"/>
                          </a:solidFill>
                          <a:latin typeface="Calibri"/>
                          <a:ea typeface="Calibri"/>
                          <a:cs typeface="Calibri"/>
                          <a:sym typeface="Calibri"/>
                        </a:rPr>
                        <a:t>Ocean</a:t>
                      </a:r>
                      <a:endParaRPr sz="11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800" u="none" cap="none" strike="noStrike">
                          <a:solidFill>
                            <a:srgbClr val="FFFFFF"/>
                          </a:solidFill>
                          <a:latin typeface="Calibri"/>
                          <a:ea typeface="Calibri"/>
                          <a:cs typeface="Calibri"/>
                          <a:sym typeface="Calibri"/>
                        </a:rPr>
                        <a:t>Sagar</a:t>
                      </a:r>
                      <a:br>
                        <a:rPr b="1" i="0" lang="en-GB" sz="800" u="none" cap="none" strike="noStrike">
                          <a:solidFill>
                            <a:srgbClr val="FFFFFF"/>
                          </a:solidFill>
                          <a:latin typeface="Calibri"/>
                          <a:ea typeface="Calibri"/>
                          <a:cs typeface="Calibri"/>
                          <a:sym typeface="Calibri"/>
                        </a:rPr>
                      </a:br>
                      <a:r>
                        <a:rPr b="1" i="0" lang="en-GB" sz="800" u="none" cap="none" strike="noStrike">
                          <a:solidFill>
                            <a:srgbClr val="FFFFFF"/>
                          </a:solidFill>
                          <a:latin typeface="Calibri"/>
                          <a:ea typeface="Calibri"/>
                          <a:cs typeface="Calibri"/>
                          <a:sym typeface="Calibri"/>
                        </a:rPr>
                        <a:t>Drishti</a:t>
                      </a:r>
                      <a:endParaRPr sz="1300" u="none" cap="none" strike="noStrike"/>
                    </a:p>
                  </a:txBody>
                  <a:tcPr marT="0" marB="0" marR="20575" marL="34300" anchor="ctr">
                    <a:solidFill>
                      <a:srgbClr val="C44528"/>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Browser-native, no install</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True volumetric water column</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Model + in-situ in ONE 3D scene</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Model-vs-observation skill on screen</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CAP hazard layer in ocean context</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Runs fully offline / air-gapped</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bl>
          </a:graphicData>
        </a:graphic>
      </p:graphicFrame>
      <p:sp>
        <p:nvSpPr>
          <p:cNvPr id="535" name="Google Shape;535;p42"/>
          <p:cNvSpPr txBox="1"/>
          <p:nvPr/>
        </p:nvSpPr>
        <p:spPr>
          <a:xfrm>
            <a:off x="5628576" y="2576894"/>
            <a:ext cx="33348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556471"/>
                </a:solidFill>
                <a:latin typeface="Calibri"/>
                <a:ea typeface="Calibri"/>
                <a:cs typeface="Calibri"/>
                <a:sym typeface="Calibri"/>
              </a:rPr>
              <a:t>Desktop tools: ODV, IDV, pyParaOcean.  Web viewers: Argovis, MyOcean.  </a:t>
            </a:r>
            <a:r>
              <a:rPr b="1" lang="en-GB" sz="900">
                <a:solidFill>
                  <a:srgbClr val="556471"/>
                </a:solidFill>
                <a:latin typeface="Calibri"/>
                <a:ea typeface="Calibri"/>
                <a:cs typeface="Calibri"/>
                <a:sym typeface="Calibri"/>
              </a:rPr>
              <a:t>INCOIS</a:t>
            </a:r>
            <a:r>
              <a:rPr b="1" i="0" lang="en-GB" sz="900" u="none" cap="none" strike="noStrike">
                <a:solidFill>
                  <a:srgbClr val="556471"/>
                </a:solidFill>
                <a:latin typeface="Calibri"/>
                <a:ea typeface="Calibri"/>
                <a:cs typeface="Calibri"/>
                <a:sym typeface="Calibri"/>
              </a:rPr>
              <a:t> Digital Ocean portal advertises 3D and 4D; what it does not do is fuse instruments into the volume or publish model skill beside the field.</a:t>
            </a:r>
            <a:endParaRPr b="0" i="0" sz="1400" u="none" cap="none" strike="noStrike">
              <a:solidFill>
                <a:srgbClr val="000000"/>
              </a:solidFill>
              <a:latin typeface="Arial"/>
              <a:ea typeface="Arial"/>
              <a:cs typeface="Arial"/>
              <a:sym typeface="Arial"/>
            </a:endParaRPr>
          </a:p>
        </p:txBody>
      </p:sp>
      <p:sp>
        <p:nvSpPr>
          <p:cNvPr id="536" name="Google Shape;536;p42"/>
          <p:cNvSpPr/>
          <p:nvPr/>
        </p:nvSpPr>
        <p:spPr>
          <a:xfrm>
            <a:off x="5628575" y="3163700"/>
            <a:ext cx="3285300" cy="1481700"/>
          </a:xfrm>
          <a:prstGeom prst="rect">
            <a:avLst/>
          </a:prstGeom>
          <a:solidFill>
            <a:srgbClr val="EFF4F7"/>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descr="Your startup LOGO" id="537" name="Google Shape;537;p42"/>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l">
              <a:lnSpc>
                <a:spcPct val="95000"/>
              </a:lnSpc>
              <a:spcBef>
                <a:spcPts val="400"/>
              </a:spcBef>
              <a:spcAft>
                <a:spcPts val="0"/>
              </a:spcAft>
              <a:buClr>
                <a:schemeClr val="dk1"/>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538" name="Google Shape;538;p42"/>
          <p:cNvSpPr/>
          <p:nvPr/>
        </p:nvSpPr>
        <p:spPr>
          <a:xfrm>
            <a:off x="5632704" y="3218688"/>
            <a:ext cx="2834640" cy="201168"/>
          </a:xfrm>
          <a:prstGeom prst="roundRect">
            <a:avLst>
              <a:gd fmla="val 25000" name="adj"/>
            </a:avLst>
          </a:prstGeom>
          <a:solidFill>
            <a:srgbClr val="1F4E79"/>
          </a:solidFill>
          <a:ln>
            <a:noFill/>
          </a:ln>
        </p:spPr>
        <p:txBody>
          <a:bodyPr anchorCtr="0" anchor="ctr" bIns="9125" lIns="36575" spcFirstLastPara="1" rIns="36575" wrap="square" tIns="9125">
            <a:noAutofit/>
          </a:bodyPr>
          <a:lstStyle/>
          <a:p>
            <a:pPr indent="0" lvl="0" marL="0" marR="0" rtl="0" algn="l">
              <a:lnSpc>
                <a:spcPct val="92000"/>
              </a:lnSpc>
              <a:spcBef>
                <a:spcPts val="0"/>
              </a:spcBef>
              <a:spcAft>
                <a:spcPts val="0"/>
              </a:spcAft>
              <a:buNone/>
            </a:pPr>
            <a:r>
              <a:rPr b="1" i="0" lang="en-GB" sz="900" u="none" cap="none" strike="noStrike">
                <a:solidFill>
                  <a:srgbClr val="FFFFFF"/>
                </a:solidFill>
                <a:latin typeface="Arial"/>
                <a:ea typeface="Arial"/>
                <a:cs typeface="Arial"/>
                <a:sym typeface="Arial"/>
              </a:rPr>
              <a:t>OUR OWN WORK, AND HOW TO CHECK IT</a:t>
            </a:r>
            <a:endParaRPr/>
          </a:p>
        </p:txBody>
      </p:sp>
      <p:sp>
        <p:nvSpPr>
          <p:cNvPr id="539" name="Google Shape;539;p42"/>
          <p:cNvSpPr txBox="1"/>
          <p:nvPr/>
        </p:nvSpPr>
        <p:spPr>
          <a:xfrm>
            <a:off x="5701837" y="3467039"/>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595   </a:t>
            </a:r>
            <a:r>
              <a:rPr b="0" i="0" lang="en-GB" sz="850" u="none" cap="none" strike="noStrike">
                <a:solidFill>
                  <a:srgbClr val="5A6B78"/>
                </a:solidFill>
                <a:latin typeface="Arial"/>
                <a:ea typeface="Arial"/>
                <a:cs typeface="Arial"/>
                <a:sym typeface="Arial"/>
              </a:rPr>
              <a:t>automated tests, 12 in a real browser</a:t>
            </a:r>
            <a:endParaRPr/>
          </a:p>
        </p:txBody>
      </p:sp>
      <p:sp>
        <p:nvSpPr>
          <p:cNvPr id="540" name="Google Shape;540;p42"/>
          <p:cNvSpPr txBox="1"/>
          <p:nvPr/>
        </p:nvSpPr>
        <p:spPr>
          <a:xfrm>
            <a:off x="5701837" y="3741358"/>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6 dp   </a:t>
            </a:r>
            <a:r>
              <a:rPr b="0" i="0" lang="en-GB" sz="850" u="none" cap="none" strike="noStrike">
                <a:solidFill>
                  <a:srgbClr val="5A6B78"/>
                </a:solidFill>
                <a:latin typeface="Arial"/>
                <a:ea typeface="Arial"/>
                <a:cs typeface="Arial"/>
                <a:sym typeface="Arial"/>
              </a:rPr>
              <a:t>TEOS-10 check values reproduced exactly</a:t>
            </a:r>
            <a:endParaRPr/>
          </a:p>
        </p:txBody>
      </p:sp>
      <p:sp>
        <p:nvSpPr>
          <p:cNvPr id="541" name="Google Shape;541;p42"/>
          <p:cNvSpPr txBox="1"/>
          <p:nvPr/>
        </p:nvSpPr>
        <p:spPr>
          <a:xfrm>
            <a:off x="5701837" y="4015678"/>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100%   </a:t>
            </a:r>
            <a:r>
              <a:rPr b="0" i="0" lang="en-GB" sz="850" u="none" cap="none" strike="noStrike">
                <a:solidFill>
                  <a:srgbClr val="5A6B78"/>
                </a:solidFill>
                <a:latin typeface="Arial"/>
                <a:ea typeface="Arial"/>
                <a:cs typeface="Arial"/>
                <a:sym typeface="Arial"/>
              </a:rPr>
              <a:t>of panels cite dataset and timestamp</a:t>
            </a:r>
            <a:endParaRPr/>
          </a:p>
        </p:txBody>
      </p:sp>
      <p:sp>
        <p:nvSpPr>
          <p:cNvPr id="542" name="Google Shape;542;p42"/>
          <p:cNvSpPr txBox="1"/>
          <p:nvPr/>
        </p:nvSpPr>
        <p:spPr>
          <a:xfrm>
            <a:off x="5701826" y="4289993"/>
            <a:ext cx="3141000" cy="3060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15 + 8   </a:t>
            </a:r>
            <a:r>
              <a:rPr b="0" i="0" lang="en-GB" sz="900" u="none" cap="none" strike="noStrike">
                <a:solidFill>
                  <a:srgbClr val="5A6B78"/>
                </a:solidFill>
                <a:latin typeface="Arial"/>
                <a:ea typeface="Arial"/>
                <a:cs typeface="Arial"/>
                <a:sym typeface="Arial"/>
              </a:rPr>
              <a:t>papers and existing tools reviewed for the gap analysis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
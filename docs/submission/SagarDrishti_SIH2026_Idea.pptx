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hyperlink" Target="https://doi.org/10.1080/1755876X.2015.1022330" TargetMode="External"/><Relationship Id="rId5" Type="http://schemas.openxmlformats.org/officeDocument/2006/relationships/hyperlink" Target="https://doi.org/10.3389/fmars.2020.00700" TargetMode="External"/><Relationship Id="rId6" Type="http://schemas.openxmlformats.org/officeDocument/2006/relationships/hyperlink" Target="https://www.teos-10.org/" TargetMode="External"/><Relationship Id="rId7" Type="http://schemas.openxmlformats.org/officeDocument/2006/relationships/hyperlink" Target="https://www.currentscience.ac.in/Volumes/105/02/0175.pdf" TargetMode="External"/><Relationship Id="rId8" Type="http://schemas.openxmlformats.org/officeDocument/2006/relationships/hyperlink" Target="https://www.sciencedirect.com/science/article/pii/S1364815220309658" TargetMode="External"/><Relationship Id="rId9" Type="http://schemas.openxmlformats.org/officeDocument/2006/relationships/hyperlink" Target="https://www.mdpi.com/2076-3417/15/5/2782" TargetMode="External"/><Relationship Id="rId10" Type="http://schemas.openxmlformats.org/officeDocument/2006/relationships/hyperlink" Target="https://doi.org/10.1175/JTECH-D-19-0041.1" TargetMode="External"/><Relationship Id="rId11" Type="http://schemas.openxmlformats.org/officeDocument/2006/relationships/hyperlink" Target="https://www.sciencedirect.com/science/article/pii/S1364815213000947" TargetMode="External"/><Relationship Id="rId12" Type="http://schemas.openxmlformats.org/officeDocument/2006/relationships/hyperlink" Target="https://www.mdpi.com/2077-1312/7/4/110" TargetMode="External"/><Relationship Id="rId13" Type="http://schemas.openxmlformats.org/officeDocument/2006/relationships/hyperlink" Target="https://arxiv.org/abs/2309.14328" TargetMode="External"/><Relationship Id="rId14" Type="http://schemas.openxmlformats.org/officeDocument/2006/relationships/hyperlink" Target="https://erddap.incois.gov.in/erddap/index.html" TargetMode="External"/><Relationship Id="rId15" Type="http://schemas.openxmlformats.org/officeDocument/2006/relationships/hyperlink" Target="https://data-argo.ifremer.fr/" TargetMode="External"/><Relationship Id="rId16" Type="http://schemas.openxmlformats.org/officeDocument/2006/relationships/hyperlink" Target="https://data.marine.copernicus.eu/product/GLOBAL_ANALYSISFORECAST_PHY_001_024/description" TargetMode="External"/><Relationship Id="rId17" Type="http://schemas.openxmlformats.org/officeDocument/2006/relationships/hyperlink" Target="https://www.pmel.noaa.gov/gtmba/pmel-theme/indian-ocean-rama" TargetMode="External"/><Relationship Id="rId18" Type="http://schemas.openxmlformats.org/officeDocument/2006/relationships/hyperlink" Target="https://sachet.ndma.gov.in/" TargetMode="External"/><Relationship Id="rId19" Type="http://schemas.openxmlformats.org/officeDocument/2006/relationships/hyperlink" Target="https://incois.gov.in/" TargetMode="External"/><Relationship Id="rId20" Type="http://schemas.openxmlformats.org/officeDocument/2006/relationships/hyperlink" Target="https://cfconventions.org/" TargetMode="External"/><Relationship Id="rId21" Type="http://schemas.openxmlformats.org/officeDocument/2006/relationships/hyperlink" Target="https://www.ogc.org/standards/wms" TargetMode="External"/><Relationship Id="rId22" Type="http://schemas.openxmlformats.org/officeDocument/2006/relationships/hyperlink" Target="https://www.ogc.org/standards/wcs" TargetMode="External"/><Relationship Id="rId23" Type="http://schemas.openxmlformats.org/officeDocument/2006/relationships/hyperlink" Target="http://docs.oasis-open.org/emergency/cap/v1.2/CAP-v1.2-o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84048" y="1188720"/>
            <a:ext cx="5486400" cy="384048"/>
          </a:xfrm>
        </p:spPr>
        <p:txBody>
          <a:bodyPr wrap="square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556471"/>
                </a:solidFill>
                <a:latin typeface="Calibri"/>
              </a:rPr>
              <a:t>TITLE PAGE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4048" y="1755648"/>
            <a:ext cx="5532120" cy="4663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"/>
              </a:spcAft>
            </a:pPr>
            <a:r>
              <a:rPr sz="3600" b="1" i="0">
                <a:solidFill>
                  <a:srgbClr val="0B2E4F"/>
                </a:solidFill>
                <a:latin typeface="Calibri"/>
              </a:rPr>
              <a:t>SagarDrishti</a:t>
            </a:r>
            <a:r>
              <a:rPr sz="1700" b="1" i="0">
                <a:solidFill>
                  <a:srgbClr val="12688F"/>
                </a:solidFill>
                <a:latin typeface="Calibri"/>
              </a:rPr>
              <a:t>   सागर दृष्टि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sz="1300" b="0" i="1">
                <a:solidFill>
                  <a:srgbClr val="12688F"/>
                </a:solidFill>
                <a:latin typeface="Calibri"/>
              </a:rPr>
              <a:t>A browser-native 3D digital twin of India's ocean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6021324" y="2016252"/>
            <a:ext cx="5135880" cy="291693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9" name="Picture 38" descr="shot-C-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2048256"/>
            <a:ext cx="5071872" cy="285292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053328" y="4992624"/>
            <a:ext cx="50718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556471"/>
                </a:solidFill>
                <a:latin typeface="Calibri"/>
              </a:rPr>
              <a:t>Running today, offline: 24 depth levels from 5 m to 2000 m, the 26 degC isosurface, 337 current vectors and CAP warning areas.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2761488"/>
            <a:ext cx="2103120" cy="41148"/>
          </a:xfrm>
          <a:prstGeom prst="rect">
            <a:avLst/>
          </a:prstGeom>
          <a:solidFill>
            <a:srgbClr val="C44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" y="2962656"/>
            <a:ext cx="553212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5000"/>
              </a:lnSpc>
              <a:spcAft>
                <a:spcPts val="500"/>
              </a:spcAft>
            </a:pPr>
            <a:r>
              <a:rPr sz="950" b="1" i="0">
                <a:solidFill>
                  <a:srgbClr val="C44528"/>
                </a:solidFill>
                <a:latin typeface="Calibri"/>
              </a:rPr>
              <a:t>▪  </a:t>
            </a:r>
            <a:r>
              <a:rPr sz="1100" b="1" i="0">
                <a:solidFill>
                  <a:srgbClr val="0B2E4F"/>
                </a:solidFill>
                <a:latin typeface="Calibri"/>
              </a:rPr>
              <a:t>Problem Statement ID - </a:t>
            </a:r>
            <a:r>
              <a:rPr sz="1100" b="0" i="0">
                <a:solidFill>
                  <a:srgbClr val="14202B"/>
                </a:solidFill>
                <a:latin typeface="Calibri"/>
              </a:rPr>
              <a:t>SIH26067</a:t>
            </a:r>
          </a:p>
          <a:p>
            <a:pPr>
              <a:lnSpc>
                <a:spcPct val="95000"/>
              </a:lnSpc>
              <a:spcAft>
                <a:spcPts val="500"/>
              </a:spcAft>
            </a:pPr>
            <a:r>
              <a:rPr sz="950" b="1" i="0">
                <a:solidFill>
                  <a:srgbClr val="C44528"/>
                </a:solidFill>
                <a:latin typeface="Calibri"/>
              </a:rPr>
              <a:t>▪  </a:t>
            </a:r>
            <a:r>
              <a:rPr sz="1100" b="1" i="0">
                <a:solidFill>
                  <a:srgbClr val="0B2E4F"/>
                </a:solidFill>
                <a:latin typeface="Calibri"/>
              </a:rPr>
              <a:t>Problem Statement Title - </a:t>
            </a:r>
            <a:r>
              <a:rPr sz="1100" b="0" i="0">
                <a:solidFill>
                  <a:srgbClr val="14202B"/>
                </a:solidFill>
                <a:latin typeface="Calibri"/>
              </a:rPr>
              <a:t>Web-based 3D Visualization Platform for Ocean Model Data and In-situ Observations</a:t>
            </a:r>
          </a:p>
          <a:p>
            <a:pPr>
              <a:lnSpc>
                <a:spcPct val="95000"/>
              </a:lnSpc>
              <a:spcAft>
                <a:spcPts val="500"/>
              </a:spcAft>
            </a:pPr>
            <a:r>
              <a:rPr sz="950" b="1" i="0">
                <a:solidFill>
                  <a:srgbClr val="C44528"/>
                </a:solidFill>
                <a:latin typeface="Calibri"/>
              </a:rPr>
              <a:t>▪  </a:t>
            </a:r>
            <a:r>
              <a:rPr sz="1100" b="1" i="0">
                <a:solidFill>
                  <a:srgbClr val="0B2E4F"/>
                </a:solidFill>
                <a:latin typeface="Calibri"/>
              </a:rPr>
              <a:t>Theme - </a:t>
            </a:r>
            <a:r>
              <a:rPr sz="1100" b="0" i="0">
                <a:solidFill>
                  <a:srgbClr val="14202B"/>
                </a:solidFill>
                <a:latin typeface="Calibri"/>
              </a:rPr>
              <a:t>Disaster Management</a:t>
            </a:r>
          </a:p>
          <a:p>
            <a:pPr>
              <a:lnSpc>
                <a:spcPct val="95000"/>
              </a:lnSpc>
              <a:spcAft>
                <a:spcPts val="500"/>
              </a:spcAft>
            </a:pPr>
            <a:r>
              <a:rPr sz="950" b="1" i="0">
                <a:solidFill>
                  <a:srgbClr val="C44528"/>
                </a:solidFill>
                <a:latin typeface="Calibri"/>
              </a:rPr>
              <a:t>▪  </a:t>
            </a:r>
            <a:r>
              <a:rPr sz="1100" b="1" i="0">
                <a:solidFill>
                  <a:srgbClr val="0B2E4F"/>
                </a:solidFill>
                <a:latin typeface="Calibri"/>
              </a:rPr>
              <a:t>PS Category - </a:t>
            </a:r>
            <a:r>
              <a:rPr sz="1100" b="0" i="0">
                <a:solidFill>
                  <a:srgbClr val="14202B"/>
                </a:solidFill>
                <a:latin typeface="Calibri"/>
              </a:rPr>
              <a:t>Software</a:t>
            </a:r>
          </a:p>
          <a:p>
            <a:pPr>
              <a:lnSpc>
                <a:spcPct val="95000"/>
              </a:lnSpc>
              <a:spcAft>
                <a:spcPts val="500"/>
              </a:spcAft>
            </a:pPr>
            <a:r>
              <a:rPr sz="950" b="1" i="0">
                <a:solidFill>
                  <a:srgbClr val="C44528"/>
                </a:solidFill>
                <a:latin typeface="Calibri"/>
              </a:rPr>
              <a:t>▪  </a:t>
            </a:r>
            <a:r>
              <a:rPr sz="1100" b="1" i="0">
                <a:solidFill>
                  <a:srgbClr val="0B2E4F"/>
                </a:solidFill>
                <a:latin typeface="Calibri"/>
              </a:rPr>
              <a:t>Team ID - </a:t>
            </a:r>
            <a:r>
              <a:rPr sz="1100" b="0" i="0">
                <a:solidFill>
                  <a:srgbClr val="14202B"/>
                </a:solidFill>
                <a:latin typeface="Calibri"/>
              </a:rPr>
              <a:t>[TEAM ID]</a:t>
            </a:r>
          </a:p>
          <a:p>
            <a:pPr>
              <a:lnSpc>
                <a:spcPct val="95000"/>
              </a:lnSpc>
              <a:spcAft>
                <a:spcPts val="500"/>
              </a:spcAft>
            </a:pPr>
            <a:r>
              <a:rPr sz="950" b="1" i="0">
                <a:solidFill>
                  <a:srgbClr val="C44528"/>
                </a:solidFill>
                <a:latin typeface="Calibri"/>
              </a:rPr>
              <a:t>▪  </a:t>
            </a:r>
            <a:r>
              <a:rPr sz="1100" b="1" i="0">
                <a:solidFill>
                  <a:srgbClr val="0B2E4F"/>
                </a:solidFill>
                <a:latin typeface="Calibri"/>
              </a:rPr>
              <a:t>Team Name (Registered on portal) - </a:t>
            </a:r>
            <a:r>
              <a:rPr sz="1100" b="0" i="0">
                <a:solidFill>
                  <a:srgbClr val="14202B"/>
                </a:solidFill>
                <a:latin typeface="Calibri"/>
              </a:rPr>
              <a:t>[TEAM NAME]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84048" y="5541264"/>
            <a:ext cx="11192256" cy="603504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84048" y="5541264"/>
            <a:ext cx="54864" cy="603504"/>
          </a:xfrm>
          <a:prstGeom prst="rect">
            <a:avLst/>
          </a:prstGeom>
          <a:solidFill>
            <a:srgbClr val="C44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3504" y="5541264"/>
            <a:ext cx="1078992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95000"/>
              </a:lnSpc>
            </a:pPr>
            <a:r>
              <a:rPr sz="1050" b="1" i="0">
                <a:solidFill>
                  <a:srgbClr val="6FD4D0"/>
                </a:solidFill>
                <a:latin typeface="Calibri"/>
              </a:rPr>
              <a:t>Not a proposal on paper.   </a:t>
            </a:r>
            <a:r>
              <a:rPr sz="950" b="0" i="0">
                <a:solidFill>
                  <a:srgbClr val="D3E3EC"/>
                </a:solidFill>
                <a:latin typeface="Calibri"/>
              </a:rPr>
              <a:t>543 automated tests · 51 fps at 1080p on integrated graphics · 10.5 M gridded values · 16,390 QC-passed instrument levels · zero requests that leave the machine. Every figure in this deck was measured, not estimated.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00784" y="54864"/>
            <a:ext cx="9784080" cy="841248"/>
          </a:xfrm>
        </p:spPr>
        <p:txBody>
          <a:bodyPr wrap="square" anchor="ctr"/>
          <a:lstStyle/>
          <a:p>
            <a:pPr eaLnBrk="1" hangingPunct="1" algn="l"/>
            <a:r>
              <a:rPr sz="2600" b="1" i="0">
                <a:solidFill>
                  <a:srgbClr val="0B2E4F"/>
                </a:solidFill>
                <a:latin typeface="Times New Roman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  <a:latin typeface="Calibri"/>
              </a:rPr>
              <a:t>SagarDrishti  ·  PS SIH26067  ·  @SIH Idea Submission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B2E4F"/>
                </a:solidFill>
                <a:latin typeface="Calibri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ectangle 15361"/>
          <p:cNvSpPr/>
          <p:nvPr/>
        </p:nvSpPr>
        <p:spPr>
          <a:xfrm>
            <a:off x="237744" y="1133856"/>
            <a:ext cx="11713464" cy="47548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3" name="TextBox 15362"/>
          <p:cNvSpPr txBox="1"/>
          <p:nvPr/>
        </p:nvSpPr>
        <p:spPr>
          <a:xfrm>
            <a:off x="365760" y="1133856"/>
            <a:ext cx="11457432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900" b="1" i="0">
                <a:solidFill>
                  <a:srgbClr val="FFFFFF"/>
                </a:solidFill>
                <a:latin typeface="Calibri"/>
              </a:rPr>
              <a:t>SagarDrishti</a:t>
            </a:r>
            <a:r>
              <a:rPr sz="1150" b="1" i="0">
                <a:solidFill>
                  <a:srgbClr val="8EBED6"/>
                </a:solidFill>
                <a:latin typeface="Calibri"/>
              </a:rPr>
              <a:t>  सागर दृष्टि</a:t>
            </a:r>
            <a:r>
              <a:rPr sz="980" b="0" i="0">
                <a:solidFill>
                  <a:srgbClr val="CBDDE8"/>
                </a:solidFill>
                <a:latin typeface="Calibri"/>
              </a:rPr>
              <a:t>      One screen where INCOIS's 3D model fields and the instruments in the water finally meet, with a number saying how far apart they are.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237744" y="1719072"/>
            <a:ext cx="2971800" cy="256032"/>
          </a:xfrm>
          <a:prstGeom prst="roundRect">
            <a:avLst>
              <a:gd name="adj" fmla="val 32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THE PROBLEM  ·  INCOIS'S OWN WORDS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237744" y="1993391"/>
            <a:ext cx="5705856" cy="841248"/>
          </a:xfrm>
          <a:prstGeom prst="rect">
            <a:avLst/>
          </a:prstGeom>
          <a:solidFill>
            <a:srgbClr val="EFF4F7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6" name="TextBox 15365"/>
          <p:cNvSpPr txBox="1"/>
          <p:nvPr/>
        </p:nvSpPr>
        <p:spPr>
          <a:xfrm>
            <a:off x="347472" y="2057400"/>
            <a:ext cx="548640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88000"/>
              </a:lnSpc>
              <a:spcAft>
                <a:spcPts val="100"/>
              </a:spcAft>
            </a:pPr>
            <a:r>
              <a:rPr sz="73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80" b="1" i="0">
                <a:solidFill>
                  <a:srgbClr val="C44528"/>
                </a:solidFill>
                <a:latin typeface="Calibri"/>
              </a:rPr>
              <a:t>“No integrated, web-based 3D visualization platform currently exists”</a:t>
            </a:r>
            <a:r>
              <a:rPr sz="880" b="0" i="0">
                <a:solidFill>
                  <a:srgbClr val="14202B"/>
                </a:solidFill>
                <a:latin typeface="Calibri"/>
              </a:rPr>
              <a:t>  that renders model fields and in-situ observations together.</a:t>
            </a:r>
          </a:p>
          <a:p>
            <a:pPr>
              <a:lnSpc>
                <a:spcPct val="88000"/>
              </a:lnSpc>
              <a:spcAft>
                <a:spcPts val="100"/>
              </a:spcAft>
            </a:pPr>
            <a:r>
              <a:rPr sz="73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80" b="1" i="0">
                <a:solidFill>
                  <a:srgbClr val="C44528"/>
                </a:solidFill>
                <a:latin typeface="Calibri"/>
              </a:rPr>
              <a:t>Forecasters are “forced to toggle between disparate software packages”</a:t>
            </a:r>
          </a:p>
          <a:p>
            <a:pPr>
              <a:lnSpc>
                <a:spcPct val="88000"/>
              </a:lnSpc>
              <a:spcAft>
                <a:spcPts val="100"/>
              </a:spcAft>
            </a:pPr>
            <a:r>
              <a:rPr sz="73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80" b="1" i="0">
                <a:solidFill>
                  <a:srgbClr val="C44528"/>
                </a:solidFill>
                <a:latin typeface="Calibri"/>
              </a:rPr>
              <a:t>which “impedes timely hazard assessment, search-and-rescue support, fishery advisories”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237744" y="2944368"/>
            <a:ext cx="4434840" cy="256032"/>
          </a:xfrm>
          <a:prstGeom prst="roundRect">
            <a:avLst>
              <a:gd name="adj" fmla="val 32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PROPOSED SOLUTION  ·  HOW IT ADDRESSES THE PROBLEM</a:t>
            </a:r>
          </a:p>
        </p:txBody>
      </p:sp>
      <p:sp>
        <p:nvSpPr>
          <p:cNvPr id="15368" name="Rectangle 15367"/>
          <p:cNvSpPr/>
          <p:nvPr/>
        </p:nvSpPr>
        <p:spPr>
          <a:xfrm>
            <a:off x="237744" y="3218687"/>
            <a:ext cx="5705856" cy="1773936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347472" y="3273551"/>
            <a:ext cx="5486400" cy="16642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  <a:r>
              <a:rPr sz="75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900" b="1" i="0">
                <a:solidFill>
                  <a:srgbClr val="0B2E4F"/>
                </a:solidFill>
                <a:latin typeface="Calibri"/>
              </a:rPr>
              <a:t>Volumetric water column in a browser.</a:t>
            </a:r>
            <a:r>
              <a:rPr sz="900" b="0" i="0">
                <a:solidFill>
                  <a:srgbClr val="14202B"/>
                </a:solidFill>
                <a:latin typeface="Calibri"/>
              </a:rPr>
              <a:t>  24 depth levels, 5 m to 2000 m, as blended depth slices, extracted isosurfaces and time animation. No client install.</a:t>
            </a:r>
          </a:p>
          <a:p>
            <a:pPr>
              <a:lnSpc>
                <a:spcPct val="90000"/>
              </a:lnSpc>
              <a:spcAft>
                <a:spcPts val="300"/>
              </a:spcAft>
            </a:pPr>
            <a:r>
              <a:rPr sz="75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900" b="1" i="0">
                <a:solidFill>
                  <a:srgbClr val="0B2E4F"/>
                </a:solidFill>
                <a:latin typeface="Calibri"/>
              </a:rPr>
              <a:t>Instruments fused into the same scene.</a:t>
            </a:r>
            <a:r>
              <a:rPr sz="900" b="0" i="0">
                <a:solidFill>
                  <a:srgbClr val="14202B"/>
                </a:solidFill>
                <a:latin typeface="Calibri"/>
              </a:rPr>
              <a:t>  25 real casts from 17 instruments; click one to read its measured profile against the model at that point and time.</a:t>
            </a:r>
          </a:p>
          <a:p>
            <a:pPr>
              <a:lnSpc>
                <a:spcPct val="90000"/>
              </a:lnSpc>
              <a:spcAft>
                <a:spcPts val="300"/>
              </a:spcAft>
            </a:pPr>
            <a:r>
              <a:rPr sz="75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900" b="1" i="0">
                <a:solidFill>
                  <a:srgbClr val="0B2E4F"/>
                </a:solidFill>
                <a:latin typeface="Calibri"/>
              </a:rPr>
              <a:t>A skill number beside the field.</a:t>
            </a:r>
            <a:r>
              <a:rPr sz="900" b="0" i="0">
                <a:solidFill>
                  <a:srgbClr val="14202B"/>
                </a:solidFill>
                <a:latin typeface="Calibri"/>
              </a:rPr>
              <a:t>  Class-4-style verification prints bias and RMSE per depth band, with the caveat that limits it, on the same screen.</a:t>
            </a:r>
          </a:p>
          <a:p>
            <a:pPr>
              <a:lnSpc>
                <a:spcPct val="90000"/>
              </a:lnSpc>
              <a:spcAft>
                <a:spcPts val="300"/>
              </a:spcAft>
            </a:pPr>
            <a:r>
              <a:rPr sz="75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900" b="1" i="0">
                <a:solidFill>
                  <a:srgbClr val="0B2E4F"/>
                </a:solidFill>
                <a:latin typeface="Calibri"/>
              </a:rPr>
              <a:t>Hazards drawn over the water they concern.</a:t>
            </a:r>
            <a:r>
              <a:rPr sz="900" b="0" i="0">
                <a:solidFill>
                  <a:srgbClr val="14202B"/>
                </a:solidFill>
                <a:latin typeface="Calibri"/>
              </a:rPr>
              <a:t>  Live CAP v1.2 from NDMA SACHET, India's national alert backbone.</a:t>
            </a:r>
          </a:p>
          <a:p>
            <a:pPr>
              <a:lnSpc>
                <a:spcPct val="90000"/>
              </a:lnSpc>
              <a:spcAft>
                <a:spcPts val="300"/>
              </a:spcAft>
            </a:pPr>
            <a:r>
              <a:rPr sz="75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900" b="1" i="0">
                <a:solidFill>
                  <a:srgbClr val="0B2E4F"/>
                </a:solidFill>
                <a:latin typeface="Calibri"/>
              </a:rPr>
              <a:t>A new source is a config entry, not a rewrite.</a:t>
            </a:r>
            <a:r>
              <a:rPr sz="900" b="0" i="0">
                <a:solidFill>
                  <a:srgbClr val="14202B"/>
                </a:solidFill>
                <a:latin typeface="Calibri"/>
              </a:rPr>
              <a:t>  YAML registry plus a plugin interface; OGC WMS/WCS and CF served.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237744" y="5120640"/>
            <a:ext cx="3840480" cy="256032"/>
          </a:xfrm>
          <a:prstGeom prst="roundRect">
            <a:avLst>
              <a:gd name="adj" fmla="val 32000"/>
            </a:avLst>
          </a:prstGeom>
          <a:solidFill>
            <a:srgbClr val="C44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INNOVATION AND UNIQUENESS</a:t>
            </a:r>
          </a:p>
        </p:txBody>
      </p:sp>
      <p:sp>
        <p:nvSpPr>
          <p:cNvPr id="15371" name="Rectangle 15370"/>
          <p:cNvSpPr/>
          <p:nvPr/>
        </p:nvSpPr>
        <p:spPr>
          <a:xfrm>
            <a:off x="237744" y="5394959"/>
            <a:ext cx="1364742" cy="877824"/>
          </a:xfrm>
          <a:prstGeom prst="rect">
            <a:avLst/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310896" y="5449824"/>
            <a:ext cx="121843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Aft>
                <a:spcPts val="200"/>
              </a:spcAft>
            </a:pPr>
            <a:r>
              <a:rPr sz="840" b="1" i="0">
                <a:solidFill>
                  <a:srgbClr val="0B2E4F"/>
                </a:solidFill>
                <a:latin typeface="Calibri"/>
              </a:rPr>
              <a:t>Skill, not just pictures</a:t>
            </a:r>
          </a:p>
          <a:p>
            <a:pPr>
              <a:lnSpc>
                <a:spcPct val="90000"/>
              </a:lnSpc>
            </a:pPr>
            <a:r>
              <a:rPr sz="720" b="0" i="0">
                <a:solidFill>
                  <a:srgbClr val="556471"/>
                </a:solidFill>
                <a:latin typeface="Calibri"/>
              </a:rPr>
              <a:t>The only viewer that prints how wrong the model is, beside it</a:t>
            </a:r>
          </a:p>
        </p:txBody>
      </p:sp>
      <p:sp>
        <p:nvSpPr>
          <p:cNvPr id="15373" name="Rectangle 15372"/>
          <p:cNvSpPr/>
          <p:nvPr/>
        </p:nvSpPr>
        <p:spPr>
          <a:xfrm>
            <a:off x="1684782" y="5394959"/>
            <a:ext cx="1364742" cy="877824"/>
          </a:xfrm>
          <a:prstGeom prst="rect">
            <a:avLst/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4" name="TextBox 15373"/>
          <p:cNvSpPr txBox="1"/>
          <p:nvPr/>
        </p:nvSpPr>
        <p:spPr>
          <a:xfrm>
            <a:off x="1757934" y="5449824"/>
            <a:ext cx="121843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Aft>
                <a:spcPts val="200"/>
              </a:spcAft>
            </a:pPr>
            <a:r>
              <a:rPr sz="840" b="1" i="0">
                <a:solidFill>
                  <a:srgbClr val="0B2E4F"/>
                </a:solidFill>
                <a:latin typeface="Calibri"/>
              </a:rPr>
              <a:t>Air-gapped by construction</a:t>
            </a:r>
          </a:p>
          <a:p>
            <a:pPr>
              <a:lnSpc>
                <a:spcPct val="90000"/>
              </a:lnSpc>
            </a:pPr>
            <a:r>
              <a:rPr sz="720" b="0" i="0">
                <a:solidFill>
                  <a:srgbClr val="556471"/>
                </a:solidFill>
                <a:latin typeface="Calibri"/>
              </a:rPr>
              <a:t>Zero off-machine requests; a test fails the build if one appears</a:t>
            </a:r>
          </a:p>
        </p:txBody>
      </p:sp>
      <p:sp>
        <p:nvSpPr>
          <p:cNvPr id="15375" name="Rectangle 15374"/>
          <p:cNvSpPr/>
          <p:nvPr/>
        </p:nvSpPr>
        <p:spPr>
          <a:xfrm>
            <a:off x="3131820" y="5394959"/>
            <a:ext cx="1364742" cy="877824"/>
          </a:xfrm>
          <a:prstGeom prst="rect">
            <a:avLst/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3204972" y="5449824"/>
            <a:ext cx="121843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Aft>
                <a:spcPts val="200"/>
              </a:spcAft>
            </a:pPr>
            <a:r>
              <a:rPr sz="840" b="1" i="0">
                <a:solidFill>
                  <a:srgbClr val="0B2E4F"/>
                </a:solidFill>
                <a:latin typeface="Calibri"/>
              </a:rPr>
              <a:t>An agent that cannot invent</a:t>
            </a:r>
          </a:p>
          <a:p>
            <a:pPr>
              <a:lnSpc>
                <a:spcPct val="90000"/>
              </a:lnSpc>
            </a:pPr>
            <a:r>
              <a:rPr sz="720" b="0" i="0">
                <a:solidFill>
                  <a:srgbClr val="556471"/>
                </a:solidFill>
                <a:latin typeface="Calibri"/>
              </a:rPr>
              <a:t>Code withholds any answer stating a number no tool produced</a:t>
            </a:r>
          </a:p>
        </p:txBody>
      </p:sp>
      <p:sp>
        <p:nvSpPr>
          <p:cNvPr id="15377" name="Rectangle 15376"/>
          <p:cNvSpPr/>
          <p:nvPr/>
        </p:nvSpPr>
        <p:spPr>
          <a:xfrm>
            <a:off x="4578858" y="5394959"/>
            <a:ext cx="1364742" cy="877824"/>
          </a:xfrm>
          <a:prstGeom prst="rect">
            <a:avLst/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8" name="TextBox 15377"/>
          <p:cNvSpPr txBox="1"/>
          <p:nvPr/>
        </p:nvSpPr>
        <p:spPr>
          <a:xfrm>
            <a:off x="4652010" y="5449824"/>
            <a:ext cx="1218438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Aft>
                <a:spcPts val="200"/>
              </a:spcAft>
            </a:pPr>
            <a:r>
              <a:rPr sz="840" b="1" i="0">
                <a:solidFill>
                  <a:srgbClr val="0B2E4F"/>
                </a:solidFill>
                <a:latin typeface="Calibri"/>
              </a:rPr>
              <a:t>Derived fields as plugins</a:t>
            </a:r>
          </a:p>
          <a:p>
            <a:pPr>
              <a:lnSpc>
                <a:spcPct val="90000"/>
              </a:lnSpc>
            </a:pPr>
            <a:r>
              <a:rPr sz="720" b="0" i="0">
                <a:solidFill>
                  <a:srgbClr val="556471"/>
                </a:solidFill>
                <a:latin typeface="Calibri"/>
              </a:rPr>
              <a:t>Density (TEOS-10) and cyclone-heat depth, no change to the store</a:t>
            </a:r>
          </a:p>
        </p:txBody>
      </p:sp>
      <p:sp>
        <p:nvSpPr>
          <p:cNvPr id="15379" name="Rectangle 15378"/>
          <p:cNvSpPr/>
          <p:nvPr/>
        </p:nvSpPr>
        <p:spPr>
          <a:xfrm>
            <a:off x="6149340" y="1687068"/>
            <a:ext cx="5493511" cy="3118103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380" name="Picture 15379" descr="shot-B-full-sele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719072"/>
            <a:ext cx="5429503" cy="3054096"/>
          </a:xfrm>
          <a:prstGeom prst="rect">
            <a:avLst/>
          </a:prstGeom>
        </p:spPr>
      </p:pic>
      <p:sp>
        <p:nvSpPr>
          <p:cNvPr id="15381" name="TextBox 15380"/>
          <p:cNvSpPr txBox="1"/>
          <p:nvPr/>
        </p:nvSpPr>
        <p:spPr>
          <a:xfrm>
            <a:off x="6181344" y="4837176"/>
            <a:ext cx="576986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0" i="0">
                <a:solidFill>
                  <a:srgbClr val="556471"/>
                </a:solidFill>
                <a:latin typeface="Calibri"/>
              </a:rPr>
              <a:t>One scene: model field, instrument casts, hazard areas, the verification card and a measured profile against the model.</a:t>
            </a:r>
          </a:p>
        </p:txBody>
      </p:sp>
      <p:sp>
        <p:nvSpPr>
          <p:cNvPr id="15382" name="Rectangle 15381"/>
          <p:cNvSpPr/>
          <p:nvPr/>
        </p:nvSpPr>
        <p:spPr>
          <a:xfrm>
            <a:off x="6153912" y="5184648"/>
            <a:ext cx="3054096" cy="101461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383" name="Picture 15382" descr="crop-verdi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344" y="5212080"/>
            <a:ext cx="2999232" cy="959754"/>
          </a:xfrm>
          <a:prstGeom prst="rect">
            <a:avLst/>
          </a:prstGeom>
        </p:spPr>
      </p:pic>
      <p:sp>
        <p:nvSpPr>
          <p:cNvPr id="15384" name="TextBox 15383"/>
          <p:cNvSpPr txBox="1"/>
          <p:nvPr/>
        </p:nvSpPr>
        <p:spPr>
          <a:xfrm>
            <a:off x="6181344" y="6208410"/>
            <a:ext cx="29992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0" i="0">
                <a:solidFill>
                  <a:srgbClr val="556471"/>
                </a:solidFill>
                <a:latin typeface="Calibri"/>
              </a:rPr>
              <a:t>Printed on the running screen, beside the field itself.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9400032" y="5065776"/>
            <a:ext cx="2240280" cy="237744"/>
          </a:xfrm>
          <a:prstGeom prst="roundRect">
            <a:avLst>
              <a:gd name="adj" fmla="val 32000"/>
            </a:avLst>
          </a:prstGeom>
          <a:solidFill>
            <a:srgbClr val="0E8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PROOF ON SCREEN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9400032" y="5358384"/>
            <a:ext cx="255117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  <a:spcAft>
                <a:spcPts val="300"/>
              </a:spcAft>
            </a:pPr>
            <a:r>
              <a:rPr sz="65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00" b="1" i="0">
                <a:solidFill>
                  <a:srgbClr val="0B2E4F"/>
                </a:solidFill>
                <a:latin typeface="Calibri"/>
              </a:rPr>
              <a:t>11,718 matched pairs</a:t>
            </a:r>
            <a:r>
              <a:rPr sz="800" b="0" i="0">
                <a:solidFill>
                  <a:srgbClr val="14202B"/>
                </a:solidFill>
                <a:latin typeface="Calibri"/>
              </a:rPr>
              <a:t>  from 23 real casts, per depth band</a:t>
            </a:r>
          </a:p>
          <a:p>
            <a:pPr>
              <a:lnSpc>
                <a:spcPct val="90000"/>
              </a:lnSpc>
              <a:spcAft>
                <a:spcPts val="300"/>
              </a:spcAft>
            </a:pPr>
            <a:r>
              <a:rPr sz="65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00" b="1" i="0">
                <a:solidFill>
                  <a:srgbClr val="0B2E4F"/>
                </a:solidFill>
                <a:latin typeface="Calibri"/>
              </a:rPr>
              <a:t>13 ocean parameters</a:t>
            </a:r>
            <a:r>
              <a:rPr sz="800" b="0" i="0">
                <a:solidFill>
                  <a:srgbClr val="14202B"/>
                </a:solidFill>
                <a:latin typeface="Calibri"/>
              </a:rPr>
              <a:t>  including oxygen, chlorophyll-a, nitrate and pH</a:t>
            </a:r>
          </a:p>
          <a:p>
            <a:pPr>
              <a:lnSpc>
                <a:spcPct val="90000"/>
              </a:lnSpc>
              <a:spcAft>
                <a:spcPts val="300"/>
              </a:spcAft>
            </a:pPr>
            <a:r>
              <a:rPr sz="65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00" b="1" i="0">
                <a:solidFill>
                  <a:srgbClr val="0B2E4F"/>
                </a:solidFill>
                <a:latin typeface="Calibri"/>
              </a:rPr>
              <a:t>The caveat is printed in red</a:t>
            </a:r>
            <a:r>
              <a:rPr sz="800" b="0" i="0">
                <a:solidFill>
                  <a:srgbClr val="14202B"/>
                </a:solidFill>
                <a:latin typeface="Calibri"/>
              </a:rPr>
              <a:t>  analysis fit, NOT forecast skill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784" y="54864"/>
            <a:ext cx="9784080" cy="841248"/>
          </a:xfrm>
        </p:spPr>
        <p:txBody>
          <a:bodyPr wrap="square" anchor="ctr"/>
          <a:lstStyle/>
          <a:p>
            <a:pPr eaLnBrk="1" hangingPunct="1" algn="l"/>
            <a:r>
              <a:rPr sz="2600" b="1" i="0">
                <a:solidFill>
                  <a:srgbClr val="0B2E4F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algn="ctr">
              <a:defRPr/>
            </a:pPr>
            <a:r>
              <a:rPr sz="1000" b="1" i="0">
                <a:solidFill>
                  <a:srgbClr val="FFFFFF"/>
                </a:solidFill>
                <a:latin typeface="Calibri"/>
              </a:rPr>
              <a:t>SagarDrishti  ·  PS SIH26067  ·  @SIH Idea Submission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B2E4F"/>
                </a:solidFill>
                <a:latin typeface="Calibri"/>
              </a:rPr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237744" y="1133856"/>
            <a:ext cx="11713464" cy="31089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237744" y="1133856"/>
            <a:ext cx="117134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NetCDF · ASCII · CAP XML</a:t>
            </a:r>
            <a:r>
              <a:rPr sz="1000" b="1" i="0">
                <a:solidFill>
                  <a:srgbClr val="7FB2CC"/>
                </a:solidFill>
                <a:latin typeface="Calibri"/>
              </a:rPr>
              <a:t>   →  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source registry (YAML)</a:t>
            </a:r>
            <a:r>
              <a:rPr sz="1000" b="1" i="0">
                <a:solidFill>
                  <a:srgbClr val="7FB2CC"/>
                </a:solidFill>
                <a:latin typeface="Calibri"/>
              </a:rPr>
              <a:t>   →  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chunked Zarr cube</a:t>
            </a:r>
            <a:r>
              <a:rPr sz="1000" b="1" i="0">
                <a:solidFill>
                  <a:srgbClr val="7FB2CC"/>
                </a:solidFill>
                <a:latin typeface="Calibri"/>
              </a:rPr>
              <a:t>   →  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FastAPI + OGC WMS / WCS</a:t>
            </a:r>
            <a:r>
              <a:rPr sz="1000" b="1" i="0">
                <a:solidFill>
                  <a:srgbClr val="7FB2CC"/>
                </a:solidFill>
                <a:latin typeface="Calibri"/>
              </a:rPr>
              <a:t>   →   </a:t>
            </a:r>
            <a:r>
              <a:rPr sz="1000" b="1" i="0">
                <a:solidFill>
                  <a:srgbClr val="FFFFFF"/>
                </a:solidFill>
                <a:latin typeface="Calibri"/>
              </a:rPr>
              <a:t>WebGL 3D scene in the browser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237744" y="1536192"/>
            <a:ext cx="281863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237744" y="1536192"/>
            <a:ext cx="2818638" cy="237744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310896" y="1536192"/>
            <a:ext cx="267233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0" b="1" i="0">
                <a:solidFill>
                  <a:srgbClr val="FFFFFF"/>
                </a:solidFill>
                <a:latin typeface="Calibri"/>
              </a:rPr>
              <a:t>1    DATA SOURCES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329184" y="1847088"/>
            <a:ext cx="2635758" cy="292608"/>
          </a:xfrm>
          <a:prstGeom prst="roundRect">
            <a:avLst>
              <a:gd name="adj" fmla="val 18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20624" y="1847088"/>
            <a:ext cx="250774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86000"/>
              </a:lnSpc>
            </a:pPr>
            <a:r>
              <a:rPr sz="740" b="1" i="0">
                <a:solidFill>
                  <a:srgbClr val="0B2E4F"/>
                </a:solidFill>
                <a:latin typeface="Calibri"/>
              </a:rPr>
              <a:t>INCOIS ERDDAP  </a:t>
            </a:r>
            <a:r>
              <a:rPr sz="660" b="0" i="0">
                <a:solidFill>
                  <a:srgbClr val="556471"/>
                </a:solidFill>
                <a:latin typeface="Calibri"/>
              </a:rPr>
              <a:t>analysis field · 24 levels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29184" y="2171700"/>
            <a:ext cx="2635758" cy="292608"/>
          </a:xfrm>
          <a:prstGeom prst="roundRect">
            <a:avLst>
              <a:gd name="adj" fmla="val 18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420624" y="2171700"/>
            <a:ext cx="250774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86000"/>
              </a:lnSpc>
            </a:pPr>
            <a:r>
              <a:rPr sz="740" b="1" i="0">
                <a:solidFill>
                  <a:srgbClr val="0B2E4F"/>
                </a:solidFill>
                <a:latin typeface="Calibri"/>
              </a:rPr>
              <a:t>Argo GDAC (Ifremer)  </a:t>
            </a:r>
            <a:r>
              <a:rPr sz="660" b="0" i="0">
                <a:solidFill>
                  <a:srgbClr val="556471"/>
                </a:solidFill>
                <a:latin typeface="Calibri"/>
              </a:rPr>
              <a:t>core float profiles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29184" y="2496312"/>
            <a:ext cx="2635758" cy="292608"/>
          </a:xfrm>
          <a:prstGeom prst="roundRect">
            <a:avLst>
              <a:gd name="adj" fmla="val 18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420624" y="2496312"/>
            <a:ext cx="250774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86000"/>
              </a:lnSpc>
            </a:pPr>
            <a:r>
              <a:rPr sz="740" b="1" i="0">
                <a:solidFill>
                  <a:srgbClr val="0B2E4F"/>
                </a:solidFill>
                <a:latin typeface="Calibri"/>
              </a:rPr>
              <a:t>Argo BGC (Sprof)  </a:t>
            </a:r>
            <a:r>
              <a:rPr sz="660" b="0" i="0">
                <a:solidFill>
                  <a:srgbClr val="556471"/>
                </a:solidFill>
                <a:latin typeface="Calibri"/>
              </a:rPr>
              <a:t>O2 · chl-a · NO3 · pH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329184" y="2820924"/>
            <a:ext cx="2635758" cy="292608"/>
          </a:xfrm>
          <a:prstGeom prst="roundRect">
            <a:avLst>
              <a:gd name="adj" fmla="val 18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420624" y="2820924"/>
            <a:ext cx="250774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86000"/>
              </a:lnSpc>
            </a:pPr>
            <a:r>
              <a:rPr sz="740" b="1" i="0">
                <a:solidFill>
                  <a:srgbClr val="0B2E4F"/>
                </a:solidFill>
                <a:latin typeface="Calibri"/>
              </a:rPr>
              <a:t>RAMA moored buoys  </a:t>
            </a:r>
            <a:r>
              <a:rPr sz="660" b="0" i="0">
                <a:solidFill>
                  <a:srgbClr val="556471"/>
                </a:solidFill>
                <a:latin typeface="Calibri"/>
              </a:rPr>
              <a:t>the 90 E line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29184" y="3145536"/>
            <a:ext cx="2635758" cy="292608"/>
          </a:xfrm>
          <a:prstGeom prst="roundRect">
            <a:avLst>
              <a:gd name="adj" fmla="val 18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420624" y="3145536"/>
            <a:ext cx="250774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86000"/>
              </a:lnSpc>
            </a:pPr>
            <a:r>
              <a:rPr sz="740" b="1" i="0">
                <a:solidFill>
                  <a:srgbClr val="0B2E4F"/>
                </a:solidFill>
                <a:latin typeface="Calibri"/>
              </a:rPr>
              <a:t>Copernicus GLORYS  </a:t>
            </a:r>
            <a:r>
              <a:rPr sz="660" b="0" i="0">
                <a:solidFill>
                  <a:srgbClr val="556471"/>
                </a:solidFill>
                <a:latin typeface="Calibri"/>
              </a:rPr>
              <a:t>currents · 1/12 deg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329184" y="3470148"/>
            <a:ext cx="2635758" cy="292608"/>
          </a:xfrm>
          <a:prstGeom prst="roundRect">
            <a:avLst>
              <a:gd name="adj" fmla="val 18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420624" y="3470148"/>
            <a:ext cx="250774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86000"/>
              </a:lnSpc>
            </a:pPr>
            <a:r>
              <a:rPr sz="740" b="1" i="0">
                <a:solidFill>
                  <a:srgbClr val="0B2E4F"/>
                </a:solidFill>
                <a:latin typeface="Calibri"/>
              </a:rPr>
              <a:t>NDMA SACHET  </a:t>
            </a:r>
            <a:r>
              <a:rPr sz="660" b="0" i="0">
                <a:solidFill>
                  <a:srgbClr val="556471"/>
                </a:solidFill>
                <a:latin typeface="Calibri"/>
              </a:rPr>
              <a:t>CAP v1.2 alert feed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237744" y="3977639"/>
            <a:ext cx="28186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" b="1" i="0">
                <a:solidFill>
                  <a:srgbClr val="0B2E4F"/>
                </a:solidFill>
                <a:latin typeface="Calibri"/>
              </a:rPr>
              <a:t>All open. No licence, no paywall.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3202685" y="1536192"/>
            <a:ext cx="281863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9" name="Rectangle 17428"/>
          <p:cNvSpPr/>
          <p:nvPr/>
        </p:nvSpPr>
        <p:spPr>
          <a:xfrm>
            <a:off x="3202685" y="1536192"/>
            <a:ext cx="2818638" cy="237744"/>
          </a:xfrm>
          <a:prstGeom prst="rect">
            <a:avLst/>
          </a:prstGeom>
          <a:solidFill>
            <a:srgbClr val="12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0" name="TextBox 17429"/>
          <p:cNvSpPr txBox="1"/>
          <p:nvPr/>
        </p:nvSpPr>
        <p:spPr>
          <a:xfrm>
            <a:off x="3275837" y="1536192"/>
            <a:ext cx="267233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0" b="1" i="0">
                <a:solidFill>
                  <a:srgbClr val="FFFFFF"/>
                </a:solidFill>
                <a:latin typeface="Calibri"/>
              </a:rPr>
              <a:t>2    INGEST AND REGISTRY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3294125" y="1847088"/>
            <a:ext cx="2635758" cy="356616"/>
          </a:xfrm>
          <a:prstGeom prst="roundRect">
            <a:avLst>
              <a:gd name="adj" fmla="val 140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3367277" y="1874519"/>
            <a:ext cx="250774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84000"/>
              </a:lnSpc>
            </a:pPr>
            <a:r>
              <a:rPr sz="720" b="1" i="0">
                <a:solidFill>
                  <a:srgbClr val="12688F"/>
                </a:solidFill>
                <a:latin typeface="Calibri"/>
              </a:rPr>
              <a:t>data/sources.yaml</a:t>
            </a:r>
          </a:p>
          <a:p>
            <a:pPr>
              <a:lnSpc>
                <a:spcPct val="84000"/>
              </a:lnSpc>
            </a:pPr>
            <a:r>
              <a:rPr sz="640" b="0" i="0">
                <a:solidFill>
                  <a:srgbClr val="14202B"/>
                </a:solidFill>
                <a:latin typeface="Calibri"/>
              </a:rPr>
              <a:t>one entry per source: kind, variables, units</a:t>
            </a:r>
          </a:p>
        </p:txBody>
      </p:sp>
      <p:cxnSp>
        <p:nvCxnSpPr>
          <p:cNvPr id="17433" name="Connector 17432"/>
          <p:cNvCxnSpPr/>
          <p:nvPr/>
        </p:nvCxnSpPr>
        <p:spPr>
          <a:xfrm>
            <a:off x="4612004" y="2203704"/>
            <a:ext cx="0" cy="42976"/>
          </a:xfrm>
          <a:prstGeom prst="line">
            <a:avLst/>
          </a:prstGeom>
          <a:ln w="12700">
            <a:solidFill>
              <a:srgbClr val="1268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4" name="Rounded Rectangle 17433"/>
          <p:cNvSpPr/>
          <p:nvPr/>
        </p:nvSpPr>
        <p:spPr>
          <a:xfrm>
            <a:off x="3294125" y="2249424"/>
            <a:ext cx="2635758" cy="356616"/>
          </a:xfrm>
          <a:prstGeom prst="roundRect">
            <a:avLst>
              <a:gd name="adj" fmla="val 140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3367277" y="2276856"/>
            <a:ext cx="250774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84000"/>
              </a:lnSpc>
            </a:pPr>
            <a:r>
              <a:rPr sz="720" b="1" i="0">
                <a:solidFill>
                  <a:srgbClr val="12688F"/>
                </a:solidFill>
                <a:latin typeface="Calibri"/>
              </a:rPr>
              <a:t>CF normalisation</a:t>
            </a:r>
          </a:p>
          <a:p>
            <a:pPr>
              <a:lnSpc>
                <a:spcPct val="84000"/>
              </a:lnSpc>
            </a:pPr>
            <a:r>
              <a:rPr sz="640" b="0" i="0">
                <a:solidFill>
                  <a:srgbClr val="14202B"/>
                </a:solidFill>
                <a:latin typeface="Calibri"/>
              </a:rPr>
              <a:t>two fill conventions, scale_factor, depth-positive-down</a:t>
            </a:r>
          </a:p>
        </p:txBody>
      </p:sp>
      <p:cxnSp>
        <p:nvCxnSpPr>
          <p:cNvPr id="17436" name="Connector 17435"/>
          <p:cNvCxnSpPr/>
          <p:nvPr/>
        </p:nvCxnSpPr>
        <p:spPr>
          <a:xfrm>
            <a:off x="4612004" y="2606040"/>
            <a:ext cx="0" cy="42976"/>
          </a:xfrm>
          <a:prstGeom prst="line">
            <a:avLst/>
          </a:prstGeom>
          <a:ln w="12700">
            <a:solidFill>
              <a:srgbClr val="1268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7" name="Rounded Rectangle 17436"/>
          <p:cNvSpPr/>
          <p:nvPr/>
        </p:nvSpPr>
        <p:spPr>
          <a:xfrm>
            <a:off x="3294125" y="2651760"/>
            <a:ext cx="2635758" cy="356616"/>
          </a:xfrm>
          <a:prstGeom prst="roundRect">
            <a:avLst>
              <a:gd name="adj" fmla="val 140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3367277" y="2679191"/>
            <a:ext cx="250774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84000"/>
              </a:lnSpc>
            </a:pPr>
            <a:r>
              <a:rPr sz="720" b="1" i="0">
                <a:solidFill>
                  <a:srgbClr val="12688F"/>
                </a:solidFill>
                <a:latin typeface="Calibri"/>
              </a:rPr>
              <a:t>Quality control</a:t>
            </a:r>
          </a:p>
          <a:p>
            <a:pPr>
              <a:lnSpc>
                <a:spcPct val="84000"/>
              </a:lnSpc>
            </a:pPr>
            <a:r>
              <a:rPr sz="640" b="0" i="0">
                <a:solidFill>
                  <a:srgbClr val="14202B"/>
                </a:solidFill>
                <a:latin typeface="Calibri"/>
              </a:rPr>
              <a:t>Argo flags 1 and 2; pressure to depth by TEOS-10</a:t>
            </a:r>
          </a:p>
        </p:txBody>
      </p:sp>
      <p:cxnSp>
        <p:nvCxnSpPr>
          <p:cNvPr id="17439" name="Connector 17438"/>
          <p:cNvCxnSpPr/>
          <p:nvPr/>
        </p:nvCxnSpPr>
        <p:spPr>
          <a:xfrm>
            <a:off x="4612004" y="3008376"/>
            <a:ext cx="0" cy="42976"/>
          </a:xfrm>
          <a:prstGeom prst="line">
            <a:avLst/>
          </a:prstGeom>
          <a:ln w="12700">
            <a:solidFill>
              <a:srgbClr val="1268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0" name="Rounded Rectangle 17439"/>
          <p:cNvSpPr/>
          <p:nvPr/>
        </p:nvSpPr>
        <p:spPr>
          <a:xfrm>
            <a:off x="3294125" y="3054096"/>
            <a:ext cx="2635758" cy="356616"/>
          </a:xfrm>
          <a:prstGeom prst="roundRect">
            <a:avLst>
              <a:gd name="adj" fmla="val 140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3367277" y="3081527"/>
            <a:ext cx="250774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84000"/>
              </a:lnSpc>
            </a:pPr>
            <a:r>
              <a:rPr sz="720" b="1" i="0">
                <a:solidFill>
                  <a:srgbClr val="12688F"/>
                </a:solidFill>
                <a:latin typeface="Calibri"/>
              </a:rPr>
              <a:t>Plugins</a:t>
            </a:r>
          </a:p>
          <a:p>
            <a:pPr>
              <a:lnSpc>
                <a:spcPct val="84000"/>
              </a:lnSpc>
            </a:pPr>
            <a:r>
              <a:rPr sz="640" b="0" i="0">
                <a:solidFill>
                  <a:srgbClr val="14202B"/>
                </a:solidFill>
                <a:latin typeface="Calibri"/>
              </a:rPr>
              <a:t>new instrument kinds and derived fields</a:t>
            </a:r>
          </a:p>
        </p:txBody>
      </p:sp>
      <p:cxnSp>
        <p:nvCxnSpPr>
          <p:cNvPr id="17442" name="Connector 17441"/>
          <p:cNvCxnSpPr/>
          <p:nvPr/>
        </p:nvCxnSpPr>
        <p:spPr>
          <a:xfrm>
            <a:off x="4612004" y="3410712"/>
            <a:ext cx="0" cy="42976"/>
          </a:xfrm>
          <a:prstGeom prst="line">
            <a:avLst/>
          </a:prstGeom>
          <a:ln w="12700">
            <a:solidFill>
              <a:srgbClr val="1268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3" name="Rounded Rectangle 17442"/>
          <p:cNvSpPr/>
          <p:nvPr/>
        </p:nvSpPr>
        <p:spPr>
          <a:xfrm>
            <a:off x="3294125" y="3456432"/>
            <a:ext cx="2635758" cy="356616"/>
          </a:xfrm>
          <a:prstGeom prst="roundRect">
            <a:avLst>
              <a:gd name="adj" fmla="val 14000"/>
            </a:avLst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3367277" y="3483864"/>
            <a:ext cx="250774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84000"/>
              </a:lnSpc>
            </a:pPr>
            <a:r>
              <a:rPr sz="720" b="1" i="0">
                <a:solidFill>
                  <a:srgbClr val="12688F"/>
                </a:solidFill>
                <a:latin typeface="Calibri"/>
              </a:rPr>
              <a:t>Rechunk to Zarr</a:t>
            </a:r>
          </a:p>
          <a:p>
            <a:pPr>
              <a:lnSpc>
                <a:spcPct val="84000"/>
              </a:lnSpc>
            </a:pPr>
            <a:r>
              <a:rPr sz="640" b="0" i="0">
                <a:solidFill>
                  <a:srgbClr val="14202B"/>
                </a:solidFill>
                <a:latin typeface="Calibri"/>
              </a:rPr>
              <a:t>10.5 M gridded values · 16,390 levels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3202685" y="3977639"/>
            <a:ext cx="28186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" b="1" i="0">
                <a:solidFill>
                  <a:srgbClr val="12688F"/>
                </a:solidFill>
                <a:latin typeface="Calibri"/>
              </a:rPr>
              <a:t>A new source is config, not a rewrite.</a:t>
            </a:r>
          </a:p>
        </p:txBody>
      </p:sp>
      <p:sp>
        <p:nvSpPr>
          <p:cNvPr id="17446" name="Rectangle 17445"/>
          <p:cNvSpPr/>
          <p:nvPr/>
        </p:nvSpPr>
        <p:spPr>
          <a:xfrm>
            <a:off x="6167627" y="1536192"/>
            <a:ext cx="281863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7" name="Rectangle 17446"/>
          <p:cNvSpPr/>
          <p:nvPr/>
        </p:nvSpPr>
        <p:spPr>
          <a:xfrm>
            <a:off x="6167627" y="1536192"/>
            <a:ext cx="2818638" cy="237744"/>
          </a:xfrm>
          <a:prstGeom prst="rect">
            <a:avLst/>
          </a:prstGeom>
          <a:solidFill>
            <a:srgbClr val="0E8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6240779" y="1536192"/>
            <a:ext cx="267233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0" b="1" i="0">
                <a:solidFill>
                  <a:srgbClr val="FFFFFF"/>
                </a:solidFill>
                <a:latin typeface="Calibri"/>
              </a:rPr>
              <a:t>3    DATA PLANE  (FastAPI)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277355" y="1865376"/>
            <a:ext cx="259918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86000"/>
              </a:lnSpc>
            </a:pPr>
            <a:r>
              <a:rPr sz="760" b="1" i="0">
                <a:solidFill>
                  <a:srgbClr val="0E8C9A"/>
                </a:solidFill>
                <a:latin typeface="Calibri"/>
              </a:rPr>
              <a:t>/field   </a:t>
            </a:r>
            <a:r>
              <a:rPr sz="660" b="0" i="0">
                <a:solidFill>
                  <a:srgbClr val="14202B"/>
                </a:solidFill>
                <a:latin typeface="Calibri"/>
              </a:rPr>
              <a:t>a whole water column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6277355" y="2123236"/>
            <a:ext cx="2599182" cy="6400"/>
          </a:xfrm>
          <a:prstGeom prst="rect">
            <a:avLst/>
          </a:prstGeom>
          <a:solidFill>
            <a:srgbClr val="C3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6277355" y="2144268"/>
            <a:ext cx="259918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86000"/>
              </a:lnSpc>
            </a:pPr>
            <a:r>
              <a:rPr sz="760" b="1" i="0">
                <a:solidFill>
                  <a:srgbClr val="0E8C9A"/>
                </a:solidFill>
                <a:latin typeface="Calibri"/>
              </a:rPr>
              <a:t>/profiles   </a:t>
            </a:r>
            <a:r>
              <a:rPr sz="660" b="0" i="0">
                <a:solidFill>
                  <a:srgbClr val="14202B"/>
                </a:solidFill>
                <a:latin typeface="Calibri"/>
              </a:rPr>
              <a:t>instrument casts and levels</a:t>
            </a:r>
          </a:p>
        </p:txBody>
      </p:sp>
      <p:sp>
        <p:nvSpPr>
          <p:cNvPr id="17452" name="Rectangle 17451"/>
          <p:cNvSpPr/>
          <p:nvPr/>
        </p:nvSpPr>
        <p:spPr>
          <a:xfrm>
            <a:off x="6277355" y="2402128"/>
            <a:ext cx="2599182" cy="6400"/>
          </a:xfrm>
          <a:prstGeom prst="rect">
            <a:avLst/>
          </a:prstGeom>
          <a:solidFill>
            <a:srgbClr val="C3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6277355" y="2423160"/>
            <a:ext cx="259918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86000"/>
              </a:lnSpc>
            </a:pPr>
            <a:r>
              <a:rPr sz="760" b="1" i="0">
                <a:solidFill>
                  <a:srgbClr val="0E8C9A"/>
                </a:solidFill>
                <a:latin typeface="Calibri"/>
              </a:rPr>
              <a:t>/isosurface   </a:t>
            </a:r>
            <a:r>
              <a:rPr sz="660" b="0" i="0">
                <a:solidFill>
                  <a:srgbClr val="14202B"/>
                </a:solidFill>
                <a:latin typeface="Calibri"/>
              </a:rPr>
              <a:t>marching-cubes mesh</a:t>
            </a:r>
          </a:p>
        </p:txBody>
      </p:sp>
      <p:sp>
        <p:nvSpPr>
          <p:cNvPr id="17454" name="Rectangle 17453"/>
          <p:cNvSpPr/>
          <p:nvPr/>
        </p:nvSpPr>
        <p:spPr>
          <a:xfrm>
            <a:off x="6277355" y="2681020"/>
            <a:ext cx="2599182" cy="6400"/>
          </a:xfrm>
          <a:prstGeom prst="rect">
            <a:avLst/>
          </a:prstGeom>
          <a:solidFill>
            <a:srgbClr val="C3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6277355" y="2702052"/>
            <a:ext cx="259918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86000"/>
              </a:lnSpc>
            </a:pPr>
            <a:r>
              <a:rPr sz="760" b="1" i="0">
                <a:solidFill>
                  <a:srgbClr val="0E8C9A"/>
                </a:solidFill>
                <a:latin typeface="Calibri"/>
              </a:rPr>
              <a:t>/currents   </a:t>
            </a:r>
            <a:r>
              <a:rPr sz="660" b="0" i="0">
                <a:solidFill>
                  <a:srgbClr val="14202B"/>
                </a:solidFill>
                <a:latin typeface="Calibri"/>
              </a:rPr>
              <a:t>block-averaged vectors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6277355" y="2959912"/>
            <a:ext cx="2599182" cy="6400"/>
          </a:xfrm>
          <a:prstGeom prst="rect">
            <a:avLst/>
          </a:prstGeom>
          <a:solidFill>
            <a:srgbClr val="C3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6277355" y="2980944"/>
            <a:ext cx="259918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86000"/>
              </a:lnSpc>
            </a:pPr>
            <a:r>
              <a:rPr sz="760" b="1" i="0">
                <a:solidFill>
                  <a:srgbClr val="0E8C9A"/>
                </a:solidFill>
                <a:latin typeface="Calibri"/>
              </a:rPr>
              <a:t>/scorecard   </a:t>
            </a:r>
            <a:r>
              <a:rPr sz="660" b="0" i="0">
                <a:solidFill>
                  <a:srgbClr val="14202B"/>
                </a:solidFill>
                <a:latin typeface="Calibri"/>
              </a:rPr>
              <a:t>Class-4 verification</a:t>
            </a:r>
          </a:p>
        </p:txBody>
      </p:sp>
      <p:sp>
        <p:nvSpPr>
          <p:cNvPr id="17458" name="Rectangle 17457"/>
          <p:cNvSpPr/>
          <p:nvPr/>
        </p:nvSpPr>
        <p:spPr>
          <a:xfrm>
            <a:off x="6277355" y="3238804"/>
            <a:ext cx="2599182" cy="6400"/>
          </a:xfrm>
          <a:prstGeom prst="rect">
            <a:avLst/>
          </a:prstGeom>
          <a:solidFill>
            <a:srgbClr val="C3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6277355" y="3259836"/>
            <a:ext cx="259918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86000"/>
              </a:lnSpc>
            </a:pPr>
            <a:r>
              <a:rPr sz="760" b="1" i="0">
                <a:solidFill>
                  <a:srgbClr val="0E8C9A"/>
                </a:solidFill>
                <a:latin typeface="Calibri"/>
              </a:rPr>
              <a:t>/warnings   </a:t>
            </a:r>
            <a:r>
              <a:rPr sz="660" b="0" i="0">
                <a:solidFill>
                  <a:srgbClr val="14202B"/>
                </a:solidFill>
                <a:latin typeface="Calibri"/>
              </a:rPr>
              <a:t>active CAP areas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6277355" y="3517696"/>
            <a:ext cx="2599182" cy="6400"/>
          </a:xfrm>
          <a:prstGeom prst="rect">
            <a:avLst/>
          </a:prstGeom>
          <a:solidFill>
            <a:srgbClr val="C3D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6277355" y="3538728"/>
            <a:ext cx="2599182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86000"/>
              </a:lnSpc>
            </a:pPr>
            <a:r>
              <a:rPr sz="760" b="1" i="0">
                <a:solidFill>
                  <a:srgbClr val="0E8C9A"/>
                </a:solidFill>
                <a:latin typeface="Calibri"/>
              </a:rPr>
              <a:t>/wms  /wcs   </a:t>
            </a:r>
            <a:r>
              <a:rPr sz="660" b="0" i="0">
                <a:solidFill>
                  <a:srgbClr val="14202B"/>
                </a:solidFill>
                <a:latin typeface="Calibri"/>
              </a:rPr>
              <a:t>OGC · CF-1.8 NetCDF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6167627" y="3977639"/>
            <a:ext cx="28186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" b="1" i="0">
                <a:solidFill>
                  <a:srgbClr val="0E8C9A"/>
                </a:solidFill>
                <a:latin typeface="Calibri"/>
              </a:rPr>
              <a:t>Offline by default: reads only the local cube.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9132569" y="1536192"/>
            <a:ext cx="281863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4" name="Rectangle 17463"/>
          <p:cNvSpPr/>
          <p:nvPr/>
        </p:nvSpPr>
        <p:spPr>
          <a:xfrm>
            <a:off x="9132569" y="1536192"/>
            <a:ext cx="2818638" cy="237744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5" name="TextBox 17464"/>
          <p:cNvSpPr txBox="1"/>
          <p:nvPr/>
        </p:nvSpPr>
        <p:spPr>
          <a:xfrm>
            <a:off x="9205722" y="1536192"/>
            <a:ext cx="267233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0" b="1" i="0">
                <a:solidFill>
                  <a:srgbClr val="FFFFFF"/>
                </a:solidFill>
                <a:latin typeface="Calibri"/>
              </a:rPr>
              <a:t>4    BROWSER  (CesiumJS · WebGL2)</a:t>
            </a:r>
          </a:p>
        </p:txBody>
      </p:sp>
      <p:pic>
        <p:nvPicPr>
          <p:cNvPr id="17466" name="Picture 17465" descr="scene-thum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2297" y="1847088"/>
            <a:ext cx="2599182" cy="1297311"/>
          </a:xfrm>
          <a:prstGeom prst="rect">
            <a:avLst/>
          </a:prstGeom>
        </p:spPr>
      </p:pic>
      <p:sp>
        <p:nvSpPr>
          <p:cNvPr id="17467" name="Rectangle 17466"/>
          <p:cNvSpPr/>
          <p:nvPr/>
        </p:nvSpPr>
        <p:spPr>
          <a:xfrm>
            <a:off x="9242297" y="1847088"/>
            <a:ext cx="2599182" cy="12801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9242297" y="3226381"/>
            <a:ext cx="2599182" cy="6323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88000"/>
              </a:lnSpc>
              <a:spcAft>
                <a:spcPts val="150"/>
              </a:spcAft>
            </a:pPr>
            <a:r>
              <a:rPr sz="640" b="1" i="0">
                <a:solidFill>
                  <a:srgbClr val="12688F"/>
                </a:solidFill>
                <a:latin typeface="Calibri"/>
              </a:rPr>
              <a:t>▪ </a:t>
            </a:r>
            <a:r>
              <a:rPr sz="690" b="0" i="0">
                <a:solidFill>
                  <a:srgbClr val="14202B"/>
                </a:solidFill>
                <a:latin typeface="Calibri"/>
              </a:rPr>
              <a:t>Depth slices · isosurface · time animation</a:t>
            </a:r>
          </a:p>
          <a:p>
            <a:pPr>
              <a:lnSpc>
                <a:spcPct val="88000"/>
              </a:lnSpc>
              <a:spcAft>
                <a:spcPts val="150"/>
              </a:spcAft>
            </a:pPr>
            <a:r>
              <a:rPr sz="640" b="1" i="0">
                <a:solidFill>
                  <a:srgbClr val="12688F"/>
                </a:solidFill>
                <a:latin typeface="Calibri"/>
              </a:rPr>
              <a:t>▪ </a:t>
            </a:r>
            <a:r>
              <a:rPr sz="690" b="0" i="0">
                <a:solidFill>
                  <a:srgbClr val="14202B"/>
                </a:solidFill>
                <a:latin typeface="Calibri"/>
              </a:rPr>
              <a:t>Current vectors at the depth cursor</a:t>
            </a:r>
          </a:p>
          <a:p>
            <a:pPr>
              <a:lnSpc>
                <a:spcPct val="88000"/>
              </a:lnSpc>
              <a:spcAft>
                <a:spcPts val="150"/>
              </a:spcAft>
            </a:pPr>
            <a:r>
              <a:rPr sz="640" b="1" i="0">
                <a:solidFill>
                  <a:srgbClr val="12688F"/>
                </a:solidFill>
                <a:latin typeface="Calibri"/>
              </a:rPr>
              <a:t>▪ </a:t>
            </a:r>
            <a:r>
              <a:rPr sz="690" b="0" i="0">
                <a:solidFill>
                  <a:srgbClr val="14202B"/>
                </a:solidFill>
                <a:latin typeface="Calibri"/>
              </a:rPr>
              <a:t>Instrument marks told apart by shape</a:t>
            </a:r>
          </a:p>
          <a:p>
            <a:pPr>
              <a:lnSpc>
                <a:spcPct val="88000"/>
              </a:lnSpc>
              <a:spcAft>
                <a:spcPts val="150"/>
              </a:spcAft>
            </a:pPr>
            <a:r>
              <a:rPr sz="640" b="1" i="0">
                <a:solidFill>
                  <a:srgbClr val="12688F"/>
                </a:solidFill>
                <a:latin typeface="Calibri"/>
              </a:rPr>
              <a:t>▪ </a:t>
            </a:r>
            <a:r>
              <a:rPr sz="690" b="0" i="0">
                <a:solidFill>
                  <a:srgbClr val="14202B"/>
                </a:solidFill>
                <a:latin typeface="Calibri"/>
              </a:rPr>
              <a:t>Colorbar editor · depth cursor · 200x exaggeration</a:t>
            </a:r>
          </a:p>
          <a:p>
            <a:pPr>
              <a:lnSpc>
                <a:spcPct val="88000"/>
              </a:lnSpc>
              <a:spcAft>
                <a:spcPts val="150"/>
              </a:spcAft>
            </a:pPr>
            <a:r>
              <a:rPr sz="640" b="1" i="0">
                <a:solidFill>
                  <a:srgbClr val="12688F"/>
                </a:solidFill>
                <a:latin typeface="Calibri"/>
              </a:rPr>
              <a:t>▪ </a:t>
            </a:r>
            <a:r>
              <a:rPr sz="690" b="0" i="0">
                <a:solidFill>
                  <a:srgbClr val="14202B"/>
                </a:solidFill>
                <a:latin typeface="Calibri"/>
              </a:rPr>
              <a:t>Guided tours that drive the scene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9132569" y="3977639"/>
            <a:ext cx="28186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20" b="1" i="0">
                <a:solidFill>
                  <a:srgbClr val="0B2E4F"/>
                </a:solidFill>
                <a:latin typeface="Calibri"/>
              </a:rPr>
              <a:t>No install. 51 fps at 1080p on an integrated GPU.</a:t>
            </a:r>
          </a:p>
        </p:txBody>
      </p:sp>
      <p:cxnSp>
        <p:nvCxnSpPr>
          <p:cNvPr id="17470" name="Connector 17469"/>
          <p:cNvCxnSpPr/>
          <p:nvPr/>
        </p:nvCxnSpPr>
        <p:spPr>
          <a:xfrm>
            <a:off x="3067354" y="2734056"/>
            <a:ext cx="124359" cy="0"/>
          </a:xfrm>
          <a:prstGeom prst="line">
            <a:avLst/>
          </a:prstGeom>
          <a:ln w="25400">
            <a:solidFill>
              <a:srgbClr val="1268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1" name="TextBox 17470"/>
          <p:cNvSpPr txBox="1"/>
          <p:nvPr/>
        </p:nvSpPr>
        <p:spPr>
          <a:xfrm>
            <a:off x="2873502" y="2441448"/>
            <a:ext cx="5120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" b="0" i="1">
                <a:solidFill>
                  <a:srgbClr val="556471"/>
                </a:solidFill>
                <a:latin typeface="Calibri"/>
              </a:rPr>
              <a:t>NetCDF · XML</a:t>
            </a:r>
          </a:p>
        </p:txBody>
      </p:sp>
      <p:cxnSp>
        <p:nvCxnSpPr>
          <p:cNvPr id="17472" name="Connector 17471"/>
          <p:cNvCxnSpPr/>
          <p:nvPr/>
        </p:nvCxnSpPr>
        <p:spPr>
          <a:xfrm>
            <a:off x="6032296" y="2734056"/>
            <a:ext cx="124359" cy="0"/>
          </a:xfrm>
          <a:prstGeom prst="line">
            <a:avLst/>
          </a:prstGeom>
          <a:ln w="25400">
            <a:solidFill>
              <a:srgbClr val="1268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3" name="TextBox 17472"/>
          <p:cNvSpPr txBox="1"/>
          <p:nvPr/>
        </p:nvSpPr>
        <p:spPr>
          <a:xfrm>
            <a:off x="5838443" y="244144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" b="0" i="1">
                <a:solidFill>
                  <a:srgbClr val="556471"/>
                </a:solidFill>
                <a:latin typeface="Calibri"/>
              </a:rPr>
              <a:t>zarr chunks</a:t>
            </a:r>
          </a:p>
        </p:txBody>
      </p:sp>
      <p:cxnSp>
        <p:nvCxnSpPr>
          <p:cNvPr id="17474" name="Connector 17473"/>
          <p:cNvCxnSpPr/>
          <p:nvPr/>
        </p:nvCxnSpPr>
        <p:spPr>
          <a:xfrm>
            <a:off x="8997238" y="2734056"/>
            <a:ext cx="124359" cy="0"/>
          </a:xfrm>
          <a:prstGeom prst="line">
            <a:avLst/>
          </a:prstGeom>
          <a:ln w="25400">
            <a:solidFill>
              <a:srgbClr val="12688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5" name="TextBox 17474"/>
          <p:cNvSpPr txBox="1"/>
          <p:nvPr/>
        </p:nvSpPr>
        <p:spPr>
          <a:xfrm>
            <a:off x="8803386" y="2441448"/>
            <a:ext cx="5120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40" b="0" i="1">
                <a:solidFill>
                  <a:srgbClr val="556471"/>
                </a:solidFill>
                <a:latin typeface="Calibri"/>
              </a:rPr>
              <a:t>JSON · PNG</a:t>
            </a:r>
          </a:p>
        </p:txBody>
      </p:sp>
      <p:sp>
        <p:nvSpPr>
          <p:cNvPr id="17476" name="Rectangle 17475"/>
          <p:cNvSpPr/>
          <p:nvPr/>
        </p:nvSpPr>
        <p:spPr>
          <a:xfrm>
            <a:off x="237744" y="4206240"/>
            <a:ext cx="3806952" cy="914400"/>
          </a:xfrm>
          <a:prstGeom prst="rect">
            <a:avLst/>
          </a:prstGeom>
          <a:solidFill>
            <a:srgbClr val="EFF4F7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7" name="Rectangle 17476"/>
          <p:cNvSpPr/>
          <p:nvPr/>
        </p:nvSpPr>
        <p:spPr>
          <a:xfrm>
            <a:off x="237744" y="4206240"/>
            <a:ext cx="50292" cy="914400"/>
          </a:xfrm>
          <a:prstGeom prst="rect">
            <a:avLst/>
          </a:prstGeom>
          <a:solidFill>
            <a:srgbClr val="0E8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8" name="Oval 17477"/>
          <p:cNvSpPr/>
          <p:nvPr/>
        </p:nvSpPr>
        <p:spPr>
          <a:xfrm>
            <a:off x="374904" y="4288536"/>
            <a:ext cx="201168" cy="201168"/>
          </a:xfrm>
          <a:prstGeom prst="ellipse">
            <a:avLst/>
          </a:prstGeom>
          <a:solidFill>
            <a:srgbClr val="0E8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79" name="TextBox 17478"/>
          <p:cNvSpPr txBox="1"/>
          <p:nvPr/>
        </p:nvSpPr>
        <p:spPr>
          <a:xfrm>
            <a:off x="640080" y="4279392"/>
            <a:ext cx="3294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 i="0">
                <a:solidFill>
                  <a:srgbClr val="0E8C9A"/>
                </a:solidFill>
                <a:latin typeface="Calibri"/>
              </a:rPr>
              <a:t>VERIFICATION  ·  Class-4 method</a:t>
            </a:r>
          </a:p>
        </p:txBody>
      </p:sp>
      <p:sp>
        <p:nvSpPr>
          <p:cNvPr id="17480" name="TextBox 17479"/>
          <p:cNvSpPr txBox="1"/>
          <p:nvPr/>
        </p:nvSpPr>
        <p:spPr>
          <a:xfrm>
            <a:off x="374904" y="4526279"/>
            <a:ext cx="35326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00" b="0" i="0">
                <a:solidFill>
                  <a:srgbClr val="14202B"/>
                </a:solidFill>
                <a:latin typeface="Calibri"/>
              </a:rPr>
              <a:t>The model is interpolated to each cast's own position and depth, bilinear in latitude and longitude and linear in depth. A level is refused, never filled, if a surrounding cell is missing; all 4,672 unpaired levels are counted and served by reason.</a:t>
            </a:r>
          </a:p>
        </p:txBody>
      </p:sp>
      <p:cxnSp>
        <p:nvCxnSpPr>
          <p:cNvPr id="17481" name="Connector 17480"/>
          <p:cNvCxnSpPr/>
          <p:nvPr/>
        </p:nvCxnSpPr>
        <p:spPr>
          <a:xfrm>
            <a:off x="2141220" y="4059935"/>
            <a:ext cx="0" cy="137161"/>
          </a:xfrm>
          <a:prstGeom prst="line">
            <a:avLst/>
          </a:prstGeom>
          <a:ln w="15875">
            <a:solidFill>
              <a:srgbClr val="0E8C9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2" name="Rectangle 17481"/>
          <p:cNvSpPr/>
          <p:nvPr/>
        </p:nvSpPr>
        <p:spPr>
          <a:xfrm>
            <a:off x="4190999" y="4206240"/>
            <a:ext cx="3806952" cy="914400"/>
          </a:xfrm>
          <a:prstGeom prst="rect">
            <a:avLst/>
          </a:prstGeom>
          <a:solidFill>
            <a:srgbClr val="EFF4F7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3" name="Rectangle 17482"/>
          <p:cNvSpPr/>
          <p:nvPr/>
        </p:nvSpPr>
        <p:spPr>
          <a:xfrm>
            <a:off x="4190999" y="4206240"/>
            <a:ext cx="50292" cy="914400"/>
          </a:xfrm>
          <a:prstGeom prst="rect">
            <a:avLst/>
          </a:prstGeom>
          <a:solidFill>
            <a:srgbClr val="C44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4" name="Oval 17483"/>
          <p:cNvSpPr/>
          <p:nvPr/>
        </p:nvSpPr>
        <p:spPr>
          <a:xfrm>
            <a:off x="4328160" y="4288536"/>
            <a:ext cx="201168" cy="201168"/>
          </a:xfrm>
          <a:prstGeom prst="ellipse">
            <a:avLst/>
          </a:prstGeom>
          <a:solidFill>
            <a:srgbClr val="C44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7485" name="TextBox 17484"/>
          <p:cNvSpPr txBox="1"/>
          <p:nvPr/>
        </p:nvSpPr>
        <p:spPr>
          <a:xfrm>
            <a:off x="4593336" y="4279392"/>
            <a:ext cx="3294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 i="0">
                <a:solidFill>
                  <a:srgbClr val="C44528"/>
                </a:solidFill>
                <a:latin typeface="Calibri"/>
              </a:rPr>
              <a:t>AGENT PLANE  ·  detachable service</a:t>
            </a:r>
          </a:p>
        </p:txBody>
      </p:sp>
      <p:sp>
        <p:nvSpPr>
          <p:cNvPr id="17486" name="TextBox 17485"/>
          <p:cNvSpPr txBox="1"/>
          <p:nvPr/>
        </p:nvSpPr>
        <p:spPr>
          <a:xfrm>
            <a:off x="4328160" y="4526279"/>
            <a:ext cx="35326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00" b="0" i="0">
                <a:solidFill>
                  <a:srgbClr val="14202B"/>
                </a:solidFill>
                <a:latin typeface="Calibri"/>
              </a:rPr>
              <a:t>Samudra Sahayak is a separate service over the same public API. A guard WITHHOLDS any sentence stating a number no tool produced. Kill the process and every core requirement still passes.</a:t>
            </a:r>
          </a:p>
        </p:txBody>
      </p:sp>
      <p:cxnSp>
        <p:nvCxnSpPr>
          <p:cNvPr id="17487" name="Connector 17486"/>
          <p:cNvCxnSpPr/>
          <p:nvPr/>
        </p:nvCxnSpPr>
        <p:spPr>
          <a:xfrm>
            <a:off x="6094476" y="4059935"/>
            <a:ext cx="0" cy="137161"/>
          </a:xfrm>
          <a:prstGeom prst="line">
            <a:avLst/>
          </a:prstGeom>
          <a:ln w="15875">
            <a:solidFill>
              <a:srgbClr val="C44528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8" name="Rectangle 17487"/>
          <p:cNvSpPr/>
          <p:nvPr/>
        </p:nvSpPr>
        <p:spPr>
          <a:xfrm>
            <a:off x="8144256" y="4206240"/>
            <a:ext cx="3806952" cy="914400"/>
          </a:xfrm>
          <a:prstGeom prst="rect">
            <a:avLst/>
          </a:prstGeom>
          <a:solidFill>
            <a:srgbClr val="EFF4F7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9" name="Rectangle 17488"/>
          <p:cNvSpPr/>
          <p:nvPr/>
        </p:nvSpPr>
        <p:spPr>
          <a:xfrm>
            <a:off x="8144256" y="4206240"/>
            <a:ext cx="50292" cy="914400"/>
          </a:xfrm>
          <a:prstGeom prst="rect">
            <a:avLst/>
          </a:prstGeom>
          <a:solidFill>
            <a:srgbClr val="B8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0" name="Oval 17489"/>
          <p:cNvSpPr/>
          <p:nvPr/>
        </p:nvSpPr>
        <p:spPr>
          <a:xfrm>
            <a:off x="8281416" y="4288536"/>
            <a:ext cx="201168" cy="201168"/>
          </a:xfrm>
          <a:prstGeom prst="ellipse">
            <a:avLst/>
          </a:prstGeom>
          <a:solidFill>
            <a:srgbClr val="B8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7491" name="TextBox 17490"/>
          <p:cNvSpPr txBox="1"/>
          <p:nvPr/>
        </p:nvSpPr>
        <p:spPr>
          <a:xfrm>
            <a:off x="8546592" y="4279392"/>
            <a:ext cx="32948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19" b="1" i="0">
                <a:solidFill>
                  <a:srgbClr val="B87A1F"/>
                </a:solidFill>
                <a:latin typeface="Calibri"/>
              </a:rPr>
              <a:t>ANY OGC CLIENT</a:t>
            </a:r>
          </a:p>
        </p:txBody>
      </p:sp>
      <p:sp>
        <p:nvSpPr>
          <p:cNvPr id="17492" name="TextBox 17491"/>
          <p:cNvSpPr txBox="1"/>
          <p:nvPr/>
        </p:nvSpPr>
        <p:spPr>
          <a:xfrm>
            <a:off x="8281416" y="4526279"/>
            <a:ext cx="353263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00" b="0" i="0">
                <a:solidFill>
                  <a:srgbClr val="14202B"/>
                </a:solidFill>
                <a:latin typeface="Calibri"/>
              </a:rPr>
              <a:t>The same fields are published as WMS 1.3.0 and WCS 1.0.0, so QGIS and the desktop tools INCOIS already runs can consume this without us writing a client for them.</a:t>
            </a:r>
          </a:p>
        </p:txBody>
      </p:sp>
      <p:cxnSp>
        <p:nvCxnSpPr>
          <p:cNvPr id="17493" name="Connector 17492"/>
          <p:cNvCxnSpPr/>
          <p:nvPr/>
        </p:nvCxnSpPr>
        <p:spPr>
          <a:xfrm>
            <a:off x="10047732" y="4059935"/>
            <a:ext cx="0" cy="137161"/>
          </a:xfrm>
          <a:prstGeom prst="line">
            <a:avLst/>
          </a:prstGeom>
          <a:ln w="15875">
            <a:solidFill>
              <a:srgbClr val="B87A1F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94" name="Rectangle 17493"/>
          <p:cNvSpPr/>
          <p:nvPr/>
        </p:nvSpPr>
        <p:spPr>
          <a:xfrm>
            <a:off x="237744" y="5248655"/>
            <a:ext cx="11713464" cy="102412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5" name="TextBox 17494"/>
          <p:cNvSpPr txBox="1"/>
          <p:nvPr/>
        </p:nvSpPr>
        <p:spPr>
          <a:xfrm>
            <a:off x="365760" y="5312664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6FD4D0"/>
                </a:solidFill>
                <a:latin typeface="Calibri"/>
              </a:rPr>
              <a:t>TECHNOLOGIES USED</a:t>
            </a:r>
          </a:p>
        </p:txBody>
      </p:sp>
      <p:sp>
        <p:nvSpPr>
          <p:cNvPr id="17496" name="Rounded Rectangle 17495"/>
          <p:cNvSpPr/>
          <p:nvPr/>
        </p:nvSpPr>
        <p:spPr>
          <a:xfrm>
            <a:off x="365760" y="5522975"/>
            <a:ext cx="767442" cy="246888"/>
          </a:xfrm>
          <a:prstGeom prst="roundRect">
            <a:avLst>
              <a:gd name="adj" fmla="val 22000"/>
            </a:avLst>
          </a:prstGeom>
          <a:solidFill>
            <a:srgbClr val="16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Next.js 15</a:t>
            </a:r>
          </a:p>
        </p:txBody>
      </p:sp>
      <p:sp>
        <p:nvSpPr>
          <p:cNvPr id="17497" name="Rounded Rectangle 17496"/>
          <p:cNvSpPr/>
          <p:nvPr/>
        </p:nvSpPr>
        <p:spPr>
          <a:xfrm>
            <a:off x="1188066" y="5522975"/>
            <a:ext cx="767442" cy="246888"/>
          </a:xfrm>
          <a:prstGeom prst="roundRect">
            <a:avLst>
              <a:gd name="adj" fmla="val 22000"/>
            </a:avLst>
          </a:prstGeom>
          <a:solidFill>
            <a:srgbClr val="16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TypeScript</a:t>
            </a:r>
          </a:p>
        </p:txBody>
      </p:sp>
      <p:sp>
        <p:nvSpPr>
          <p:cNvPr id="17498" name="Rounded Rectangle 17497"/>
          <p:cNvSpPr/>
          <p:nvPr/>
        </p:nvSpPr>
        <p:spPr>
          <a:xfrm>
            <a:off x="2010373" y="5522975"/>
            <a:ext cx="767442" cy="246888"/>
          </a:xfrm>
          <a:prstGeom prst="roundRect">
            <a:avLst>
              <a:gd name="adj" fmla="val 22000"/>
            </a:avLst>
          </a:prstGeom>
          <a:solidFill>
            <a:srgbClr val="16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CesiumJS · WebGL2</a:t>
            </a:r>
          </a:p>
        </p:txBody>
      </p:sp>
      <p:sp>
        <p:nvSpPr>
          <p:cNvPr id="17499" name="Rounded Rectangle 17498"/>
          <p:cNvSpPr/>
          <p:nvPr/>
        </p:nvSpPr>
        <p:spPr>
          <a:xfrm>
            <a:off x="2832680" y="5522975"/>
            <a:ext cx="767442" cy="246888"/>
          </a:xfrm>
          <a:prstGeom prst="roundRect">
            <a:avLst>
              <a:gd name="adj" fmla="val 22000"/>
            </a:avLst>
          </a:prstGeom>
          <a:solidFill>
            <a:srgbClr val="16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ECharts</a:t>
            </a:r>
          </a:p>
        </p:txBody>
      </p:sp>
      <p:sp>
        <p:nvSpPr>
          <p:cNvPr id="17500" name="Rounded Rectangle 17499"/>
          <p:cNvSpPr/>
          <p:nvPr/>
        </p:nvSpPr>
        <p:spPr>
          <a:xfrm>
            <a:off x="3654987" y="5522975"/>
            <a:ext cx="767442" cy="246888"/>
          </a:xfrm>
          <a:prstGeom prst="roundRect">
            <a:avLst>
              <a:gd name="adj" fmla="val 22000"/>
            </a:avLst>
          </a:prstGeom>
          <a:solidFill>
            <a:srgbClr val="16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Python 3.11</a:t>
            </a:r>
          </a:p>
        </p:txBody>
      </p:sp>
      <p:sp>
        <p:nvSpPr>
          <p:cNvPr id="17501" name="Rounded Rectangle 17500"/>
          <p:cNvSpPr/>
          <p:nvPr/>
        </p:nvSpPr>
        <p:spPr>
          <a:xfrm>
            <a:off x="4477294" y="5522975"/>
            <a:ext cx="767442" cy="246888"/>
          </a:xfrm>
          <a:prstGeom prst="roundRect">
            <a:avLst>
              <a:gd name="adj" fmla="val 22000"/>
            </a:avLst>
          </a:prstGeom>
          <a:solidFill>
            <a:srgbClr val="16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7502" name="Rounded Rectangle 17501"/>
          <p:cNvSpPr/>
          <p:nvPr/>
        </p:nvSpPr>
        <p:spPr>
          <a:xfrm>
            <a:off x="5299601" y="5522975"/>
            <a:ext cx="767442" cy="246888"/>
          </a:xfrm>
          <a:prstGeom prst="roundRect">
            <a:avLst>
              <a:gd name="adj" fmla="val 22000"/>
            </a:avLst>
          </a:prstGeom>
          <a:solidFill>
            <a:srgbClr val="16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xarray · Zarr</a:t>
            </a:r>
          </a:p>
        </p:txBody>
      </p:sp>
      <p:sp>
        <p:nvSpPr>
          <p:cNvPr id="17503" name="Rounded Rectangle 17502"/>
          <p:cNvSpPr/>
          <p:nvPr/>
        </p:nvSpPr>
        <p:spPr>
          <a:xfrm>
            <a:off x="6121908" y="5522975"/>
            <a:ext cx="767442" cy="246888"/>
          </a:xfrm>
          <a:prstGeom prst="roundRect">
            <a:avLst>
              <a:gd name="adj" fmla="val 22000"/>
            </a:avLst>
          </a:prstGeom>
          <a:solidFill>
            <a:srgbClr val="16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NumPy · SciPy</a:t>
            </a:r>
          </a:p>
        </p:txBody>
      </p:sp>
      <p:sp>
        <p:nvSpPr>
          <p:cNvPr id="17504" name="Rounded Rectangle 17503"/>
          <p:cNvSpPr/>
          <p:nvPr/>
        </p:nvSpPr>
        <p:spPr>
          <a:xfrm>
            <a:off x="6944214" y="5522975"/>
            <a:ext cx="767442" cy="246888"/>
          </a:xfrm>
          <a:prstGeom prst="roundRect">
            <a:avLst>
              <a:gd name="adj" fmla="val 22000"/>
            </a:avLst>
          </a:prstGeom>
          <a:solidFill>
            <a:srgbClr val="16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gsw (TEOS-10)</a:t>
            </a:r>
          </a:p>
        </p:txBody>
      </p:sp>
      <p:sp>
        <p:nvSpPr>
          <p:cNvPr id="17505" name="Rounded Rectangle 17504"/>
          <p:cNvSpPr/>
          <p:nvPr/>
        </p:nvSpPr>
        <p:spPr>
          <a:xfrm>
            <a:off x="7766521" y="5522975"/>
            <a:ext cx="767442" cy="246888"/>
          </a:xfrm>
          <a:prstGeom prst="roundRect">
            <a:avLst>
              <a:gd name="adj" fmla="val 22000"/>
            </a:avLst>
          </a:prstGeom>
          <a:solidFill>
            <a:srgbClr val="16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scikit-image</a:t>
            </a:r>
          </a:p>
        </p:txBody>
      </p:sp>
      <p:sp>
        <p:nvSpPr>
          <p:cNvPr id="17506" name="Rounded Rectangle 17505"/>
          <p:cNvSpPr/>
          <p:nvPr/>
        </p:nvSpPr>
        <p:spPr>
          <a:xfrm>
            <a:off x="8588828" y="5522975"/>
            <a:ext cx="767442" cy="246888"/>
          </a:xfrm>
          <a:prstGeom prst="roundRect">
            <a:avLst>
              <a:gd name="adj" fmla="val 22000"/>
            </a:avLst>
          </a:prstGeom>
          <a:solidFill>
            <a:srgbClr val="16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Parquet</a:t>
            </a:r>
          </a:p>
        </p:txBody>
      </p:sp>
      <p:sp>
        <p:nvSpPr>
          <p:cNvPr id="17507" name="Rounded Rectangle 17506"/>
          <p:cNvSpPr/>
          <p:nvPr/>
        </p:nvSpPr>
        <p:spPr>
          <a:xfrm>
            <a:off x="9411135" y="5522975"/>
            <a:ext cx="767442" cy="246888"/>
          </a:xfrm>
          <a:prstGeom prst="roundRect">
            <a:avLst>
              <a:gd name="adj" fmla="val 22000"/>
            </a:avLst>
          </a:prstGeom>
          <a:solidFill>
            <a:srgbClr val="16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Docker</a:t>
            </a:r>
          </a:p>
        </p:txBody>
      </p:sp>
      <p:sp>
        <p:nvSpPr>
          <p:cNvPr id="17508" name="Rounded Rectangle 17507"/>
          <p:cNvSpPr/>
          <p:nvPr/>
        </p:nvSpPr>
        <p:spPr>
          <a:xfrm>
            <a:off x="10233442" y="5522975"/>
            <a:ext cx="767442" cy="246888"/>
          </a:xfrm>
          <a:prstGeom prst="roundRect">
            <a:avLst>
              <a:gd name="adj" fmla="val 22000"/>
            </a:avLst>
          </a:prstGeom>
          <a:solidFill>
            <a:srgbClr val="16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Playwright</a:t>
            </a:r>
          </a:p>
        </p:txBody>
      </p:sp>
      <p:sp>
        <p:nvSpPr>
          <p:cNvPr id="17509" name="Rounded Rectangle 17508"/>
          <p:cNvSpPr/>
          <p:nvPr/>
        </p:nvSpPr>
        <p:spPr>
          <a:xfrm>
            <a:off x="11055749" y="5522975"/>
            <a:ext cx="767442" cy="246888"/>
          </a:xfrm>
          <a:prstGeom prst="roundRect">
            <a:avLst>
              <a:gd name="adj" fmla="val 22000"/>
            </a:avLst>
          </a:prstGeom>
          <a:solidFill>
            <a:srgbClr val="16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pytest</a:t>
            </a:r>
          </a:p>
        </p:txBody>
      </p:sp>
      <p:sp>
        <p:nvSpPr>
          <p:cNvPr id="17510" name="TextBox 17509"/>
          <p:cNvSpPr txBox="1"/>
          <p:nvPr/>
        </p:nvSpPr>
        <p:spPr>
          <a:xfrm>
            <a:off x="365760" y="5833871"/>
            <a:ext cx="1145743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40" b="0" i="0">
                <a:solidFill>
                  <a:srgbClr val="AFCCDE"/>
                </a:solidFill>
                <a:latin typeface="Calibri"/>
              </a:rPr>
              <a:t>Standards implemented:   CF Conventions   ·   OGC WMS 1.3.0   ·   OGC WCS 1.0.0   ·   OASIS CAP v1.2   ·   TEOS-10 equation of state   ·   Argo QC, Wong et al. 2020   ·   GODAE OceanView Class 4, Ryan et al. 2015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784" y="54864"/>
            <a:ext cx="9784080" cy="841248"/>
          </a:xfrm>
        </p:spPr>
        <p:txBody>
          <a:bodyPr wrap="square" anchor="ctr"/>
          <a:lstStyle/>
          <a:p>
            <a:pPr eaLnBrk="1" hangingPunct="1" algn="l"/>
            <a:r>
              <a:rPr sz="2600" b="1" i="0">
                <a:solidFill>
                  <a:srgbClr val="0B2E4F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i="0">
                <a:solidFill>
                  <a:srgbClr val="FFFFFF"/>
                </a:solidFill>
                <a:latin typeface="Calibri"/>
              </a:rPr>
              <a:t>SagarDrishti  ·  PS SIH26067  ·  @SIH Idea Submission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B2E4F"/>
                </a:solidFill>
                <a:latin typeface="Calibri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ctangle 17409"/>
          <p:cNvSpPr/>
          <p:nvPr/>
        </p:nvSpPr>
        <p:spPr>
          <a:xfrm>
            <a:off x="237744" y="1133856"/>
            <a:ext cx="11713464" cy="1060704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1" name="TextBox 17410"/>
          <p:cNvSpPr txBox="1"/>
          <p:nvPr/>
        </p:nvSpPr>
        <p:spPr>
          <a:xfrm>
            <a:off x="365760" y="1207008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19" b="1" i="0">
                <a:solidFill>
                  <a:srgbClr val="FFFFFF"/>
                </a:solidFill>
                <a:latin typeface="Calibri"/>
              </a:rPr>
              <a:t>FEASIBILITY IS NOT A FORECAST HERE. THE SYSTEM ALREADY RUNS. EVERY FIGURE BELOW WAS MEASURED, NOT ESTIMATED.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481328"/>
            <a:ext cx="18333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1700" b="1" i="0">
                <a:solidFill>
                  <a:srgbClr val="6FD4D0"/>
                </a:solidFill>
                <a:latin typeface="Calibri"/>
              </a:rPr>
              <a:t>543</a:t>
            </a:r>
          </a:p>
          <a:p>
            <a:pPr algn="ctr">
              <a:lnSpc>
                <a:spcPct val="90000"/>
              </a:lnSpc>
            </a:pPr>
            <a:r>
              <a:rPr sz="740" b="0" i="0">
                <a:solidFill>
                  <a:srgbClr val="BFD6E4"/>
                </a:solidFill>
                <a:latin typeface="Calibri"/>
              </a:rPr>
              <a:t>automated tests, 10 of them
driving a real browser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290572" y="1481328"/>
            <a:ext cx="18333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1700" b="1" i="0">
                <a:solidFill>
                  <a:srgbClr val="6FD4D0"/>
                </a:solidFill>
                <a:latin typeface="Calibri"/>
              </a:rPr>
              <a:t>51 fps</a:t>
            </a:r>
          </a:p>
          <a:p>
            <a:pPr algn="ctr">
              <a:lnSpc>
                <a:spcPct val="90000"/>
              </a:lnSpc>
            </a:pPr>
            <a:r>
              <a:rPr sz="740" b="0" i="0">
                <a:solidFill>
                  <a:srgbClr val="BFD6E4"/>
                </a:solidFill>
                <a:latin typeface="Calibri"/>
              </a:rPr>
              <a:t>at 1080p on integrated Intel
graphics, not a gaming GPU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215384" y="1481328"/>
            <a:ext cx="18333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1700" b="1" i="0">
                <a:solidFill>
                  <a:srgbClr val="6FD4D0"/>
                </a:solidFill>
                <a:latin typeface="Calibri"/>
              </a:rPr>
              <a:t>0</a:t>
            </a:r>
          </a:p>
          <a:p>
            <a:pPr algn="ctr">
              <a:lnSpc>
                <a:spcPct val="90000"/>
              </a:lnSpc>
            </a:pPr>
            <a:r>
              <a:rPr sz="740" b="0" i="0">
                <a:solidFill>
                  <a:srgbClr val="BFD6E4"/>
                </a:solidFill>
                <a:latin typeface="Calibri"/>
              </a:rPr>
              <a:t>requests leave the machine;
a test fails the build if one does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6140196" y="1481328"/>
            <a:ext cx="18333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1700" b="1" i="0">
                <a:solidFill>
                  <a:srgbClr val="6FD4D0"/>
                </a:solidFill>
                <a:latin typeface="Calibri"/>
              </a:rPr>
              <a:t>10.5 M</a:t>
            </a:r>
          </a:p>
          <a:p>
            <a:pPr algn="ctr">
              <a:lnSpc>
                <a:spcPct val="90000"/>
              </a:lnSpc>
            </a:pPr>
            <a:r>
              <a:rPr sz="740" b="0" i="0">
                <a:solidFill>
                  <a:srgbClr val="BFD6E4"/>
                </a:solidFill>
                <a:latin typeface="Calibri"/>
              </a:rPr>
              <a:t>gridded values in the demo cube
from two agencies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8065008" y="1481328"/>
            <a:ext cx="18333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1700" b="1" i="0">
                <a:solidFill>
                  <a:srgbClr val="6FD4D0"/>
                </a:solidFill>
                <a:latin typeface="Calibri"/>
              </a:rPr>
              <a:t>16,390</a:t>
            </a:r>
          </a:p>
          <a:p>
            <a:pPr algn="ctr">
              <a:lnSpc>
                <a:spcPct val="90000"/>
              </a:lnSpc>
            </a:pPr>
            <a:r>
              <a:rPr sz="740" b="0" i="0">
                <a:solidFill>
                  <a:srgbClr val="BFD6E4"/>
                </a:solidFill>
                <a:latin typeface="Calibri"/>
              </a:rPr>
              <a:t>QC-passed instrument levels
from 17 real instruments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9989820" y="1481328"/>
            <a:ext cx="183337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1700" b="1" i="0">
                <a:solidFill>
                  <a:srgbClr val="6FD4D0"/>
                </a:solidFill>
                <a:latin typeface="Calibri"/>
              </a:rPr>
              <a:t>13</a:t>
            </a:r>
          </a:p>
          <a:p>
            <a:pPr algn="ctr">
              <a:lnSpc>
                <a:spcPct val="90000"/>
              </a:lnSpc>
            </a:pPr>
            <a:r>
              <a:rPr sz="740" b="0" i="0">
                <a:solidFill>
                  <a:srgbClr val="BFD6E4"/>
                </a:solidFill>
                <a:latin typeface="Calibri"/>
              </a:rPr>
              <a:t>ocean parameters served,
2 of them computed by plugins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237744" y="2322576"/>
            <a:ext cx="3758184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9" name="Rectangle 17418"/>
          <p:cNvSpPr/>
          <p:nvPr/>
        </p:nvSpPr>
        <p:spPr>
          <a:xfrm>
            <a:off x="237744" y="2322576"/>
            <a:ext cx="3758184" cy="292608"/>
          </a:xfrm>
          <a:prstGeom prst="rect">
            <a:avLst/>
          </a:prstGeom>
          <a:solidFill>
            <a:srgbClr val="0E8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347472" y="2322576"/>
            <a:ext cx="353872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ANALYSIS OF FEASIBILITY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47472" y="2706624"/>
            <a:ext cx="3538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0E8C9A"/>
                </a:solidFill>
                <a:latin typeface="Calibri"/>
              </a:rPr>
              <a:t>TECHNICAL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347472" y="2889504"/>
            <a:ext cx="353872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69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40" b="1" i="0">
                <a:solidFill>
                  <a:srgbClr val="0B2E4F"/>
                </a:solidFill>
                <a:latin typeface="Calibri"/>
              </a:rPr>
              <a:t>Proven stack.</a:t>
            </a:r>
            <a:r>
              <a:rPr sz="840" b="0" i="0">
                <a:solidFill>
                  <a:srgbClr val="14202B"/>
                </a:solidFill>
                <a:latin typeface="Calibri"/>
              </a:rPr>
              <a:t>  CesiumJS, FastAPI, xarray and Zarr are mature and open; nothing here needs inventing.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69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40" b="1" i="0">
                <a:solidFill>
                  <a:srgbClr val="0B2E4F"/>
                </a:solidFill>
                <a:latin typeface="Calibri"/>
              </a:rPr>
              <a:t>Frame budget cleared.</a:t>
            </a:r>
            <a:r>
              <a:rPr sz="840" b="0" i="0">
                <a:solidFill>
                  <a:srgbClr val="14202B"/>
                </a:solidFill>
                <a:latin typeface="Calibri"/>
              </a:rPr>
              <a:t>  51 fps median on the weakest target GPU, against a 30 fps floor.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347472" y="3566160"/>
            <a:ext cx="3538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0E8C9A"/>
                </a:solidFill>
                <a:latin typeface="Calibri"/>
              </a:rPr>
              <a:t>OPERATIONAL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347472" y="3749040"/>
            <a:ext cx="353872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69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40" b="1" i="0">
                <a:solidFill>
                  <a:srgbClr val="0B2E4F"/>
                </a:solidFill>
                <a:latin typeface="Calibri"/>
              </a:rPr>
              <a:t>Reads INCOIS's own ERDDAP.</a:t>
            </a:r>
            <a:r>
              <a:rPr sz="840" b="0" i="0">
                <a:solidFill>
                  <a:srgbClr val="14202B"/>
                </a:solidFill>
                <a:latin typeface="Calibri"/>
              </a:rPr>
              <a:t>  Zero data duplication; the agency keeps its single source of truth.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69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40" b="1" i="0">
                <a:solidFill>
                  <a:srgbClr val="0B2E4F"/>
                </a:solidFill>
                <a:latin typeface="Calibri"/>
              </a:rPr>
              <a:t>No client install.</a:t>
            </a:r>
            <a:r>
              <a:rPr sz="840" b="0" i="0">
                <a:solidFill>
                  <a:srgbClr val="14202B"/>
                </a:solidFill>
                <a:latin typeface="Calibri"/>
              </a:rPr>
              <a:t>  A browser is the whole deployment surface.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347472" y="4425696"/>
            <a:ext cx="3538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0E8C9A"/>
                </a:solidFill>
                <a:latin typeface="Calibri"/>
              </a:rPr>
              <a:t>ECONOMIC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347472" y="4608576"/>
            <a:ext cx="353872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69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40" b="1" i="0">
                <a:solidFill>
                  <a:srgbClr val="0B2E4F"/>
                </a:solidFill>
                <a:latin typeface="Calibri"/>
              </a:rPr>
              <a:t>Zero licence cost.</a:t>
            </a:r>
            <a:r>
              <a:rPr sz="840" b="0" i="0">
                <a:solidFill>
                  <a:srgbClr val="14202B"/>
                </a:solidFill>
                <a:latin typeface="Calibri"/>
              </a:rPr>
              <a:t>  Fully open source, one commodity GPU server.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69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40" b="1" i="0">
                <a:solidFill>
                  <a:srgbClr val="0B2E4F"/>
                </a:solidFill>
                <a:latin typeface="Calibri"/>
              </a:rPr>
              <a:t>Skills exist in-house.</a:t>
            </a:r>
            <a:r>
              <a:rPr sz="840" b="0" i="0">
                <a:solidFill>
                  <a:srgbClr val="14202B"/>
                </a:solidFill>
                <a:latin typeface="Calibri"/>
              </a:rPr>
              <a:t>  Standard Python and JavaScript; INCOIS already runs ERDDAP and LAS.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4215384" y="2322576"/>
            <a:ext cx="3758184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8" name="Rectangle 17427"/>
          <p:cNvSpPr/>
          <p:nvPr/>
        </p:nvSpPr>
        <p:spPr>
          <a:xfrm>
            <a:off x="4215384" y="2322576"/>
            <a:ext cx="3758184" cy="292608"/>
          </a:xfrm>
          <a:prstGeom prst="rect">
            <a:avLst/>
          </a:prstGeom>
          <a:solidFill>
            <a:srgbClr val="C44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4325112" y="2322576"/>
            <a:ext cx="353872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POTENTIAL CHALLENGES AND RISKS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325112" y="2706624"/>
            <a:ext cx="3538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C44528"/>
                </a:solidFill>
                <a:latin typeface="Calibri"/>
              </a:rPr>
              <a:t>DATA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4325112" y="2889504"/>
            <a:ext cx="353872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69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40" b="1" i="0">
                <a:solidFill>
                  <a:srgbClr val="0B2E4F"/>
                </a:solidFill>
                <a:latin typeface="Calibri"/>
              </a:rPr>
              <a:t>Instrument coverage is uneven.</a:t>
            </a:r>
            <a:r>
              <a:rPr sz="840" b="0" i="0">
                <a:solidFill>
                  <a:srgbClr val="14202B"/>
                </a:solidFill>
                <a:latin typeface="Calibri"/>
              </a:rPr>
              <a:t>  Glider and CTD files are not published on INCOIS ERDDAP.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69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40" b="1" i="0">
                <a:solidFill>
                  <a:srgbClr val="0B2E4F"/>
                </a:solidFill>
                <a:latin typeface="Calibri"/>
              </a:rPr>
              <a:t>Datasets disagree on axes.</a:t>
            </a:r>
            <a:r>
              <a:rPr sz="840" b="0" i="0">
                <a:solidFill>
                  <a:srgbClr val="14202B"/>
                </a:solidFill>
                <a:latin typeface="Calibri"/>
              </a:rPr>
              <a:t>  GLORYS stops at 1942 m where the INCOIS field has a 2000 m level.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4325112" y="3566160"/>
            <a:ext cx="3538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C44528"/>
                </a:solidFill>
                <a:latin typeface="Calibri"/>
              </a:rPr>
              <a:t>TECHNICAL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325112" y="3749040"/>
            <a:ext cx="353872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69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40" b="1" i="0">
                <a:solidFill>
                  <a:srgbClr val="0B2E4F"/>
                </a:solidFill>
                <a:latin typeface="Calibri"/>
              </a:rPr>
              <a:t>Volumetric rendering is costly.</a:t>
            </a:r>
            <a:r>
              <a:rPr sz="840" b="0" i="0">
                <a:solidFill>
                  <a:srgbClr val="14202B"/>
                </a:solidFill>
                <a:latin typeface="Calibri"/>
              </a:rPr>
              <a:t>  Translucent overdraw is the dominant frame cost.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69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40" b="1" i="0">
                <a:solidFill>
                  <a:srgbClr val="0B2E4F"/>
                </a:solidFill>
                <a:latin typeface="Calibri"/>
              </a:rPr>
              <a:t>Scaling to the full basin.</a:t>
            </a:r>
            <a:r>
              <a:rPr sz="840" b="0" i="0">
                <a:solidFill>
                  <a:srgbClr val="14202B"/>
                </a:solidFill>
                <a:latin typeface="Calibri"/>
              </a:rPr>
              <a:t>  The national grid is far larger than the demo box.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325112" y="4425696"/>
            <a:ext cx="3538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C44528"/>
                </a:solidFill>
                <a:latin typeface="Calibri"/>
              </a:rPr>
              <a:t>ADOPTION AND TRUST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325112" y="4608576"/>
            <a:ext cx="353872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69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40" b="1" i="0">
                <a:solidFill>
                  <a:srgbClr val="0B2E4F"/>
                </a:solidFill>
                <a:latin typeface="Calibri"/>
              </a:rPr>
              <a:t>A wrong number is worse than none.</a:t>
            </a:r>
            <a:r>
              <a:rPr sz="840" b="0" i="0">
                <a:solidFill>
                  <a:srgbClr val="14202B"/>
                </a:solidFill>
                <a:latin typeface="Calibri"/>
              </a:rPr>
              <a:t>  A skill figure quoted without its caveat would mislead.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69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40" b="1" i="0">
                <a:solidFill>
                  <a:srgbClr val="0B2E4F"/>
                </a:solidFill>
                <a:latin typeface="Calibri"/>
              </a:rPr>
              <a:t>A false alarm is unacceptable.</a:t>
            </a:r>
            <a:r>
              <a:rPr sz="840" b="0" i="0">
                <a:solidFill>
                  <a:srgbClr val="14202B"/>
                </a:solidFill>
                <a:latin typeface="Calibri"/>
              </a:rPr>
              <a:t>  A drill must never read as a live warning.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8193024" y="2322576"/>
            <a:ext cx="3758184" cy="2944368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7" name="Rectangle 17436"/>
          <p:cNvSpPr/>
          <p:nvPr/>
        </p:nvSpPr>
        <p:spPr>
          <a:xfrm>
            <a:off x="8193024" y="2322576"/>
            <a:ext cx="3758184" cy="29260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8302752" y="2322576"/>
            <a:ext cx="353872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000" b="1" i="0">
                <a:solidFill>
                  <a:srgbClr val="FFFFFF"/>
                </a:solidFill>
                <a:latin typeface="Calibri"/>
              </a:rPr>
              <a:t>STRATEGIES TO OVERCOME THEM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8302752" y="2706624"/>
            <a:ext cx="3538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0B2E4F"/>
                </a:solidFill>
                <a:latin typeface="Calibri"/>
              </a:rPr>
              <a:t>DATA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8302752" y="2889504"/>
            <a:ext cx="353872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69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40" b="1" i="0">
                <a:solidFill>
                  <a:srgbClr val="0B2E4F"/>
                </a:solidFill>
                <a:latin typeface="Calibri"/>
              </a:rPr>
              <a:t>Parsers already written and tested.</a:t>
            </a:r>
            <a:r>
              <a:rPr sz="840" b="0" i="0">
                <a:solidFill>
                  <a:srgbClr val="14202B"/>
                </a:solidFill>
                <a:latin typeface="Calibri"/>
              </a:rPr>
              <a:t>  Glider and CTD ingest needs a file, not code.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69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40" b="1" i="0">
                <a:solidFill>
                  <a:srgbClr val="0B2E4F"/>
                </a:solidFill>
                <a:latin typeface="Calibri"/>
              </a:rPr>
              <a:t>Never stretch one grid onto another.</a:t>
            </a:r>
            <a:r>
              <a:rPr sz="840" b="0" i="0">
                <a:solidFill>
                  <a:srgbClr val="14202B"/>
                </a:solidFill>
                <a:latin typeface="Calibri"/>
              </a:rPr>
              <a:t>  The served depth is printed beside the requested one.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8302752" y="3566160"/>
            <a:ext cx="3538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0B2E4F"/>
                </a:solidFill>
                <a:latin typeface="Calibri"/>
              </a:rPr>
              <a:t>TECHNICAL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302752" y="3749040"/>
            <a:ext cx="353872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69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40" b="1" i="0">
                <a:solidFill>
                  <a:srgbClr val="0B2E4F"/>
                </a:solidFill>
                <a:latin typeface="Calibri"/>
              </a:rPr>
              <a:t>Depth-space level of detail.</a:t>
            </a:r>
            <a:r>
              <a:rPr sz="840" b="0" i="0">
                <a:solidFill>
                  <a:srgbClr val="14202B"/>
                </a:solidFill>
                <a:latin typeface="Calibri"/>
              </a:rPr>
              <a:t>  At most 10 of 24 slices blended at once; slices-only is the proven floor.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69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40" b="1" i="0">
                <a:solidFill>
                  <a:srgbClr val="0B2E4F"/>
                </a:solidFill>
                <a:latin typeface="Calibri"/>
              </a:rPr>
              <a:t>Chunked Zarr over range requests.</a:t>
            </a:r>
            <a:r>
              <a:rPr sz="840" b="0" i="0">
                <a:solidFill>
                  <a:srgbClr val="14202B"/>
                </a:solidFill>
                <a:latin typeface="Calibri"/>
              </a:rPr>
              <a:t>  Cost is view-dependent, not dataset-dependent.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8302752" y="4425696"/>
            <a:ext cx="35387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0B2E4F"/>
                </a:solidFill>
                <a:latin typeface="Calibri"/>
              </a:rPr>
              <a:t>ADOPTION AND TRUST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8302752" y="4608576"/>
            <a:ext cx="3538728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69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40" b="1" i="0">
                <a:solidFill>
                  <a:srgbClr val="0B2E4F"/>
                </a:solidFill>
                <a:latin typeface="Calibri"/>
              </a:rPr>
              <a:t>The caveat travels with the number.</a:t>
            </a:r>
            <a:r>
              <a:rPr sz="840" b="0" i="0">
                <a:solidFill>
                  <a:srgbClr val="14202B"/>
                </a:solidFill>
                <a:latin typeface="Calibri"/>
              </a:rPr>
              <a:t>  Printed on screen, in the API and in every agent answer.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69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40" b="1" i="0">
                <a:solidFill>
                  <a:srgbClr val="0B2E4F"/>
                </a:solidFill>
                <a:latin typeface="Calibri"/>
              </a:rPr>
              <a:t>Four independent drill guards.</a:t>
            </a:r>
            <a:r>
              <a:rPr sz="840" b="0" i="0">
                <a:solidFill>
                  <a:srgbClr val="14202B"/>
                </a:solidFill>
                <a:latin typeface="Calibri"/>
              </a:rPr>
              <a:t>  CAP status Exercise is refused, dashed, stamped and spoken.</a:t>
            </a:r>
          </a:p>
        </p:txBody>
      </p:sp>
      <p:sp>
        <p:nvSpPr>
          <p:cNvPr id="17445" name="Rectangle 17444"/>
          <p:cNvSpPr/>
          <p:nvPr/>
        </p:nvSpPr>
        <p:spPr>
          <a:xfrm>
            <a:off x="237744" y="5394959"/>
            <a:ext cx="11713464" cy="877824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365760" y="5477255"/>
            <a:ext cx="4023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FD4D0"/>
                </a:solidFill>
                <a:latin typeface="Calibri"/>
              </a:rPr>
              <a:t>VIABILITY  ·  WHY THIS SURVIVES AFTER THE HACKATHON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365760" y="5705855"/>
            <a:ext cx="275463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840" b="1" i="0">
                <a:solidFill>
                  <a:srgbClr val="FFFFFF"/>
                </a:solidFill>
                <a:latin typeface="Calibri"/>
              </a:rPr>
              <a:t>Native deployment path</a:t>
            </a:r>
          </a:p>
          <a:p>
            <a:pPr>
              <a:lnSpc>
                <a:spcPct val="92000"/>
              </a:lnSpc>
            </a:pPr>
            <a:r>
              <a:rPr sz="760" b="0" i="0">
                <a:solidFill>
                  <a:srgbClr val="BFD6E4"/>
                </a:solidFill>
                <a:latin typeface="Calibri"/>
              </a:rPr>
              <a:t>The PS is INCOIS's own tooling request. We read their ERDDAP, so there is no data to migrate and no second source of truth.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3266694" y="5705855"/>
            <a:ext cx="275463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840" b="1" i="0">
                <a:solidFill>
                  <a:srgbClr val="FFFFFF"/>
                </a:solidFill>
                <a:latin typeface="Calibri"/>
              </a:rPr>
              <a:t>Standards, not a silo</a:t>
            </a:r>
          </a:p>
          <a:p>
            <a:pPr>
              <a:lnSpc>
                <a:spcPct val="92000"/>
              </a:lnSpc>
            </a:pPr>
            <a:r>
              <a:rPr sz="760" b="0" i="0">
                <a:solidFill>
                  <a:srgbClr val="BFD6E4"/>
                </a:solidFill>
                <a:latin typeface="Calibri"/>
              </a:rPr>
              <a:t>OGC WMS 1.3.0 and WCS 1.0.0 mean their existing desktop tools can consume this without us writing a client for them.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6167628" y="5705855"/>
            <a:ext cx="275463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840" b="1" i="0">
                <a:solidFill>
                  <a:srgbClr val="FFFFFF"/>
                </a:solidFill>
                <a:latin typeface="Calibri"/>
              </a:rPr>
              <a:t>Maintainable by the owner</a:t>
            </a:r>
          </a:p>
          <a:p>
            <a:pPr>
              <a:lnSpc>
                <a:spcPct val="92000"/>
              </a:lnSpc>
            </a:pPr>
            <a:r>
              <a:rPr sz="760" b="0" i="0">
                <a:solidFill>
                  <a:srgbClr val="BFD6E4"/>
                </a:solidFill>
                <a:latin typeface="Calibri"/>
              </a:rPr>
              <a:t>Standard Python and JavaScript, a documented plugin registry, and a test suite that fails loudly. INCOIS already runs ERDDAP and LAS.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9068562" y="5705855"/>
            <a:ext cx="275463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840" b="1" i="0">
                <a:solidFill>
                  <a:srgbClr val="FFFFFF"/>
                </a:solidFill>
                <a:latin typeface="Calibri"/>
              </a:rPr>
              <a:t>Costs nothing to keep</a:t>
            </a:r>
          </a:p>
          <a:p>
            <a:pPr>
              <a:lnSpc>
                <a:spcPct val="92000"/>
              </a:lnSpc>
            </a:pPr>
            <a:r>
              <a:rPr sz="760" b="0" i="0">
                <a:solidFill>
                  <a:srgbClr val="BFD6E4"/>
                </a:solidFill>
                <a:latin typeface="Calibri"/>
              </a:rPr>
              <a:t>Zero licences, one commodity GPU server, and a browser as the entire client-side footprint.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784" y="54864"/>
            <a:ext cx="9784080" cy="841248"/>
          </a:xfrm>
        </p:spPr>
        <p:txBody>
          <a:bodyPr wrap="square" anchor="ctr"/>
          <a:lstStyle/>
          <a:p>
            <a:pPr eaLnBrk="1" hangingPunct="1" algn="l"/>
            <a:r>
              <a:rPr sz="2600" b="1" i="0">
                <a:solidFill>
                  <a:srgbClr val="0B2E4F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i="0">
                <a:solidFill>
                  <a:srgbClr val="FFFFFF"/>
                </a:solidFill>
                <a:latin typeface="Calibri"/>
              </a:rPr>
              <a:t>SagarDrishti  ·  PS SIH26067  ·  @SIH Idea Submission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B2E4F"/>
                </a:solidFill>
                <a:latin typeface="Calibri"/>
              </a:rPr>
              <a:t>[TEAM NAME]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37744" y="1133856"/>
            <a:ext cx="4526280" cy="274320"/>
          </a:xfrm>
          <a:prstGeom prst="roundRect">
            <a:avLst>
              <a:gd name="adj" fmla="val 32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POTENTIAL IMPACT ON THE TARGET AUDIENCE</a:t>
            </a:r>
          </a:p>
        </p:txBody>
      </p:sp>
      <p:sp>
        <p:nvSpPr>
          <p:cNvPr id="17411" name="Rectangle 17410"/>
          <p:cNvSpPr/>
          <p:nvPr/>
        </p:nvSpPr>
        <p:spPr>
          <a:xfrm>
            <a:off x="237744" y="1444752"/>
            <a:ext cx="2240280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237744" y="1444752"/>
            <a:ext cx="2240280" cy="54864"/>
          </a:xfrm>
          <a:prstGeom prst="rect">
            <a:avLst/>
          </a:prstGeom>
          <a:solidFill>
            <a:srgbClr val="C44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38328" y="1591056"/>
            <a:ext cx="203911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900" b="1" i="0">
                <a:solidFill>
                  <a:srgbClr val="C44528"/>
                </a:solidFill>
                <a:latin typeface="Calibri"/>
              </a:rPr>
              <a:t>DISASTER MANAGERS</a:t>
            </a:r>
          </a:p>
          <a:p>
            <a:pPr>
              <a:lnSpc>
                <a:spcPct val="94000"/>
              </a:lnSpc>
            </a:pPr>
            <a:r>
              <a:rPr sz="819" b="0" i="0">
                <a:solidFill>
                  <a:srgbClr val="14202B"/>
                </a:solidFill>
                <a:latin typeface="Calibri"/>
              </a:rPr>
              <a:t>INCOIS runs India's Tsunami Early Warning Centre. A CAP bulletin stops being text and becomes a shape on the water, beside the field that explains it.</a:t>
            </a:r>
          </a:p>
        </p:txBody>
      </p:sp>
      <p:sp>
        <p:nvSpPr>
          <p:cNvPr id="17414" name="Rectangle 17413"/>
          <p:cNvSpPr/>
          <p:nvPr/>
        </p:nvSpPr>
        <p:spPr>
          <a:xfrm>
            <a:off x="2606040" y="1444752"/>
            <a:ext cx="2240280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5" name="Rectangle 17414"/>
          <p:cNvSpPr/>
          <p:nvPr/>
        </p:nvSpPr>
        <p:spPr>
          <a:xfrm>
            <a:off x="2606040" y="1444752"/>
            <a:ext cx="2240280" cy="54864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2706624" y="1591056"/>
            <a:ext cx="203911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900" b="1" i="0">
                <a:solidFill>
                  <a:srgbClr val="0B2E4F"/>
                </a:solidFill>
                <a:latin typeface="Calibri"/>
              </a:rPr>
              <a:t>OPERATIONAL FORECASTERS</a:t>
            </a:r>
          </a:p>
          <a:p>
            <a:pPr>
              <a:lnSpc>
                <a:spcPct val="94000"/>
              </a:lnSpc>
            </a:pPr>
            <a:r>
              <a:rPr sz="819" b="0" i="0">
                <a:solidFill>
                  <a:srgbClr val="14202B"/>
                </a:solidFill>
                <a:latin typeface="Calibri"/>
              </a:rPr>
              <a:t>The daily question "can I trust today's field?" is answered per depth band on the same screen, in seconds rather than a separate offline report.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4974336" y="1444752"/>
            <a:ext cx="2240280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8" name="Rectangle 17417"/>
          <p:cNvSpPr/>
          <p:nvPr/>
        </p:nvSpPr>
        <p:spPr>
          <a:xfrm>
            <a:off x="4974336" y="1444752"/>
            <a:ext cx="2240280" cy="54864"/>
          </a:xfrm>
          <a:prstGeom prst="rect">
            <a:avLst/>
          </a:prstGeom>
          <a:solidFill>
            <a:srgbClr val="1268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5074920" y="1591056"/>
            <a:ext cx="203911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900" b="1" i="0">
                <a:solidFill>
                  <a:srgbClr val="12688F"/>
                </a:solidFill>
                <a:latin typeface="Calibri"/>
              </a:rPr>
              <a:t>SEARCH AND RESCUE</a:t>
            </a:r>
          </a:p>
          <a:p>
            <a:pPr>
              <a:lnSpc>
                <a:spcPct val="94000"/>
              </a:lnSpc>
            </a:pPr>
            <a:r>
              <a:rPr sz="819" b="0" i="0">
                <a:solidFill>
                  <a:srgbClr val="14202B"/>
                </a:solidFill>
                <a:latin typeface="Calibri"/>
              </a:rPr>
              <a:t>Depth-resolved currents, not just the surface, which is what a drifting object actually follows.</a:t>
            </a:r>
          </a:p>
        </p:txBody>
      </p:sp>
      <p:sp>
        <p:nvSpPr>
          <p:cNvPr id="17420" name="Rectangle 17419"/>
          <p:cNvSpPr/>
          <p:nvPr/>
        </p:nvSpPr>
        <p:spPr>
          <a:xfrm>
            <a:off x="7342632" y="1444752"/>
            <a:ext cx="2240280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1" name="Rectangle 17420"/>
          <p:cNvSpPr/>
          <p:nvPr/>
        </p:nvSpPr>
        <p:spPr>
          <a:xfrm>
            <a:off x="7342632" y="1444752"/>
            <a:ext cx="2240280" cy="54864"/>
          </a:xfrm>
          <a:prstGeom prst="rect">
            <a:avLst/>
          </a:prstGeom>
          <a:solidFill>
            <a:srgbClr val="0E8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2" name="TextBox 17421"/>
          <p:cNvSpPr txBox="1"/>
          <p:nvPr/>
        </p:nvSpPr>
        <p:spPr>
          <a:xfrm>
            <a:off x="7443216" y="1591056"/>
            <a:ext cx="203911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900" b="1" i="0">
                <a:solidFill>
                  <a:srgbClr val="0E8C9A"/>
                </a:solidFill>
                <a:latin typeface="Calibri"/>
              </a:rPr>
              <a:t>FISHERY ADVISORIES</a:t>
            </a:r>
          </a:p>
          <a:p>
            <a:pPr>
              <a:lnSpc>
                <a:spcPct val="94000"/>
              </a:lnSpc>
            </a:pPr>
            <a:r>
              <a:rPr sz="819" b="0" i="0">
                <a:solidFill>
                  <a:srgbClr val="14202B"/>
                </a:solidFill>
                <a:latin typeface="Calibri"/>
              </a:rPr>
              <a:t>Potential Fishing Zone advisories reach about 9 lakh fisherfolk households; subsurface temperature and oxygen are the inputs behind them.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9710928" y="1444752"/>
            <a:ext cx="2240280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9710928" y="1444752"/>
            <a:ext cx="2240280" cy="54864"/>
          </a:xfrm>
          <a:prstGeom prst="rect">
            <a:avLst/>
          </a:prstGeom>
          <a:solidFill>
            <a:srgbClr val="B8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9811512" y="1591056"/>
            <a:ext cx="2039112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400"/>
              </a:spcAft>
            </a:pPr>
            <a:r>
              <a:rPr sz="900" b="1" i="0">
                <a:solidFill>
                  <a:srgbClr val="B87A1F"/>
                </a:solidFill>
                <a:latin typeface="Calibri"/>
              </a:rPr>
              <a:t>RESEARCH, EDUCATION, OUTREACH</a:t>
            </a:r>
          </a:p>
          <a:p>
            <a:pPr>
              <a:lnSpc>
                <a:spcPct val="94000"/>
              </a:lnSpc>
            </a:pPr>
            <a:r>
              <a:rPr sz="819" b="0" i="0">
                <a:solidFill>
                  <a:srgbClr val="14202B"/>
                </a:solidFill>
                <a:latin typeface="Calibri"/>
              </a:rPr>
              <a:t>The PS names public outreach and e-learning. Guided tours narrate the ocean for schools and exhibitions from the same engine.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237744" y="2944368"/>
            <a:ext cx="4892040" cy="274320"/>
          </a:xfrm>
          <a:prstGeom prst="roundRect">
            <a:avLst>
              <a:gd name="adj" fmla="val 32000"/>
            </a:avLst>
          </a:prstGeom>
          <a:solidFill>
            <a:srgbClr val="0E8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BENEFITS  ·  SOCIAL, ECONOMIC, ENVIRONMENTAL</a:t>
            </a:r>
          </a:p>
        </p:txBody>
      </p:sp>
      <p:sp>
        <p:nvSpPr>
          <p:cNvPr id="17427" name="Rectangle 17426"/>
          <p:cNvSpPr/>
          <p:nvPr/>
        </p:nvSpPr>
        <p:spPr>
          <a:xfrm>
            <a:off x="237744" y="3273552"/>
            <a:ext cx="7635240" cy="1591056"/>
          </a:xfrm>
          <a:prstGeom prst="rect">
            <a:avLst/>
          </a:prstGeom>
          <a:solidFill>
            <a:srgbClr val="EFF4F7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365760" y="3364992"/>
            <a:ext cx="3579876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71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60" b="1" i="0">
                <a:solidFill>
                  <a:srgbClr val="0B2E4F"/>
                </a:solidFill>
                <a:latin typeface="Calibri"/>
              </a:rPr>
              <a:t>Faster hazard assessment.</a:t>
            </a:r>
            <a:r>
              <a:rPr sz="860" b="0" i="0">
                <a:solidFill>
                  <a:srgbClr val="14202B"/>
                </a:solidFill>
                <a:latin typeface="Calibri"/>
              </a:rPr>
              <a:t>  One tool replaces the toggling the PS describes; the model and the instruments are already side by side.</a:t>
            </a: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71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60" b="1" i="0">
                <a:solidFill>
                  <a:srgbClr val="0B2E4F"/>
                </a:solidFill>
                <a:latin typeface="Calibri"/>
              </a:rPr>
              <a:t>Verifiable, not decorative.</a:t>
            </a:r>
            <a:r>
              <a:rPr sz="860" b="0" i="0">
                <a:solidFill>
                  <a:srgbClr val="14202B"/>
                </a:solidFill>
                <a:latin typeface="Calibri"/>
              </a:rPr>
              <a:t>  Bias +0.026 degC and RMSE 0.602 degC over 11,718 matched pairs, with the analysis-fit caveat attached.</a:t>
            </a: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71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60" b="1" i="0">
                <a:solidFill>
                  <a:srgbClr val="0B2E4F"/>
                </a:solidFill>
                <a:latin typeface="Calibri"/>
              </a:rPr>
              <a:t>Trust where it matters most.</a:t>
            </a:r>
            <a:r>
              <a:rPr sz="860" b="0" i="0">
                <a:solidFill>
                  <a:srgbClr val="14202B"/>
                </a:solidFill>
                <a:latin typeface="Calibri"/>
              </a:rPr>
              <a:t>  The model is within about 0.12 degC below 500 m and 2.07 degC across the thermocline at 50 to 100 m, which is exactly the layer a cyclone forecaster reads.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274820" y="3364992"/>
            <a:ext cx="3579876" cy="1444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71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60" b="1" i="0">
                <a:solidFill>
                  <a:srgbClr val="0B2E4F"/>
                </a:solidFill>
                <a:latin typeface="Calibri"/>
              </a:rPr>
              <a:t>Zero licence cost.</a:t>
            </a:r>
            <a:r>
              <a:rPr sz="860" b="0" i="0">
                <a:solidFill>
                  <a:srgbClr val="14202B"/>
                </a:solidFill>
                <a:latin typeface="Calibri"/>
              </a:rPr>
              <a:t>  Fully open source against proprietary 3D suites; one deployment serves the nation.</a:t>
            </a: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71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60" b="1" i="0">
                <a:solidFill>
                  <a:srgbClr val="0B2E4F"/>
                </a:solidFill>
                <a:latin typeface="Calibri"/>
              </a:rPr>
              <a:t>Resilient by design.</a:t>
            </a:r>
            <a:r>
              <a:rPr sz="860" b="0" i="0">
                <a:solidFill>
                  <a:srgbClr val="14202B"/>
                </a:solidFill>
                <a:latin typeface="Calibri"/>
              </a:rPr>
              <a:t>  Runs air-gapped, so a network failure at a control room or a nodal centre does not take the tool down.</a:t>
            </a:r>
          </a:p>
          <a:p>
            <a:pPr>
              <a:lnSpc>
                <a:spcPct val="94000"/>
              </a:lnSpc>
              <a:spcAft>
                <a:spcPts val="600"/>
              </a:spcAft>
            </a:pPr>
            <a:r>
              <a:rPr sz="710" b="1" i="0">
                <a:solidFill>
                  <a:srgbClr val="12688F"/>
                </a:solidFill>
                <a:latin typeface="Calibri"/>
              </a:rPr>
              <a:t>▪  </a:t>
            </a:r>
            <a:r>
              <a:rPr sz="860" b="1" i="0">
                <a:solidFill>
                  <a:srgbClr val="0B2E4F"/>
                </a:solidFill>
                <a:latin typeface="Calibri"/>
              </a:rPr>
              <a:t>Wider access.</a:t>
            </a:r>
            <a:r>
              <a:rPr sz="860" b="0" i="0">
                <a:solidFill>
                  <a:srgbClr val="14202B"/>
                </a:solidFill>
                <a:latin typeface="Calibri"/>
              </a:rPr>
              <a:t>  A browser and, in the next phase, Indian-language voice widen who can interrogate the ocean beyond specialists.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8110727" y="2944368"/>
            <a:ext cx="3017520" cy="274320"/>
          </a:xfrm>
          <a:prstGeom prst="roundRect">
            <a:avLst>
              <a:gd name="adj" fmla="val 32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NATIONAL ALIGNMENT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8110727" y="3273552"/>
            <a:ext cx="3840480" cy="1591056"/>
          </a:xfrm>
          <a:prstGeom prst="rect">
            <a:avLst/>
          </a:prstGeom>
          <a:solidFill>
            <a:srgbClr val="FFFFFF"/>
          </a:solidFill>
          <a:ln w="9525">
            <a:solidFill>
              <a:srgbClr val="C3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2" name="Rounded Rectangle 17431"/>
          <p:cNvSpPr/>
          <p:nvPr/>
        </p:nvSpPr>
        <p:spPr>
          <a:xfrm>
            <a:off x="8220455" y="3383280"/>
            <a:ext cx="1755648" cy="292608"/>
          </a:xfrm>
          <a:prstGeom prst="roundRect">
            <a:avLst>
              <a:gd name="adj" fmla="val 22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80" b="1" i="0">
                <a:solidFill>
                  <a:srgbClr val="0B2E4F"/>
                </a:solidFill>
                <a:latin typeface="Calibri"/>
              </a:rPr>
              <a:t>Digital India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10085832" y="3383280"/>
            <a:ext cx="1755648" cy="292608"/>
          </a:xfrm>
          <a:prstGeom prst="roundRect">
            <a:avLst>
              <a:gd name="adj" fmla="val 22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80" b="1" i="0">
                <a:solidFill>
                  <a:srgbClr val="0B2E4F"/>
                </a:solidFill>
                <a:latin typeface="Calibri"/>
              </a:rPr>
              <a:t>Deep Ocean Mission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8220455" y="3749040"/>
            <a:ext cx="1755648" cy="292608"/>
          </a:xfrm>
          <a:prstGeom prst="roundRect">
            <a:avLst>
              <a:gd name="adj" fmla="val 22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80" b="1" i="0">
                <a:solidFill>
                  <a:srgbClr val="0B2E4F"/>
                </a:solidFill>
                <a:latin typeface="Calibri"/>
              </a:rPr>
              <a:t>Blue Economy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10085832" y="3749040"/>
            <a:ext cx="1755648" cy="292608"/>
          </a:xfrm>
          <a:prstGeom prst="roundRect">
            <a:avLst>
              <a:gd name="adj" fmla="val 22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80" b="1" i="0">
                <a:solidFill>
                  <a:srgbClr val="0B2E4F"/>
                </a:solidFill>
                <a:latin typeface="Calibri"/>
              </a:rPr>
              <a:t>SAGAR / MoES mandate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8220455" y="4114800"/>
            <a:ext cx="1755648" cy="292608"/>
          </a:xfrm>
          <a:prstGeom prst="roundRect">
            <a:avLst>
              <a:gd name="adj" fmla="val 22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80" b="1" i="0">
                <a:solidFill>
                  <a:srgbClr val="0B2E4F"/>
                </a:solidFill>
                <a:latin typeface="Calibri"/>
              </a:rPr>
              <a:t>UN SDG 14: Life Below Water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10085832" y="4114800"/>
            <a:ext cx="1755648" cy="292608"/>
          </a:xfrm>
          <a:prstGeom prst="roundRect">
            <a:avLst>
              <a:gd name="adj" fmla="val 22000"/>
            </a:avLst>
          </a:prstGeom>
          <a:solidFill>
            <a:srgbClr val="E4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780" b="1" i="0">
                <a:solidFill>
                  <a:srgbClr val="0B2E4F"/>
                </a:solidFill>
                <a:latin typeface="Calibri"/>
              </a:rPr>
              <a:t>Deployable on INCOIS infrastructure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8220455" y="4572000"/>
            <a:ext cx="362102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60" b="0" i="0">
                <a:solidFill>
                  <a:srgbClr val="556471"/>
                </a:solidFill>
                <a:latin typeface="Calibri"/>
              </a:rPr>
              <a:t>The PS is an internal INCOIS tooling request, so the deployment story is native rather than argued.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237744" y="5029200"/>
            <a:ext cx="11713464" cy="1243584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365760" y="5111496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6FD4D0"/>
                </a:solidFill>
                <a:latin typeface="Calibri"/>
              </a:rPr>
              <a:t>WHAT CHANGES ON THE DAY IT MATTERS  ·  A DEPRESSION FORMS IN THE BAY</a:t>
            </a:r>
          </a:p>
        </p:txBody>
      </p:sp>
      <p:sp>
        <p:nvSpPr>
          <p:cNvPr id="17441" name="Oval 17440"/>
          <p:cNvSpPr/>
          <p:nvPr/>
        </p:nvSpPr>
        <p:spPr>
          <a:xfrm>
            <a:off x="365760" y="5358384"/>
            <a:ext cx="201168" cy="201168"/>
          </a:xfrm>
          <a:prstGeom prst="ellipse">
            <a:avLst/>
          </a:prstGeom>
          <a:solidFill>
            <a:srgbClr val="6F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0B2E4F"/>
                </a:solidFill>
                <a:latin typeface="Calibri"/>
              </a:rPr>
              <a:t>1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640080" y="5340096"/>
            <a:ext cx="248031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819" b="1" i="0">
                <a:solidFill>
                  <a:srgbClr val="FFFFFF"/>
                </a:solidFill>
                <a:latin typeface="Calibri"/>
              </a:rPr>
              <a:t>SEE THE HEAT</a:t>
            </a:r>
          </a:p>
          <a:p>
            <a:pPr>
              <a:lnSpc>
                <a:spcPct val="92000"/>
              </a:lnSpc>
            </a:pPr>
            <a:r>
              <a:rPr sz="750" b="0" i="0">
                <a:solidFill>
                  <a:srgbClr val="BFD6E4"/>
                </a:solidFill>
                <a:latin typeface="Calibri"/>
              </a:rPr>
              <a:t>Switch to the depth of the 26 degC isotherm. The layer a cyclone can feed on is a surface in the scene, not a number in a table.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3138678" y="5458968"/>
            <a:ext cx="105156" cy="0"/>
          </a:xfrm>
          <a:prstGeom prst="line">
            <a:avLst/>
          </a:prstGeom>
          <a:ln w="25400">
            <a:solidFill>
              <a:srgbClr val="6FD4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Oval 17443"/>
          <p:cNvSpPr/>
          <p:nvPr/>
        </p:nvSpPr>
        <p:spPr>
          <a:xfrm>
            <a:off x="3266694" y="5358384"/>
            <a:ext cx="201168" cy="201168"/>
          </a:xfrm>
          <a:prstGeom prst="ellipse">
            <a:avLst/>
          </a:prstGeom>
          <a:solidFill>
            <a:srgbClr val="6F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0B2E4F"/>
                </a:solidFill>
                <a:latin typeface="Calibri"/>
              </a:rPr>
              <a:t>2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3541014" y="5340096"/>
            <a:ext cx="248031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819" b="1" i="0">
                <a:solidFill>
                  <a:srgbClr val="FFFFFF"/>
                </a:solidFill>
                <a:latin typeface="Calibri"/>
              </a:rPr>
              <a:t>CHECK THE MODEL</a:t>
            </a:r>
          </a:p>
          <a:p>
            <a:pPr>
              <a:lnSpc>
                <a:spcPct val="92000"/>
              </a:lnSpc>
            </a:pPr>
            <a:r>
              <a:rPr sz="750" b="0" i="0">
                <a:solidFill>
                  <a:srgbClr val="BFD6E4"/>
                </a:solidFill>
                <a:latin typeface="Calibri"/>
              </a:rPr>
              <a:t>The verification card says the field is 2.07 degC off across 50 to 100 m. The forecaster knows how much to trust it, before acting.</a:t>
            </a:r>
          </a:p>
        </p:txBody>
      </p:sp>
      <p:cxnSp>
        <p:nvCxnSpPr>
          <p:cNvPr id="17446" name="Connector 17445"/>
          <p:cNvCxnSpPr/>
          <p:nvPr/>
        </p:nvCxnSpPr>
        <p:spPr>
          <a:xfrm>
            <a:off x="6039612" y="5458968"/>
            <a:ext cx="105156" cy="0"/>
          </a:xfrm>
          <a:prstGeom prst="line">
            <a:avLst/>
          </a:prstGeom>
          <a:ln w="25400">
            <a:solidFill>
              <a:srgbClr val="6FD4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7" name="Oval 17446"/>
          <p:cNvSpPr/>
          <p:nvPr/>
        </p:nvSpPr>
        <p:spPr>
          <a:xfrm>
            <a:off x="6167628" y="5358384"/>
            <a:ext cx="201168" cy="201168"/>
          </a:xfrm>
          <a:prstGeom prst="ellipse">
            <a:avLst/>
          </a:prstGeom>
          <a:solidFill>
            <a:srgbClr val="6F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0B2E4F"/>
                </a:solidFill>
                <a:latin typeface="Calibri"/>
              </a:rPr>
              <a:t>3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6441948" y="5340096"/>
            <a:ext cx="248031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819" b="1" i="0">
                <a:solidFill>
                  <a:srgbClr val="FFFFFF"/>
                </a:solidFill>
                <a:latin typeface="Calibri"/>
              </a:rPr>
              <a:t>CONFIRM AGAINST THE WATER</a:t>
            </a:r>
          </a:p>
          <a:p>
            <a:pPr>
              <a:lnSpc>
                <a:spcPct val="92000"/>
              </a:lnSpc>
            </a:pPr>
            <a:r>
              <a:rPr sz="750" b="0" i="0">
                <a:solidFill>
                  <a:srgbClr val="BFD6E4"/>
                </a:solidFill>
                <a:latin typeface="Calibri"/>
              </a:rPr>
              <a:t>Click the nearest Argo float. Its measured profile is drawn against the model at that point and hour.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8940546" y="5458968"/>
            <a:ext cx="105156" cy="0"/>
          </a:xfrm>
          <a:prstGeom prst="line">
            <a:avLst/>
          </a:prstGeom>
          <a:ln w="25400">
            <a:solidFill>
              <a:srgbClr val="6FD4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Oval 17449"/>
          <p:cNvSpPr/>
          <p:nvPr/>
        </p:nvSpPr>
        <p:spPr>
          <a:xfrm>
            <a:off x="9068562" y="5358384"/>
            <a:ext cx="201168" cy="201168"/>
          </a:xfrm>
          <a:prstGeom prst="ellipse">
            <a:avLst/>
          </a:prstGeom>
          <a:solidFill>
            <a:srgbClr val="6FD4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 i="0">
                <a:solidFill>
                  <a:srgbClr val="0B2E4F"/>
                </a:solidFill>
                <a:latin typeface="Calibri"/>
              </a:rPr>
              <a:t>4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9342882" y="5340096"/>
            <a:ext cx="2480310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2000"/>
              </a:lnSpc>
              <a:spcAft>
                <a:spcPts val="200"/>
              </a:spcAft>
            </a:pPr>
            <a:r>
              <a:rPr sz="819" b="1" i="0">
                <a:solidFill>
                  <a:srgbClr val="FFFFFF"/>
                </a:solidFill>
                <a:latin typeface="Calibri"/>
              </a:rPr>
              <a:t>PUT THE WARNING IN CONTEXT</a:t>
            </a:r>
          </a:p>
          <a:p>
            <a:pPr>
              <a:lnSpc>
                <a:spcPct val="92000"/>
              </a:lnSpc>
            </a:pPr>
            <a:r>
              <a:rPr sz="750" b="0" i="0">
                <a:solidFill>
                  <a:srgbClr val="BFD6E4"/>
                </a:solidFill>
                <a:latin typeface="Calibri"/>
              </a:rPr>
              <a:t>The CAP bulletin is drawn over the water it concerns, beside the field that explains it. All of this with the network off.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700784" y="54864"/>
            <a:ext cx="9784080" cy="841248"/>
          </a:xfrm>
        </p:spPr>
        <p:txBody>
          <a:bodyPr wrap="square" anchor="ctr"/>
          <a:lstStyle/>
          <a:p>
            <a:pPr eaLnBrk="1" hangingPunct="1" algn="l"/>
            <a:r>
              <a:rPr sz="2600" b="1" i="0">
                <a:solidFill>
                  <a:srgbClr val="0B2E4F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000" b="1" i="0">
                <a:solidFill>
                  <a:srgbClr val="FFFFFF"/>
                </a:solidFill>
                <a:latin typeface="Calibri"/>
              </a:rPr>
              <a:t>SagarDrishti  ·  PS SIH26067  ·  @SIH Idea Submission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0B2E4F"/>
                </a:solidFill>
                <a:latin typeface="Calibri"/>
              </a:rPr>
              <a:t>[TEAM NAME]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237744" y="1133856"/>
            <a:ext cx="4663440" cy="274320"/>
          </a:xfrm>
          <a:prstGeom prst="roundRect">
            <a:avLst>
              <a:gd name="adj" fmla="val 32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DETAILS AND LINKS OF THE REFERENCE AND RESEARCH WORK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237744" y="1481328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0E8C9A"/>
                </a:solidFill>
                <a:latin typeface="Calibri"/>
              </a:rPr>
              <a:t>METHOD AND VERIFICATION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237744" y="1655064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0E8C9A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4"/>
              </a:rPr>
              <a:t>Ryan et al. 2015: GODAE OceanView Class 4 verification, J. Op. Oceanogr. 8</a:t>
            </a:r>
            <a:r>
              <a:rPr sz="760" b="0" i="1">
                <a:solidFill>
                  <a:srgbClr val="556471"/>
                </a:solidFill>
                <a:latin typeface="Calibri"/>
              </a:rPr>
              <a:t>   ·  the method behind our scorecard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37744" y="1799539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0E8C9A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5"/>
              </a:rPr>
              <a:t>Wong et al. 2020: Argo data and its QC flags, Front. Mar. Sci. 7:700</a:t>
            </a:r>
            <a:r>
              <a:rPr sz="760" b="0" i="1">
                <a:solidFill>
                  <a:srgbClr val="556471"/>
                </a:solidFill>
                <a:latin typeface="Calibri"/>
              </a:rPr>
              <a:t>   ·  why we keep only flags 1 and 2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237744" y="1944014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0E8C9A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6"/>
              </a:rPr>
              <a:t>IOC, SCOR, IAPSO: TEOS-10 thermodynamic equation of seawater</a:t>
            </a:r>
            <a:r>
              <a:rPr sz="760" b="0" i="1">
                <a:solidFill>
                  <a:srgbClr val="556471"/>
                </a:solidFill>
                <a:latin typeface="Calibri"/>
              </a:rPr>
              <a:t>   ·  our density field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237744" y="2088489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0E8C9A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7"/>
              </a:rPr>
              <a:t>Balakrishnan Nair et al. 2013: INCOIS Ocean State Forecast validation, Current Science 105(2)</a:t>
            </a:r>
            <a:r>
              <a:rPr sz="760" b="0" i="1">
                <a:solidFill>
                  <a:srgbClr val="556471"/>
                </a:solidFill>
                <a:latin typeface="Calibri"/>
              </a:rPr>
              <a:t>   ·  the Indian validation precedent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237744" y="2338120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12688F"/>
                </a:solidFill>
                <a:latin typeface="Calibri"/>
              </a:rPr>
              <a:t>WEB 3D OCEAN VISUALISATION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37744" y="2511856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12688F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8"/>
              </a:rPr>
              <a:t>Qin et al. 2021: Web 3D framework for time-varying ocean forecast data, Env. Modelling &amp; Software 135</a:t>
            </a:r>
            <a:r>
              <a:rPr sz="760" b="0" i="1">
                <a:solidFill>
                  <a:srgbClr val="556471"/>
                </a:solidFill>
                <a:latin typeface="Calibri"/>
              </a:rPr>
              <a:t>   ·  the closest ancestor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237744" y="2656332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12688F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9"/>
              </a:rPr>
              <a:t>Yu, Qin &amp; Xu 2025: WebGPU volume rendering of ocean scalars, Applied Sciences 15(5):2782</a:t>
            </a:r>
            <a:r>
              <a:rPr sz="760" b="0" i="1">
                <a:solidFill>
                  <a:srgbClr val="556471"/>
                </a:solidFill>
                <a:latin typeface="Calibri"/>
              </a:rPr>
              <a:t>   ·  our rendering optimisations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37744" y="2800807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12688F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10"/>
              </a:rPr>
              <a:t>Tucker et al. 2020: Argovis, J. Atmos. Ocean. Tech. 37(3):401</a:t>
            </a:r>
            <a:r>
              <a:rPr sz="760" b="0" i="1">
                <a:solidFill>
                  <a:srgbClr val="556471"/>
                </a:solidFill>
                <a:latin typeface="Calibri"/>
              </a:rPr>
              <a:t>   ·  the API contract we follow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37744" y="2945282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12688F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11"/>
              </a:rPr>
              <a:t>Blower et al. 2013: ncWMS, Env. Modelling &amp; Software 47</a:t>
            </a:r>
            <a:r>
              <a:rPr sz="760" b="0" i="1">
                <a:solidFill>
                  <a:srgbClr val="556471"/>
                </a:solidFill>
                <a:latin typeface="Calibri"/>
              </a:rPr>
              <a:t>   ·  OGC WMS over CF-NetCDF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37744" y="3089757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12688F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12"/>
              </a:rPr>
              <a:t>Signell &amp; Pothina 2019: Cloud coastal model analysis, JMSE 7(4):110</a:t>
            </a:r>
            <a:r>
              <a:rPr sz="760" b="0" i="1">
                <a:solidFill>
                  <a:srgbClr val="556471"/>
                </a:solidFill>
                <a:latin typeface="Calibri"/>
              </a:rPr>
              <a:t>   ·  why Zarr rather than whole NetCDF files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237744" y="3234232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12688F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13"/>
              </a:rPr>
              <a:t>pyParaOcean (IISc): desktop ocean volumetrics we bring to the browser</a:t>
            </a:r>
            <a:r>
              <a:rPr sz="760" b="0" i="0">
                <a:solidFill>
                  <a:srgbClr val="556471"/>
                </a:solidFill>
                <a:latin typeface="Calibri"/>
              </a:rPr>
              <a:t> 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237744" y="3483863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0B2E4F"/>
                </a:solidFill>
                <a:latin typeface="Calibri"/>
              </a:rPr>
              <a:t>DATA SOURCES WE INGEST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237744" y="3657599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0B2E4F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14"/>
              </a:rPr>
              <a:t>INCOIS ERDDAP: the analysis field, 24 levels, 5 to 2000 m</a:t>
            </a:r>
            <a:r>
              <a:rPr sz="760" b="0" i="0">
                <a:solidFill>
                  <a:srgbClr val="556471"/>
                </a:solidFill>
                <a:latin typeface="Calibri"/>
              </a:rPr>
              <a:t> 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237744" y="3802075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0B2E4F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15"/>
              </a:rPr>
              <a:t>Argo GDAC (Ifremer): Indian Ocean profile files</a:t>
            </a:r>
            <a:r>
              <a:rPr sz="760" b="0" i="0">
                <a:solidFill>
                  <a:srgbClr val="556471"/>
                </a:solidFill>
                <a:latin typeface="Calibri"/>
              </a:rPr>
              <a:t> 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237744" y="3946550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0B2E4F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16"/>
              </a:rPr>
              <a:t>Copernicus Marine: GLOBAL_ANALYSISFORECAST_PHY_001_024 currents</a:t>
            </a:r>
            <a:r>
              <a:rPr sz="760" b="0" i="0">
                <a:solidFill>
                  <a:srgbClr val="556471"/>
                </a:solidFill>
                <a:latin typeface="Calibri"/>
              </a:rPr>
              <a:t> 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237744" y="4091025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0B2E4F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17"/>
              </a:rPr>
              <a:t>NOAA PMEL: RAMA moored buoy array, Indian Ocean</a:t>
            </a:r>
            <a:r>
              <a:rPr sz="760" b="0" i="0">
                <a:solidFill>
                  <a:srgbClr val="556471"/>
                </a:solidFill>
                <a:latin typeface="Calibri"/>
              </a:rPr>
              <a:t> 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237744" y="4235500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0B2E4F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18"/>
              </a:rPr>
              <a:t>NDMA SACHET: India's national CAP alert backbone</a:t>
            </a:r>
            <a:r>
              <a:rPr sz="760" b="0" i="0">
                <a:solidFill>
                  <a:srgbClr val="556471"/>
                </a:solidFill>
                <a:latin typeface="Calibri"/>
              </a:rPr>
              <a:t> 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237744" y="4379975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0B2E4F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19"/>
              </a:rPr>
              <a:t>INCOIS: Indian National Centre for Ocean Information Services</a:t>
            </a:r>
            <a:r>
              <a:rPr sz="760" b="0" i="0">
                <a:solidFill>
                  <a:srgbClr val="556471"/>
                </a:solidFill>
                <a:latin typeface="Calibri"/>
              </a:rPr>
              <a:t> 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237744" y="4629607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" b="1" i="0">
                <a:solidFill>
                  <a:srgbClr val="B87A1F"/>
                </a:solidFill>
                <a:latin typeface="Calibri"/>
              </a:rPr>
              <a:t>OPEN STANDARDS IMPLEMENTED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237744" y="4803343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B87A1F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20"/>
              </a:rPr>
              <a:t>CF Conventions for climate and forecast metadata</a:t>
            </a:r>
            <a:r>
              <a:rPr sz="760" b="0" i="0">
                <a:solidFill>
                  <a:srgbClr val="556471"/>
                </a:solidFill>
                <a:latin typeface="Calibri"/>
              </a:rPr>
              <a:t> 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237744" y="4947818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B87A1F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21"/>
              </a:rPr>
              <a:t>OGC Web Map Service (WMS) 1.3.0</a:t>
            </a:r>
            <a:r>
              <a:rPr sz="760" b="0" i="0">
                <a:solidFill>
                  <a:srgbClr val="556471"/>
                </a:solidFill>
                <a:latin typeface="Calibri"/>
              </a:rPr>
              <a:t> 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237744" y="5092293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B87A1F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22"/>
              </a:rPr>
              <a:t>OGC Web Coverage Service (WCS) 1.0.0</a:t>
            </a:r>
            <a:r>
              <a:rPr sz="760" b="0" i="0">
                <a:solidFill>
                  <a:srgbClr val="556471"/>
                </a:solidFill>
                <a:latin typeface="Calibri"/>
              </a:rPr>
              <a:t> 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237744" y="5236768"/>
            <a:ext cx="7863840" cy="144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20" b="1" i="0">
                <a:solidFill>
                  <a:srgbClr val="B87A1F"/>
                </a:solidFill>
                <a:latin typeface="Calibri"/>
              </a:rPr>
              <a:t>▪ </a:t>
            </a:r>
            <a:r>
              <a:rPr sz="800" b="0" i="0" u="sng">
                <a:solidFill>
                  <a:srgbClr val="104E7A"/>
                </a:solidFill>
                <a:latin typeface="Calibri"/>
                <a:hlinkClick r:id="rId23"/>
              </a:rPr>
              <a:t>OASIS Common Alerting Protocol (CAP) v1.2</a:t>
            </a:r>
            <a:r>
              <a:rPr sz="760" b="0" i="0">
                <a:solidFill>
                  <a:srgbClr val="556471"/>
                </a:solidFill>
                <a:latin typeface="Calibri"/>
              </a:rPr>
              <a:t> 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237744" y="5541264"/>
            <a:ext cx="7863840" cy="731520"/>
          </a:xfrm>
          <a:prstGeom prst="rect">
            <a:avLst/>
          </a:prstGeom>
          <a:solidFill>
            <a:srgbClr val="EF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365760" y="5623559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40" b="1" i="0">
                <a:solidFill>
                  <a:srgbClr val="0B2E4F"/>
                </a:solidFill>
                <a:latin typeface="Calibri"/>
              </a:rPr>
              <a:t>HOW THE RESEARCH CHANGED THE BUILD  ·  not a bibliography, a set of decisions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365760" y="5815583"/>
            <a:ext cx="3739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80" b="1" i="0">
                <a:solidFill>
                  <a:srgbClr val="C44528"/>
                </a:solidFill>
                <a:latin typeface="Calibri"/>
              </a:rPr>
              <a:t>Ryan 2015 → </a:t>
            </a:r>
            <a:r>
              <a:rPr sz="780" b="0" i="0">
                <a:solidFill>
                  <a:srgbClr val="14202B"/>
                </a:solidFill>
                <a:latin typeface="Calibri"/>
              </a:rPr>
              <a:t>we verify in observation space and refuse to fill a level, rather than scoring on the model grid.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233672" y="5815583"/>
            <a:ext cx="3739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80" b="1" i="0">
                <a:solidFill>
                  <a:srgbClr val="C44528"/>
                </a:solidFill>
                <a:latin typeface="Calibri"/>
              </a:rPr>
              <a:t>Wong 2020 → </a:t>
            </a:r>
            <a:r>
              <a:rPr sz="780" b="0" i="0">
                <a:solidFill>
                  <a:srgbClr val="14202B"/>
                </a:solidFill>
                <a:latin typeface="Calibri"/>
              </a:rPr>
              <a:t>QC flags 1 and 2 only; 4,672 levels excluded and each one counted by reason.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365760" y="6080759"/>
            <a:ext cx="3739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80" b="1" i="0">
                <a:solidFill>
                  <a:srgbClr val="C44528"/>
                </a:solidFill>
                <a:latin typeface="Calibri"/>
              </a:rPr>
              <a:t>Yu 2025 → </a:t>
            </a:r>
            <a:r>
              <a:rPr sz="780" b="0" i="0">
                <a:solidFill>
                  <a:srgbClr val="14202B"/>
                </a:solidFill>
                <a:latin typeface="Calibri"/>
              </a:rPr>
              <a:t>stop paying for a slice once it cannot change the picture: 10 of 24 blended at a time.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4233672" y="6080759"/>
            <a:ext cx="3739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0000"/>
              </a:lnSpc>
            </a:pPr>
            <a:r>
              <a:rPr sz="780" b="1" i="0">
                <a:solidFill>
                  <a:srgbClr val="C44528"/>
                </a:solidFill>
                <a:latin typeface="Calibri"/>
              </a:rPr>
              <a:t>Signell 2019 → </a:t>
            </a:r>
            <a:r>
              <a:rPr sz="780" b="0" i="0">
                <a:solidFill>
                  <a:srgbClr val="14202B"/>
                </a:solidFill>
                <a:latin typeface="Calibri"/>
              </a:rPr>
              <a:t>Zarr chunks over HTTP range reads instead of whole NetCDF files.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8339327" y="1133856"/>
            <a:ext cx="3246120" cy="274320"/>
          </a:xfrm>
          <a:prstGeom prst="roundRect">
            <a:avLst>
              <a:gd name="adj" fmla="val 32000"/>
            </a:avLst>
          </a:prstGeom>
          <a:solidFill>
            <a:srgbClr val="C44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54864" tIns="0" bIns="0"/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WHERE WE SIT  ·  GAP ANALYSIS</a:t>
            </a:r>
          </a:p>
        </p:txBody>
      </p:sp>
      <p:graphicFrame>
        <p:nvGraphicFramePr>
          <p:cNvPr id="17442" name="Table 17441"/>
          <p:cNvGraphicFramePr>
            <a:graphicFrameLocks noGrp="1"/>
          </p:cNvGraphicFramePr>
          <p:nvPr/>
        </p:nvGraphicFramePr>
        <p:xfrm>
          <a:off x="8339327" y="1499616"/>
          <a:ext cx="3611880" cy="18242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6464"/>
                <a:gridCol w="546354"/>
                <a:gridCol w="546354"/>
                <a:gridCol w="546354"/>
                <a:gridCol w="546354"/>
              </a:tblGrid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88000"/>
                        </a:lnSpc>
                      </a:pPr>
                      <a:r>
                        <a:rPr sz="760" b="1" i="0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45720" marR="27432" marT="0" marB="0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60" b="1" i="0">
                          <a:solidFill>
                            <a:srgbClr val="FFFFFF"/>
                          </a:solidFill>
                          <a:latin typeface="Calibri"/>
                        </a:rPr>
                        <a:t>Desktop
tools</a:t>
                      </a:r>
                    </a:p>
                  </a:txBody>
                  <a:tcPr marL="45720" marR="27432" marT="0" marB="0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60" b="1" i="0">
                          <a:solidFill>
                            <a:srgbClr val="FFFFFF"/>
                          </a:solidFill>
                          <a:latin typeface="Calibri"/>
                        </a:rPr>
                        <a:t>Web
viewers</a:t>
                      </a:r>
                    </a:p>
                  </a:txBody>
                  <a:tcPr marL="45720" marR="27432" marT="0" marB="0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60" b="1" i="0">
                          <a:solidFill>
                            <a:srgbClr val="FFFFFF"/>
                          </a:solidFill>
                          <a:latin typeface="Calibri"/>
                        </a:rPr>
                        <a:t>Digital
Ocean</a:t>
                      </a:r>
                    </a:p>
                  </a:txBody>
                  <a:tcPr marL="45720" marR="27432" marT="0" marB="0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760" b="1" i="0">
                          <a:solidFill>
                            <a:srgbClr val="FFFFFF"/>
                          </a:solidFill>
                          <a:latin typeface="Calibri"/>
                        </a:rPr>
                        <a:t>Sagar
Drishti</a:t>
                      </a:r>
                    </a:p>
                  </a:txBody>
                  <a:tcPr marL="45720" marR="27432" marT="0" marB="0" anchor="ctr">
                    <a:solidFill>
                      <a:srgbClr val="C44528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88000"/>
                        </a:lnSpc>
                      </a:pPr>
                      <a:r>
                        <a:rPr sz="760" b="0" i="0">
                          <a:solidFill>
                            <a:srgbClr val="14202B"/>
                          </a:solidFill>
                          <a:latin typeface="Calibri"/>
                        </a:rPr>
                        <a:t>Browser-native, no install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B03A28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0E7A5F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0E7A5F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0E7A5F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27432" marT="0" marB="0" anchor="ctr">
                    <a:solidFill>
                      <a:srgbClr val="FBEEEA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88000"/>
                        </a:lnSpc>
                      </a:pPr>
                      <a:r>
                        <a:rPr sz="760" b="0" i="0">
                          <a:solidFill>
                            <a:srgbClr val="14202B"/>
                          </a:solidFill>
                          <a:latin typeface="Calibri"/>
                        </a:rPr>
                        <a:t>True volumetric water column</a:t>
                      </a:r>
                    </a:p>
                  </a:txBody>
                  <a:tcPr marL="45720" marR="27432" marT="0" marB="0" anchor="ctr">
                    <a:solidFill>
                      <a:srgbClr val="EF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0E7A5F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27432" marT="0" marB="0" anchor="ctr">
                    <a:solidFill>
                      <a:srgbClr val="EF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B03A28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27432" marT="0" marB="0" anchor="ctr">
                    <a:solidFill>
                      <a:srgbClr val="EF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B87A1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45720" marR="27432" marT="0" marB="0" anchor="ctr">
                    <a:solidFill>
                      <a:srgbClr val="EF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0E7A5F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27432" marT="0" marB="0" anchor="ctr">
                    <a:solidFill>
                      <a:srgbClr val="FBEEEA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88000"/>
                        </a:lnSpc>
                      </a:pPr>
                      <a:r>
                        <a:rPr sz="760" b="0" i="0">
                          <a:solidFill>
                            <a:srgbClr val="14202B"/>
                          </a:solidFill>
                          <a:latin typeface="Calibri"/>
                        </a:rPr>
                        <a:t>Model + in-situ in ONE 3D scene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B03A28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B03A28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B87A1F"/>
                          </a:solidFill>
                          <a:latin typeface="Calibri"/>
                        </a:rPr>
                        <a:t>~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0E7A5F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27432" marT="0" marB="0" anchor="ctr">
                    <a:solidFill>
                      <a:srgbClr val="FBEEEA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88000"/>
                        </a:lnSpc>
                      </a:pPr>
                      <a:r>
                        <a:rPr sz="760" b="0" i="0">
                          <a:solidFill>
                            <a:srgbClr val="14202B"/>
                          </a:solidFill>
                          <a:latin typeface="Calibri"/>
                        </a:rPr>
                        <a:t>Model-vs-observation skill on screen</a:t>
                      </a:r>
                    </a:p>
                  </a:txBody>
                  <a:tcPr marL="45720" marR="27432" marT="0" marB="0" anchor="ctr">
                    <a:solidFill>
                      <a:srgbClr val="EF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B03A28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27432" marT="0" marB="0" anchor="ctr">
                    <a:solidFill>
                      <a:srgbClr val="EF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B03A28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27432" marT="0" marB="0" anchor="ctr">
                    <a:solidFill>
                      <a:srgbClr val="EF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B03A28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27432" marT="0" marB="0" anchor="ctr">
                    <a:solidFill>
                      <a:srgbClr val="EF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0E7A5F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27432" marT="0" marB="0" anchor="ctr">
                    <a:solidFill>
                      <a:srgbClr val="FBEEEA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88000"/>
                        </a:lnSpc>
                      </a:pPr>
                      <a:r>
                        <a:rPr sz="760" b="0" i="0">
                          <a:solidFill>
                            <a:srgbClr val="14202B"/>
                          </a:solidFill>
                          <a:latin typeface="Calibri"/>
                        </a:rPr>
                        <a:t>CAP hazard layer in ocean context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B03A28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B03A28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B03A28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27432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0E7A5F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27432" marT="0" marB="0" anchor="ctr">
                    <a:solidFill>
                      <a:srgbClr val="FBEEEA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88000"/>
                        </a:lnSpc>
                      </a:pPr>
                      <a:r>
                        <a:rPr sz="760" b="0" i="0">
                          <a:solidFill>
                            <a:srgbClr val="14202B"/>
                          </a:solidFill>
                          <a:latin typeface="Calibri"/>
                        </a:rPr>
                        <a:t>Runs fully offline / air-gapped</a:t>
                      </a:r>
                    </a:p>
                  </a:txBody>
                  <a:tcPr marL="45720" marR="27432" marT="0" marB="0" anchor="ctr">
                    <a:solidFill>
                      <a:srgbClr val="EF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0E7A5F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27432" marT="0" marB="0" anchor="ctr">
                    <a:solidFill>
                      <a:srgbClr val="EF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B03A28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27432" marT="0" marB="0" anchor="ctr">
                    <a:solidFill>
                      <a:srgbClr val="EF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B03A28"/>
                          </a:solidFill>
                          <a:latin typeface="Calibri"/>
                        </a:rPr>
                        <a:t>✘</a:t>
                      </a:r>
                    </a:p>
                  </a:txBody>
                  <a:tcPr marL="45720" marR="27432" marT="0" marB="0" anchor="ctr">
                    <a:solidFill>
                      <a:srgbClr val="EFF4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88000"/>
                        </a:lnSpc>
                      </a:pPr>
                      <a:r>
                        <a:rPr sz="1000" b="1" i="0">
                          <a:solidFill>
                            <a:srgbClr val="0E7A5F"/>
                          </a:solidFill>
                          <a:latin typeface="Calibri"/>
                        </a:rPr>
                        <a:t>✔</a:t>
                      </a:r>
                    </a:p>
                  </a:txBody>
                  <a:tcPr marL="45720" marR="27432" marT="0" marB="0" anchor="ctr">
                    <a:solidFill>
                      <a:srgbClr val="FBEEEA"/>
                    </a:solidFill>
                  </a:tcPr>
                </a:tc>
              </a:tr>
            </a:tbl>
          </a:graphicData>
        </a:graphic>
      </p:graphicFrame>
      <p:sp>
        <p:nvSpPr>
          <p:cNvPr id="17443" name="TextBox 17442"/>
          <p:cNvSpPr txBox="1"/>
          <p:nvPr/>
        </p:nvSpPr>
        <p:spPr>
          <a:xfrm>
            <a:off x="8339327" y="3396996"/>
            <a:ext cx="3611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" b="0" i="0">
                <a:solidFill>
                  <a:srgbClr val="556471"/>
                </a:solidFill>
                <a:latin typeface="Calibri"/>
              </a:rPr>
              <a:t>Desktop tools: ODV, IDV, pyParaOcean.  Web viewers: Argovis, MyOcean.  INCOIS's Digital Ocean portal does advertise 3D and 4D visualisation; what it does not do is fuse instruments into a true volumetric scene or publish model skill beside the field. Full landscape and citations in our prior-art review.</a:t>
            </a:r>
          </a:p>
        </p:txBody>
      </p:sp>
      <p:sp>
        <p:nvSpPr>
          <p:cNvPr id="17444" name="Rectangle 17443"/>
          <p:cNvSpPr/>
          <p:nvPr/>
        </p:nvSpPr>
        <p:spPr>
          <a:xfrm>
            <a:off x="8339327" y="3982211"/>
            <a:ext cx="3611880" cy="2290572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8467344" y="4091939"/>
            <a:ext cx="3355848" cy="2071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900" b="1" i="0">
                <a:solidFill>
                  <a:srgbClr val="6FD4D0"/>
                </a:solidFill>
                <a:latin typeface="Calibri"/>
              </a:rPr>
              <a:t>OUR OWN WORK, AND HOW IT CAN BE CHECKED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720" b="1" i="0">
                <a:solidFill>
                  <a:srgbClr val="6FD4D0"/>
                </a:solidFill>
                <a:latin typeface="Calibri"/>
              </a:rPr>
              <a:t>▪  </a:t>
            </a:r>
            <a:r>
              <a:rPr sz="750" b="0" i="0">
                <a:solidFill>
                  <a:srgbClr val="D3E3EC"/>
                </a:solidFill>
                <a:latin typeface="Calibri"/>
              </a:rPr>
              <a:t>543 automated tests; 10 of them drive a real browser through this exact demo, so the claims on these slides cannot rot silently.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720" b="1" i="0">
                <a:solidFill>
                  <a:srgbClr val="6FD4D0"/>
                </a:solidFill>
                <a:latin typeface="Calibri"/>
              </a:rPr>
              <a:t>▪  </a:t>
            </a:r>
            <a:r>
              <a:rPr sz="750" b="0" i="0">
                <a:solidFill>
                  <a:srgbClr val="D3E3EC"/>
                </a:solidFill>
                <a:latin typeface="Calibri"/>
              </a:rPr>
              <a:t>Our density field reproduces the published TEOS-10 check values to six decimal places.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720" b="1" i="0">
                <a:solidFill>
                  <a:srgbClr val="6FD4D0"/>
                </a:solidFill>
                <a:latin typeface="Calibri"/>
              </a:rPr>
              <a:t>▪  </a:t>
            </a:r>
            <a:r>
              <a:rPr sz="750" b="0" i="0">
                <a:solidFill>
                  <a:srgbClr val="D3E3EC"/>
                </a:solidFill>
                <a:latin typeface="Calibri"/>
              </a:rPr>
              <a:t>Every panel on screen prints its own dataset name, timestamp and citation, so any figure here can be traced back to its source.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720" b="1" i="0">
                <a:solidFill>
                  <a:srgbClr val="6FD4D0"/>
                </a:solidFill>
                <a:latin typeface="Calibri"/>
              </a:rPr>
              <a:t>▪  </a:t>
            </a:r>
            <a:r>
              <a:rPr sz="750" b="0" i="0">
                <a:solidFill>
                  <a:srgbClr val="D3E3EC"/>
                </a:solidFill>
                <a:latin typeface="Calibri"/>
              </a:rPr>
              <a:t>Prior-art review of 15 papers and 8 existing tools is what produced the gap analysis above, before a line of code was written.</a:t>
            </a:r>
          </a:p>
          <a:p>
            <a:pPr>
              <a:lnSpc>
                <a:spcPct val="92000"/>
              </a:lnSpc>
              <a:spcAft>
                <a:spcPts val="300"/>
              </a:spcAft>
            </a:pPr>
            <a:r>
              <a:rPr sz="720" b="1" i="0">
                <a:solidFill>
                  <a:srgbClr val="6FD4D0"/>
                </a:solidFill>
                <a:latin typeface="Calibri"/>
              </a:rPr>
              <a:t>▪  </a:t>
            </a:r>
            <a:r>
              <a:rPr sz="750" b="0" i="0">
                <a:solidFill>
                  <a:srgbClr val="D3E3EC"/>
                </a:solidFill>
                <a:latin typeface="Calibri"/>
              </a:rPr>
              <a:t>Nothing is claimed that is not built: the deck names what is missing (glider and CTD files, an unrun Docker path) as plainly as what works.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